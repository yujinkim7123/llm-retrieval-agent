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1"/>
  </p:sldMasterIdLst>
  <p:notesMasterIdLst>
    <p:notesMasterId r:id="rId28"/>
  </p:notesMasterIdLst>
  <p:sldIdLst>
    <p:sldId id="1208" r:id="rId2"/>
    <p:sldId id="1184" r:id="rId3"/>
    <p:sldId id="1209" r:id="rId4"/>
    <p:sldId id="1210" r:id="rId5"/>
    <p:sldId id="1199" r:id="rId6"/>
    <p:sldId id="1207" r:id="rId7"/>
    <p:sldId id="597" r:id="rId8"/>
    <p:sldId id="267" r:id="rId9"/>
    <p:sldId id="1211" r:id="rId10"/>
    <p:sldId id="1212" r:id="rId11"/>
    <p:sldId id="626" r:id="rId12"/>
    <p:sldId id="1213" r:id="rId13"/>
    <p:sldId id="1214" r:id="rId14"/>
    <p:sldId id="1186" r:id="rId15"/>
    <p:sldId id="1206" r:id="rId16"/>
    <p:sldId id="1187" r:id="rId17"/>
    <p:sldId id="1188" r:id="rId18"/>
    <p:sldId id="1189" r:id="rId19"/>
    <p:sldId id="1190" r:id="rId20"/>
    <p:sldId id="1191" r:id="rId21"/>
    <p:sldId id="1192" r:id="rId22"/>
    <p:sldId id="910" r:id="rId23"/>
    <p:sldId id="1193" r:id="rId24"/>
    <p:sldId id="1204" r:id="rId25"/>
    <p:sldId id="1205" r:id="rId26"/>
    <p:sldId id="562" r:id="rId27"/>
  </p:sldIdLst>
  <p:sldSz cx="9144000" cy="5143500" type="screen16x9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03">
          <p15:clr>
            <a:srgbClr val="A4A3A4"/>
          </p15:clr>
        </p15:guide>
        <p15:guide id="2" orient="horz" pos="849">
          <p15:clr>
            <a:srgbClr val="A4A3A4"/>
          </p15:clr>
        </p15:guide>
        <p15:guide id="3" orient="horz" pos="169">
          <p15:clr>
            <a:srgbClr val="A4A3A4"/>
          </p15:clr>
        </p15:guide>
        <p15:guide id="4" pos="249">
          <p15:clr>
            <a:srgbClr val="A4A3A4"/>
          </p15:clr>
        </p15:guide>
        <p15:guide id="5" pos="5511">
          <p15:clr>
            <a:srgbClr val="A4A3A4"/>
          </p15:clr>
        </p15:guide>
        <p15:guide id="6" pos="2880">
          <p15:clr>
            <a:srgbClr val="A4A3A4"/>
          </p15:clr>
        </p15:guide>
        <p15:guide id="7" pos="2812">
          <p15:clr>
            <a:srgbClr val="A4A3A4"/>
          </p15:clr>
        </p15:guide>
        <p15:guide id="8" pos="294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8FC"/>
    <a:srgbClr val="ED230D"/>
    <a:srgbClr val="FF42A1"/>
    <a:srgbClr val="FDAE00"/>
    <a:srgbClr val="3B3A3A"/>
    <a:srgbClr val="ED7D31"/>
    <a:srgbClr val="1F4E79"/>
    <a:srgbClr val="92D050"/>
    <a:srgbClr val="D8EAD2"/>
    <a:srgbClr val="C9D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375" autoAdjust="0"/>
    <p:restoredTop sz="94660"/>
  </p:normalViewPr>
  <p:slideViewPr>
    <p:cSldViewPr snapToObjects="1" showGuides="1">
      <p:cViewPr varScale="1">
        <p:scale>
          <a:sx n="126" d="100"/>
          <a:sy n="126" d="100"/>
        </p:scale>
        <p:origin x="414" y="330"/>
      </p:cViewPr>
      <p:guideLst>
        <p:guide orient="horz" pos="3003"/>
        <p:guide orient="horz" pos="849"/>
        <p:guide orient="horz" pos="169"/>
        <p:guide pos="249"/>
        <p:guide pos="5511"/>
        <p:guide pos="2880"/>
        <p:guide pos="2812"/>
        <p:guide pos="294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Objects="1">
      <p:cViewPr varScale="1">
        <p:scale>
          <a:sx n="73" d="100"/>
          <a:sy n="73" d="100"/>
        </p:scale>
        <p:origin x="1944" y="84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C3237-6702-4B75-92E1-739BCADBF775}" type="datetimeFigureOut">
              <a:rPr lang="ko-KR" altLang="en-US" smtClean="0"/>
              <a:t>2025-04-12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BCEDBC-F3CD-4B11-8320-3E65CC2741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2003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CEBDC8-2377-40EB-AB22-3319FED627B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340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CEBDC8-2377-40EB-AB22-3319FED627B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72744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dirty="0"/>
              <a:t>다시 </a:t>
            </a:r>
            <a:r>
              <a:rPr lang="en-US" altLang="ko-KR" sz="1200" dirty="0"/>
              <a:t>RAG</a:t>
            </a:r>
            <a:r>
              <a:rPr lang="en-US" altLang="ko-KR" sz="1200" baseline="0" dirty="0"/>
              <a:t> </a:t>
            </a:r>
            <a:r>
              <a:rPr lang="ko-KR" altLang="en-US" sz="1200" baseline="0" dirty="0"/>
              <a:t>아키텍처로 돌아와서 질문에 대한 정보를 검색하는 </a:t>
            </a:r>
            <a:r>
              <a:rPr lang="en-US" altLang="ko-KR" sz="1200" baseline="0" dirty="0"/>
              <a:t>Retriever</a:t>
            </a:r>
            <a:r>
              <a:rPr lang="ko-KR" altLang="en-US" sz="1200" baseline="0" dirty="0"/>
              <a:t>의 </a:t>
            </a:r>
            <a:r>
              <a:rPr lang="en-US" altLang="ko-KR" sz="1200" baseline="0" dirty="0"/>
              <a:t>knowledge base embedding </a:t>
            </a:r>
            <a:r>
              <a:rPr lang="ko-KR" altLang="en-US" sz="1200" baseline="0" dirty="0"/>
              <a:t>부분을 보시겠습니다</a:t>
            </a:r>
            <a:r>
              <a:rPr lang="en-US" altLang="ko-KR" sz="1200" baseline="0" dirty="0"/>
              <a:t>.</a:t>
            </a:r>
          </a:p>
          <a:p>
            <a:r>
              <a:rPr lang="ko-KR" altLang="en-US" sz="1200" baseline="0" dirty="0"/>
              <a:t>먼저 </a:t>
            </a:r>
            <a:r>
              <a:rPr lang="en-US" altLang="ko-KR" sz="1200" baseline="0" dirty="0"/>
              <a:t>knowledge base</a:t>
            </a:r>
            <a:r>
              <a:rPr lang="ko-KR" altLang="en-US" sz="1200" baseline="0" dirty="0"/>
              <a:t>로 사용될 문서 또는 </a:t>
            </a:r>
            <a:r>
              <a:rPr lang="en-US" altLang="ko-KR" sz="1200" baseline="0" dirty="0"/>
              <a:t>database</a:t>
            </a:r>
            <a:r>
              <a:rPr lang="ko-KR" altLang="en-US" sz="1200" baseline="0" dirty="0"/>
              <a:t>가 존재하고 이에 대해 </a:t>
            </a:r>
            <a:r>
              <a:rPr lang="ko-KR" altLang="en-US" sz="1200" baseline="0" dirty="0" err="1"/>
              <a:t>전처리를</a:t>
            </a:r>
            <a:r>
              <a:rPr lang="ko-KR" altLang="en-US" sz="1200" baseline="0" dirty="0"/>
              <a:t> 진행합니다</a:t>
            </a:r>
            <a:r>
              <a:rPr lang="en-US" altLang="ko-KR" sz="1200" baseline="0" dirty="0"/>
              <a:t>. </a:t>
            </a:r>
          </a:p>
          <a:p>
            <a:r>
              <a:rPr lang="ko-KR" altLang="en-US" sz="1200" baseline="0" dirty="0"/>
              <a:t>그 후에 </a:t>
            </a:r>
            <a:r>
              <a:rPr lang="en-US" altLang="ko-KR" sz="1200" baseline="0" dirty="0"/>
              <a:t>Passage</a:t>
            </a:r>
            <a:r>
              <a:rPr lang="ko-KR" altLang="en-US" sz="1200" baseline="0" dirty="0"/>
              <a:t>들을 </a:t>
            </a:r>
            <a:r>
              <a:rPr lang="en-US" altLang="ko-KR" sz="1200" baseline="0" dirty="0"/>
              <a:t>Passage encoder</a:t>
            </a:r>
            <a:r>
              <a:rPr lang="ko-KR" altLang="en-US" sz="1200" baseline="0" dirty="0"/>
              <a:t>의 </a:t>
            </a:r>
            <a:r>
              <a:rPr lang="en-US" altLang="ko-KR" sz="1200" baseline="0" dirty="0"/>
              <a:t>input</a:t>
            </a:r>
            <a:r>
              <a:rPr lang="ko-KR" altLang="en-US" sz="1200" baseline="0" dirty="0"/>
              <a:t>으로 넣어서</a:t>
            </a:r>
            <a:r>
              <a:rPr lang="en-US" altLang="ko-KR" sz="1200" baseline="0" dirty="0"/>
              <a:t> </a:t>
            </a:r>
            <a:r>
              <a:rPr lang="ko-KR" altLang="en-US" sz="1200" baseline="0" dirty="0"/>
              <a:t>다음과 같이 </a:t>
            </a:r>
            <a:r>
              <a:rPr lang="en-US" altLang="ko-KR" sz="1200" baseline="0" dirty="0"/>
              <a:t>n-</a:t>
            </a:r>
            <a:r>
              <a:rPr lang="ko-KR" altLang="en-US" sz="1200" baseline="0" dirty="0"/>
              <a:t>차원의 벡터를 </a:t>
            </a:r>
            <a:r>
              <a:rPr lang="en-US" altLang="ko-KR" sz="1200" baseline="0" dirty="0"/>
              <a:t>output</a:t>
            </a:r>
            <a:r>
              <a:rPr lang="ko-KR" altLang="en-US" sz="1200" baseline="0" dirty="0"/>
              <a:t>으로 얻습니다</a:t>
            </a:r>
            <a:r>
              <a:rPr lang="en-US" altLang="ko-KR" sz="1200" baseline="0" dirty="0"/>
              <a:t>.</a:t>
            </a:r>
          </a:p>
          <a:p>
            <a:r>
              <a:rPr lang="ko-KR" altLang="en-US" sz="1200" baseline="0" dirty="0"/>
              <a:t>앞 슬라이드에서 </a:t>
            </a:r>
            <a:r>
              <a:rPr lang="ko-KR" altLang="en-US" sz="1200" baseline="0" dirty="0" err="1"/>
              <a:t>말씀드렸다시피</a:t>
            </a:r>
            <a:r>
              <a:rPr lang="ko-KR" altLang="en-US" sz="1200" baseline="0" dirty="0"/>
              <a:t> 이러한 </a:t>
            </a:r>
            <a:r>
              <a:rPr lang="en-US" altLang="ko-KR" sz="1200" baseline="0" dirty="0"/>
              <a:t>n-</a:t>
            </a:r>
            <a:r>
              <a:rPr lang="ko-KR" altLang="en-US" sz="1200" baseline="0" dirty="0"/>
              <a:t>차원의 벡터는 해당 </a:t>
            </a:r>
            <a:r>
              <a:rPr lang="en-US" altLang="ko-KR" sz="1200" baseline="0" dirty="0"/>
              <a:t>Passage</a:t>
            </a:r>
            <a:r>
              <a:rPr lang="ko-KR" altLang="en-US" sz="1200" baseline="0" dirty="0"/>
              <a:t>의 의미</a:t>
            </a:r>
            <a:r>
              <a:rPr lang="en-US" altLang="ko-KR" sz="1200" baseline="0" dirty="0"/>
              <a:t>, </a:t>
            </a:r>
            <a:r>
              <a:rPr lang="ko-KR" altLang="en-US" sz="1200" baseline="0" dirty="0"/>
              <a:t>경향성을 내포하게 됩니다</a:t>
            </a:r>
            <a:r>
              <a:rPr lang="en-US" altLang="ko-KR" sz="1200" baseline="0" dirty="0"/>
              <a:t>.</a:t>
            </a:r>
          </a:p>
          <a:p>
            <a:r>
              <a:rPr lang="en-US" altLang="ko-KR" sz="1200" baseline="0" dirty="0"/>
              <a:t>Output</a:t>
            </a:r>
            <a:r>
              <a:rPr lang="ko-KR" altLang="en-US" sz="1200" baseline="0" dirty="0"/>
              <a:t>으로 얻어진 벡터는 </a:t>
            </a:r>
            <a:r>
              <a:rPr lang="en-US" altLang="ko-KR" sz="1200" baseline="0" dirty="0"/>
              <a:t>in-memory</a:t>
            </a:r>
            <a:r>
              <a:rPr lang="ko-KR" altLang="en-US" sz="1200" baseline="0" dirty="0"/>
              <a:t> 방식으로 </a:t>
            </a:r>
            <a:r>
              <a:rPr lang="ko-KR" altLang="en-US" sz="1200" baseline="0" dirty="0" err="1"/>
              <a:t>로드하거나</a:t>
            </a:r>
            <a:r>
              <a:rPr lang="en-US" altLang="ko-KR" sz="1200" baseline="0" dirty="0"/>
              <a:t> vector database</a:t>
            </a:r>
            <a:r>
              <a:rPr lang="ko-KR" altLang="en-US" sz="1200" baseline="0" dirty="0"/>
              <a:t>에 저장하여 사용하게 됩니다</a:t>
            </a:r>
            <a:r>
              <a:rPr lang="en-US" altLang="ko-KR" sz="1200" baseline="0" dirty="0"/>
              <a:t>.</a:t>
            </a:r>
          </a:p>
          <a:p>
            <a:endParaRPr lang="en-US" altLang="ko-KR" sz="1200" baseline="0" dirty="0"/>
          </a:p>
          <a:p>
            <a:r>
              <a:rPr lang="ko-KR" altLang="en-US" sz="1200" baseline="0" dirty="0"/>
              <a:t>또한 문서나 데이터베이스에 대해 </a:t>
            </a:r>
            <a:r>
              <a:rPr lang="ko-KR" altLang="en-US" sz="1200" baseline="0" dirty="0" err="1"/>
              <a:t>전처리를</a:t>
            </a:r>
            <a:r>
              <a:rPr lang="ko-KR" altLang="en-US" sz="1200" baseline="0" dirty="0"/>
              <a:t> 진행한다고 </a:t>
            </a:r>
            <a:r>
              <a:rPr lang="ko-KR" altLang="en-US" sz="1200" baseline="0" dirty="0" err="1"/>
              <a:t>말씀드렸는데</a:t>
            </a:r>
            <a:r>
              <a:rPr lang="en-US" altLang="ko-KR" sz="1200" baseline="0" dirty="0"/>
              <a:t>, </a:t>
            </a:r>
          </a:p>
          <a:p>
            <a:r>
              <a:rPr lang="en-US" altLang="ko-KR" sz="1200" baseline="0" dirty="0"/>
              <a:t>Passage</a:t>
            </a:r>
            <a:r>
              <a:rPr lang="ko-KR" altLang="en-US" sz="1200" baseline="0" dirty="0"/>
              <a:t>의 길이가 너무 긴 경우 </a:t>
            </a:r>
            <a:r>
              <a:rPr lang="en-US" altLang="ko-KR" sz="1200" baseline="0" dirty="0"/>
              <a:t>n-</a:t>
            </a:r>
            <a:r>
              <a:rPr lang="ko-KR" altLang="en-US" sz="1200" baseline="0" dirty="0"/>
              <a:t>차원의 벡터에 그 의미나 경향성이 담기지 않고 손실되는 문제가 있을 수 있기 때문에</a:t>
            </a:r>
            <a:endParaRPr lang="en-US" altLang="ko-KR" sz="1200" baseline="0" dirty="0"/>
          </a:p>
          <a:p>
            <a:r>
              <a:rPr lang="ko-KR" altLang="en-US" sz="1200" baseline="0" dirty="0"/>
              <a:t>보통 </a:t>
            </a:r>
            <a:r>
              <a:rPr lang="en-US" altLang="ko-KR" sz="1200" baseline="0" dirty="0"/>
              <a:t>100 chunk </a:t>
            </a:r>
            <a:r>
              <a:rPr lang="ko-KR" altLang="en-US" sz="1200" baseline="0" dirty="0"/>
              <a:t>단위로 끊는 </a:t>
            </a:r>
            <a:r>
              <a:rPr lang="ko-KR" altLang="en-US" sz="1200" baseline="0" dirty="0" err="1"/>
              <a:t>전처리를</a:t>
            </a:r>
            <a:r>
              <a:rPr lang="ko-KR" altLang="en-US" sz="1200" baseline="0" dirty="0"/>
              <a:t> 진행한 후에 </a:t>
            </a:r>
            <a:r>
              <a:rPr lang="ko-KR" altLang="en-US" sz="1200" baseline="0" dirty="0" err="1"/>
              <a:t>인코딩을</a:t>
            </a:r>
            <a:r>
              <a:rPr lang="ko-KR" altLang="en-US" sz="1200" baseline="0" dirty="0"/>
              <a:t> 진행합니다</a:t>
            </a:r>
            <a:r>
              <a:rPr lang="en-US" altLang="ko-KR" sz="1200" baseline="0" dirty="0"/>
              <a:t>.</a:t>
            </a:r>
          </a:p>
          <a:p>
            <a:r>
              <a:rPr lang="ko-KR" altLang="en-US" sz="1200" baseline="0" dirty="0"/>
              <a:t>여기서 </a:t>
            </a:r>
            <a:r>
              <a:rPr lang="en-US" altLang="ko-KR" sz="1200" baseline="0" dirty="0"/>
              <a:t>chunk</a:t>
            </a:r>
            <a:r>
              <a:rPr lang="ko-KR" altLang="en-US" sz="1200" baseline="0" dirty="0"/>
              <a:t>는 의미에 따라 단어</a:t>
            </a:r>
            <a:r>
              <a:rPr lang="en-US" altLang="ko-KR" sz="1200" baseline="0" dirty="0"/>
              <a:t>, </a:t>
            </a:r>
            <a:r>
              <a:rPr lang="ko-KR" altLang="en-US" sz="1200" baseline="0" dirty="0"/>
              <a:t>구</a:t>
            </a:r>
            <a:r>
              <a:rPr lang="en-US" altLang="ko-KR" sz="1200" baseline="0" dirty="0"/>
              <a:t>, </a:t>
            </a:r>
            <a:r>
              <a:rPr lang="ko-KR" altLang="en-US" sz="1200" baseline="0" dirty="0"/>
              <a:t>문장</a:t>
            </a:r>
            <a:r>
              <a:rPr lang="en-US" altLang="ko-KR" sz="1200" baseline="0" dirty="0"/>
              <a:t>, </a:t>
            </a:r>
            <a:r>
              <a:rPr lang="ko-KR" altLang="en-US" sz="1200" baseline="0" dirty="0"/>
              <a:t>띄어쓰기 단위 등으로 해석 가능합니다</a:t>
            </a:r>
            <a:r>
              <a:rPr lang="en-US" altLang="ko-KR" sz="1200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113A24-846E-4E07-AB21-1C369A258CE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59042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13A8B7-E763-4FBB-BC67-859637669D4D}" type="slidenum">
              <a:rPr lang="ko-KR" altLang="en-US" smtClean="0"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50212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CEBDC8-2377-40EB-AB22-3319FED627B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14705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Improving reliability at producing a desired output</a:t>
            </a:r>
          </a:p>
          <a:p>
            <a:r>
              <a:rPr lang="en-US" altLang="ko-KR" dirty="0"/>
              <a:t>Correcting failures to follow complex prompts</a:t>
            </a:r>
          </a:p>
          <a:p>
            <a:r>
              <a:rPr lang="en-US" altLang="ko-KR" dirty="0"/>
              <a:t>Handling many edge cases in specific ways</a:t>
            </a:r>
          </a:p>
          <a:p>
            <a:r>
              <a:rPr lang="en-US" altLang="ko-KR" dirty="0"/>
              <a:t>Performing a new skill or task that’s hard to articulate in a prompt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CEBDC8-2377-40EB-AB22-3319FED627B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61508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CEBDC8-2377-40EB-AB22-3319FED627B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836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9144000" cy="32400"/>
          </a:xfrm>
          <a:prstGeom prst="rect">
            <a:avLst/>
          </a:prstGeom>
          <a:gradFill>
            <a:gsLst>
              <a:gs pos="30000">
                <a:srgbClr val="021861"/>
              </a:gs>
              <a:gs pos="0">
                <a:srgbClr val="3259A8"/>
              </a:gs>
              <a:gs pos="10000">
                <a:srgbClr val="D551AC"/>
              </a:gs>
              <a:gs pos="20000">
                <a:srgbClr val="09AFE8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>
              <a:solidFill>
                <a:prstClr val="whit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5935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5586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bg>
      <p:bgPr>
        <a:solidFill>
          <a:srgbClr val="0D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/>
          <p:cNvSpPr txBox="1">
            <a:spLocks/>
          </p:cNvSpPr>
          <p:nvPr userDrawn="1"/>
        </p:nvSpPr>
        <p:spPr>
          <a:xfrm>
            <a:off x="3691770" y="4801232"/>
            <a:ext cx="1760464" cy="244841"/>
          </a:xfrm>
          <a:prstGeom prst="rect">
            <a:avLst/>
          </a:prstGeom>
        </p:spPr>
        <p:txBody>
          <a:bodyPr lIns="121898" tIns="60948" rIns="121898" bIns="60948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 defTabSz="914286">
              <a:defRPr/>
            </a:pPr>
            <a:fld id="{4E2E905B-828D-4F20-A1BB-9606BA51BD13}" type="slidenum">
              <a:rPr lang="ko-KR" altLang="en-US" sz="900" b="1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latin typeface="나눔스퀘어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pPr algn="ctr" defTabSz="914286">
                <a:defRPr/>
              </a:pPr>
              <a:t>‹#›</a:t>
            </a:fld>
            <a:r>
              <a:rPr lang="ko-KR" altLang="en-US" sz="6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675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/ 75</a:t>
            </a:r>
            <a:endParaRPr lang="ko-KR" altLang="en-US" sz="675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>
                  <a:lumMod val="50000"/>
                </a:prstClr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229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bg>
      <p:bgPr>
        <a:solidFill>
          <a:srgbClr val="0D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2792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개체 틀 1"/>
          <p:cNvSpPr>
            <a:spLocks noGrp="1"/>
          </p:cNvSpPr>
          <p:nvPr>
            <p:ph type="title" hasCustomPrompt="1"/>
          </p:nvPr>
        </p:nvSpPr>
        <p:spPr>
          <a:xfrm>
            <a:off x="395288" y="214292"/>
            <a:ext cx="6621462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algn="l">
              <a:defRPr lang="en-US" altLang="ko-KR" sz="2000" b="1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16419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pPr marL="0" lvl="0" algn="l" defTabSz="914250"/>
            <a:r>
              <a:rPr lang="ko-KR" altLang="en-US" dirty="0"/>
              <a:t>페이지 제목 </a:t>
            </a:r>
            <a:r>
              <a:rPr lang="en-US" altLang="ko-KR" dirty="0"/>
              <a:t>(</a:t>
            </a:r>
            <a:r>
              <a:rPr lang="ko-KR" altLang="en-US" dirty="0" err="1"/>
              <a:t>맑은고딕</a:t>
            </a:r>
            <a:r>
              <a:rPr lang="en-US" altLang="ko-KR" dirty="0"/>
              <a:t>B</a:t>
            </a:r>
            <a:r>
              <a:rPr lang="ko-KR" altLang="en-US" dirty="0"/>
              <a:t> </a:t>
            </a:r>
            <a:r>
              <a:rPr lang="en-US" altLang="ko-KR" dirty="0"/>
              <a:t>20pt)</a:t>
            </a:r>
          </a:p>
        </p:txBody>
      </p:sp>
      <p:sp>
        <p:nvSpPr>
          <p:cNvPr id="4" name="Rectangle 15"/>
          <p:cNvSpPr>
            <a:spLocks noChangeArrowheads="1"/>
          </p:cNvSpPr>
          <p:nvPr userDrawn="1"/>
        </p:nvSpPr>
        <p:spPr bwMode="auto">
          <a:xfrm>
            <a:off x="4396475" y="4804000"/>
            <a:ext cx="340158" cy="253916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ctr" defTabSz="91276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37E0E5-A56D-4372-A39D-FA63A08071CF}" type="slidenum">
              <a:rPr kumimoji="0" lang="en-US" altLang="ko-KR" sz="1050" b="1" i="0" u="none" strike="noStrike" kern="1200" cap="none" spc="-50" normalizeH="0" baseline="0" noProof="0" smtClean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pPr marL="0" marR="0" lvl="0" indent="0" algn="ctr" defTabSz="912768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900" b="1" i="0" u="none" strike="noStrike" kern="1200" cap="none" spc="-50" normalizeH="0" baseline="0" noProof="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3" name="내용 개체 틀 2"/>
          <p:cNvSpPr>
            <a:spLocks noGrp="1"/>
          </p:cNvSpPr>
          <p:nvPr>
            <p:ph idx="11" hasCustomPrompt="1"/>
          </p:nvPr>
        </p:nvSpPr>
        <p:spPr>
          <a:xfrm>
            <a:off x="395290" y="596013"/>
            <a:ext cx="8353424" cy="4660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250" rtl="0" eaLnBrk="1" latinLnBrk="1" hangingPunct="1">
              <a:lnSpc>
                <a:spcPct val="105000"/>
              </a:lnSpc>
              <a:spcBef>
                <a:spcPts val="0"/>
              </a:spcBef>
              <a:buFontTx/>
              <a:buNone/>
              <a:defRPr lang="en-US" altLang="ko-KR" sz="1500" kern="1200" spc="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 marL="0" algn="l" defTabSz="914250" rtl="0" eaLnBrk="1" latinLnBrk="1" hangingPunct="1">
              <a:lnSpc>
                <a:spcPct val="110000"/>
              </a:lnSpc>
              <a:spcBef>
                <a:spcPts val="0"/>
              </a:spcBef>
              <a:defRPr lang="ko-KR" altLang="en-US" sz="1800" kern="1200" spc="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 marL="0" algn="l" defTabSz="914250" rtl="0" eaLnBrk="1" latinLnBrk="1" hangingPunct="1">
              <a:lnSpc>
                <a:spcPct val="110000"/>
              </a:lnSpc>
              <a:spcBef>
                <a:spcPts val="0"/>
              </a:spcBef>
              <a:defRPr lang="ko-KR" altLang="en-US" sz="1800" kern="1200" spc="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 marL="0" algn="l" defTabSz="914250" rtl="0" eaLnBrk="1" latinLnBrk="1" hangingPunct="1">
              <a:lnSpc>
                <a:spcPct val="110000"/>
              </a:lnSpc>
              <a:spcBef>
                <a:spcPts val="0"/>
              </a:spcBef>
              <a:defRPr lang="ko-KR" altLang="en-US" sz="1800" kern="1200" spc="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 marL="0" algn="l" defTabSz="914250" rtl="0" eaLnBrk="1" latinLnBrk="1" hangingPunct="1">
              <a:lnSpc>
                <a:spcPct val="110000"/>
              </a:lnSpc>
              <a:spcBef>
                <a:spcPts val="0"/>
              </a:spcBef>
              <a:defRPr lang="ko-KR" altLang="en-US" sz="1800" kern="1200" spc="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ko-KR" altLang="en-US" dirty="0"/>
              <a:t>해당 페이지의 핵심적으로 전달하고자 하는 메시지로 구성하며 최대 </a:t>
            </a:r>
            <a:r>
              <a:rPr lang="en-US" altLang="ko-KR" dirty="0"/>
              <a:t>2</a:t>
            </a:r>
            <a:r>
              <a:rPr lang="ko-KR" altLang="en-US" dirty="0"/>
              <a:t>줄 내 요약정리</a:t>
            </a:r>
            <a:br>
              <a:rPr lang="ko-KR" altLang="en-US" dirty="0"/>
            </a:br>
            <a:r>
              <a:rPr lang="en-US" altLang="ko-KR" dirty="0"/>
              <a:t>(</a:t>
            </a:r>
            <a:r>
              <a:rPr lang="ko-KR" altLang="en-US" dirty="0"/>
              <a:t>폰트 </a:t>
            </a:r>
            <a:r>
              <a:rPr lang="en-US" altLang="ko-KR" dirty="0"/>
              <a:t>: </a:t>
            </a:r>
            <a:r>
              <a:rPr lang="ko-KR" altLang="en-US" dirty="0"/>
              <a:t>국문 맑은 고딕</a:t>
            </a:r>
            <a:r>
              <a:rPr lang="en-US" altLang="ko-KR" dirty="0"/>
              <a:t>, </a:t>
            </a:r>
            <a:r>
              <a:rPr lang="ko-KR" altLang="en-US" dirty="0"/>
              <a:t>색상 블랙</a:t>
            </a:r>
            <a:r>
              <a:rPr lang="en-US" altLang="ko-KR" dirty="0"/>
              <a:t>, </a:t>
            </a:r>
            <a:r>
              <a:rPr lang="ko-KR" altLang="en-US" dirty="0"/>
              <a:t>크기 </a:t>
            </a:r>
            <a:r>
              <a:rPr lang="en-US" altLang="ko-KR" dirty="0"/>
              <a:t>15pt)</a:t>
            </a:r>
          </a:p>
        </p:txBody>
      </p:sp>
      <p:sp>
        <p:nvSpPr>
          <p:cNvPr id="6" name="직사각형 5"/>
          <p:cNvSpPr/>
          <p:nvPr userDrawn="1"/>
        </p:nvSpPr>
        <p:spPr>
          <a:xfrm>
            <a:off x="-5862" y="-22860"/>
            <a:ext cx="9149862" cy="457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3611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개체 틀 1"/>
          <p:cNvSpPr>
            <a:spLocks noGrp="1"/>
          </p:cNvSpPr>
          <p:nvPr>
            <p:ph type="title" hasCustomPrompt="1"/>
          </p:nvPr>
        </p:nvSpPr>
        <p:spPr>
          <a:xfrm>
            <a:off x="395288" y="214291"/>
            <a:ext cx="6621462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algn="l">
              <a:defRPr lang="en-US" altLang="ko-KR" sz="2000" b="1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16419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pPr marL="0" lvl="0" algn="l" defTabSz="914273"/>
            <a:r>
              <a:rPr lang="ko-KR" altLang="en-US" dirty="0"/>
              <a:t>페이지 제목 </a:t>
            </a:r>
            <a:r>
              <a:rPr lang="en-US" altLang="ko-KR" dirty="0"/>
              <a:t>(</a:t>
            </a:r>
            <a:r>
              <a:rPr lang="ko-KR" altLang="en-US" dirty="0" err="1"/>
              <a:t>맑은고딕</a:t>
            </a:r>
            <a:r>
              <a:rPr lang="en-US" altLang="ko-KR" dirty="0"/>
              <a:t>B</a:t>
            </a:r>
            <a:r>
              <a:rPr lang="ko-KR" altLang="en-US" dirty="0"/>
              <a:t> </a:t>
            </a:r>
            <a:r>
              <a:rPr lang="en-US" altLang="ko-KR" dirty="0"/>
              <a:t>20pt)</a:t>
            </a:r>
          </a:p>
        </p:txBody>
      </p:sp>
      <p:sp>
        <p:nvSpPr>
          <p:cNvPr id="4" name="Rectangle 15"/>
          <p:cNvSpPr>
            <a:spLocks noChangeArrowheads="1"/>
          </p:cNvSpPr>
          <p:nvPr userDrawn="1"/>
        </p:nvSpPr>
        <p:spPr bwMode="auto">
          <a:xfrm>
            <a:off x="4396475" y="4803999"/>
            <a:ext cx="340158" cy="253916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 defTabSz="912791"/>
            <a:fld id="{D937E0E5-A56D-4372-A39D-FA63A08071CF}" type="slidenum">
              <a:rPr lang="en-US" altLang="ko-KR" sz="1050" b="1" spc="-50" smtClean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pPr algn="ctr" defTabSz="912791"/>
              <a:t>‹#›</a:t>
            </a:fld>
            <a:endParaRPr lang="en-US" altLang="ko-KR" sz="900" b="1" spc="-5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3" name="내용 개체 틀 2"/>
          <p:cNvSpPr>
            <a:spLocks noGrp="1"/>
          </p:cNvSpPr>
          <p:nvPr>
            <p:ph idx="11" hasCustomPrompt="1"/>
          </p:nvPr>
        </p:nvSpPr>
        <p:spPr>
          <a:xfrm>
            <a:off x="395290" y="596013"/>
            <a:ext cx="8353424" cy="4847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273" rtl="0" eaLnBrk="1" latinLnBrk="1" hangingPunct="1">
              <a:lnSpc>
                <a:spcPct val="105000"/>
              </a:lnSpc>
              <a:spcBef>
                <a:spcPts val="0"/>
              </a:spcBef>
              <a:buFontTx/>
              <a:buNone/>
              <a:defRPr lang="en-US" altLang="ko-KR" sz="1500" kern="1200" spc="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 marL="0" algn="l" defTabSz="914273" rtl="0" eaLnBrk="1" latinLnBrk="1" hangingPunct="1">
              <a:lnSpc>
                <a:spcPct val="110000"/>
              </a:lnSpc>
              <a:spcBef>
                <a:spcPts val="0"/>
              </a:spcBef>
              <a:defRPr lang="ko-KR" altLang="en-US" sz="1800" kern="1200" spc="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 marL="0" algn="l" defTabSz="914273" rtl="0" eaLnBrk="1" latinLnBrk="1" hangingPunct="1">
              <a:lnSpc>
                <a:spcPct val="110000"/>
              </a:lnSpc>
              <a:spcBef>
                <a:spcPts val="0"/>
              </a:spcBef>
              <a:defRPr lang="ko-KR" altLang="en-US" sz="1800" kern="1200" spc="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 marL="0" algn="l" defTabSz="914273" rtl="0" eaLnBrk="1" latinLnBrk="1" hangingPunct="1">
              <a:lnSpc>
                <a:spcPct val="110000"/>
              </a:lnSpc>
              <a:spcBef>
                <a:spcPts val="0"/>
              </a:spcBef>
              <a:defRPr lang="ko-KR" altLang="en-US" sz="1800" kern="1200" spc="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 marL="0" algn="l" defTabSz="914273" rtl="0" eaLnBrk="1" latinLnBrk="1" hangingPunct="1">
              <a:lnSpc>
                <a:spcPct val="110000"/>
              </a:lnSpc>
              <a:spcBef>
                <a:spcPts val="0"/>
              </a:spcBef>
              <a:defRPr lang="ko-KR" altLang="en-US" sz="1800" kern="1200" spc="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ko-KR" altLang="en-US" dirty="0"/>
              <a:t>해당 페이지의 핵심적으로 전달하고자 하는 메시지로 구성하며 최대 </a:t>
            </a:r>
            <a:r>
              <a:rPr lang="en-US" altLang="ko-KR" dirty="0"/>
              <a:t>2</a:t>
            </a:r>
            <a:r>
              <a:rPr lang="ko-KR" altLang="en-US" dirty="0"/>
              <a:t>줄 내 요약정리</a:t>
            </a:r>
            <a:br>
              <a:rPr lang="ko-KR" altLang="en-US" dirty="0"/>
            </a:br>
            <a:r>
              <a:rPr lang="en-US" altLang="ko-KR" dirty="0"/>
              <a:t>(</a:t>
            </a:r>
            <a:r>
              <a:rPr lang="ko-KR" altLang="en-US" dirty="0"/>
              <a:t>폰트 </a:t>
            </a:r>
            <a:r>
              <a:rPr lang="en-US" altLang="ko-KR" dirty="0"/>
              <a:t>: </a:t>
            </a:r>
            <a:r>
              <a:rPr lang="ko-KR" altLang="en-US" dirty="0"/>
              <a:t>국문 맑은 고딕</a:t>
            </a:r>
            <a:r>
              <a:rPr lang="en-US" altLang="ko-KR" dirty="0"/>
              <a:t>, </a:t>
            </a:r>
            <a:r>
              <a:rPr lang="ko-KR" altLang="en-US" dirty="0"/>
              <a:t>색상 블랙</a:t>
            </a:r>
            <a:r>
              <a:rPr lang="en-US" altLang="ko-KR" dirty="0"/>
              <a:t>, </a:t>
            </a:r>
            <a:r>
              <a:rPr lang="ko-KR" altLang="en-US" dirty="0"/>
              <a:t>크기 </a:t>
            </a:r>
            <a:r>
              <a:rPr lang="en-US" altLang="ko-KR" dirty="0"/>
              <a:t>15pt)</a:t>
            </a:r>
          </a:p>
        </p:txBody>
      </p:sp>
      <p:sp>
        <p:nvSpPr>
          <p:cNvPr id="6" name="직사각형 5"/>
          <p:cNvSpPr/>
          <p:nvPr userDrawn="1"/>
        </p:nvSpPr>
        <p:spPr>
          <a:xfrm>
            <a:off x="-5862" y="-22860"/>
            <a:ext cx="9149862" cy="457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4337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3FD15-4BFE-4746-ABFB-7F953F1815B3}" type="datetimeFigureOut">
              <a:rPr lang="ko-KR" altLang="en-US" smtClean="0"/>
              <a:t>2025-04-12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57DAC-5C3E-4D3B-AC03-AE87BD67CF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2496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개체 틀 1"/>
          <p:cNvSpPr>
            <a:spLocks noGrp="1"/>
          </p:cNvSpPr>
          <p:nvPr>
            <p:ph type="title" hasCustomPrompt="1"/>
          </p:nvPr>
        </p:nvSpPr>
        <p:spPr>
          <a:xfrm>
            <a:off x="395288" y="214291"/>
            <a:ext cx="6621462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algn="l">
              <a:defRPr lang="en-US" altLang="ko-KR" sz="2000" b="1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16419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pPr marL="0" lvl="0" algn="l" defTabSz="914273"/>
            <a:r>
              <a:rPr lang="ko-KR" altLang="en-US" dirty="0"/>
              <a:t>페이지 제목 </a:t>
            </a:r>
            <a:r>
              <a:rPr lang="en-US" altLang="ko-KR" dirty="0"/>
              <a:t>(</a:t>
            </a:r>
            <a:r>
              <a:rPr lang="ko-KR" altLang="en-US" dirty="0" err="1"/>
              <a:t>맑은고딕</a:t>
            </a:r>
            <a:r>
              <a:rPr lang="en-US" altLang="ko-KR" dirty="0"/>
              <a:t>B</a:t>
            </a:r>
            <a:r>
              <a:rPr lang="ko-KR" altLang="en-US" dirty="0"/>
              <a:t> </a:t>
            </a:r>
            <a:r>
              <a:rPr lang="en-US" altLang="ko-KR" dirty="0"/>
              <a:t>20pt)</a:t>
            </a:r>
          </a:p>
        </p:txBody>
      </p:sp>
      <p:sp>
        <p:nvSpPr>
          <p:cNvPr id="4" name="Rectangle 15"/>
          <p:cNvSpPr>
            <a:spLocks noChangeArrowheads="1"/>
          </p:cNvSpPr>
          <p:nvPr userDrawn="1"/>
        </p:nvSpPr>
        <p:spPr bwMode="auto">
          <a:xfrm>
            <a:off x="4396475" y="4803999"/>
            <a:ext cx="340158" cy="253916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 defTabSz="912791"/>
            <a:fld id="{D937E0E5-A56D-4372-A39D-FA63A08071CF}" type="slidenum">
              <a:rPr lang="en-US" altLang="ko-KR" sz="1050" b="1" spc="-50" smtClean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pPr algn="ctr" defTabSz="912791"/>
              <a:t>‹#›</a:t>
            </a:fld>
            <a:endParaRPr lang="en-US" altLang="ko-KR" sz="900" b="1" spc="-5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3" name="내용 개체 틀 2"/>
          <p:cNvSpPr>
            <a:spLocks noGrp="1"/>
          </p:cNvSpPr>
          <p:nvPr>
            <p:ph idx="11" hasCustomPrompt="1"/>
          </p:nvPr>
        </p:nvSpPr>
        <p:spPr>
          <a:xfrm>
            <a:off x="755576" y="699542"/>
            <a:ext cx="7993138" cy="4847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273" rtl="0" eaLnBrk="1" latinLnBrk="1" hangingPunct="1">
              <a:lnSpc>
                <a:spcPct val="105000"/>
              </a:lnSpc>
              <a:spcBef>
                <a:spcPts val="0"/>
              </a:spcBef>
              <a:buFontTx/>
              <a:buNone/>
              <a:defRPr lang="en-US" altLang="ko-KR" sz="1500" kern="1200" spc="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 marL="0" algn="l" defTabSz="914273" rtl="0" eaLnBrk="1" latinLnBrk="1" hangingPunct="1">
              <a:lnSpc>
                <a:spcPct val="110000"/>
              </a:lnSpc>
              <a:spcBef>
                <a:spcPts val="0"/>
              </a:spcBef>
              <a:defRPr lang="ko-KR" altLang="en-US" sz="1800" kern="1200" spc="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 marL="0" algn="l" defTabSz="914273" rtl="0" eaLnBrk="1" latinLnBrk="1" hangingPunct="1">
              <a:lnSpc>
                <a:spcPct val="110000"/>
              </a:lnSpc>
              <a:spcBef>
                <a:spcPts val="0"/>
              </a:spcBef>
              <a:defRPr lang="ko-KR" altLang="en-US" sz="1800" kern="1200" spc="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 marL="0" algn="l" defTabSz="914273" rtl="0" eaLnBrk="1" latinLnBrk="1" hangingPunct="1">
              <a:lnSpc>
                <a:spcPct val="110000"/>
              </a:lnSpc>
              <a:spcBef>
                <a:spcPts val="0"/>
              </a:spcBef>
              <a:defRPr lang="ko-KR" altLang="en-US" sz="1800" kern="1200" spc="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 marL="0" algn="l" defTabSz="914273" rtl="0" eaLnBrk="1" latinLnBrk="1" hangingPunct="1">
              <a:lnSpc>
                <a:spcPct val="110000"/>
              </a:lnSpc>
              <a:spcBef>
                <a:spcPts val="0"/>
              </a:spcBef>
              <a:defRPr lang="ko-KR" altLang="en-US" sz="1800" kern="1200" spc="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ko-KR" altLang="en-US" dirty="0"/>
              <a:t>해당 페이지의 핵심적으로 전달하고자 하는 메시지로 구성하며 최대 </a:t>
            </a:r>
            <a:r>
              <a:rPr lang="en-US" altLang="ko-KR" dirty="0"/>
              <a:t>2</a:t>
            </a:r>
            <a:r>
              <a:rPr lang="ko-KR" altLang="en-US" dirty="0"/>
              <a:t>줄 내 요약정리</a:t>
            </a:r>
            <a:br>
              <a:rPr lang="ko-KR" altLang="en-US" dirty="0"/>
            </a:br>
            <a:r>
              <a:rPr lang="en-US" altLang="ko-KR" dirty="0"/>
              <a:t>(</a:t>
            </a:r>
            <a:r>
              <a:rPr lang="ko-KR" altLang="en-US" dirty="0"/>
              <a:t>폰트 </a:t>
            </a:r>
            <a:r>
              <a:rPr lang="en-US" altLang="ko-KR" dirty="0"/>
              <a:t>: </a:t>
            </a:r>
            <a:r>
              <a:rPr lang="ko-KR" altLang="en-US" dirty="0"/>
              <a:t>국문 맑은 고딕</a:t>
            </a:r>
            <a:r>
              <a:rPr lang="en-US" altLang="ko-KR" dirty="0"/>
              <a:t>, </a:t>
            </a:r>
            <a:r>
              <a:rPr lang="ko-KR" altLang="en-US" dirty="0"/>
              <a:t>색상 블랙</a:t>
            </a:r>
            <a:r>
              <a:rPr lang="en-US" altLang="ko-KR" dirty="0"/>
              <a:t>, </a:t>
            </a:r>
            <a:r>
              <a:rPr lang="ko-KR" altLang="en-US" dirty="0"/>
              <a:t>크기 </a:t>
            </a:r>
            <a:r>
              <a:rPr lang="en-US" altLang="ko-KR" dirty="0"/>
              <a:t>15pt)</a:t>
            </a:r>
          </a:p>
        </p:txBody>
      </p:sp>
      <p:sp>
        <p:nvSpPr>
          <p:cNvPr id="6" name="직사각형 5"/>
          <p:cNvSpPr/>
          <p:nvPr userDrawn="1"/>
        </p:nvSpPr>
        <p:spPr>
          <a:xfrm>
            <a:off x="-5862" y="-22860"/>
            <a:ext cx="9149862" cy="457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prstClr val="white"/>
              </a:solidFill>
            </a:endParaRPr>
          </a:p>
        </p:txBody>
      </p:sp>
      <p:grpSp>
        <p:nvGrpSpPr>
          <p:cNvPr id="7" name="그룹 6"/>
          <p:cNvGrpSpPr/>
          <p:nvPr userDrawn="1"/>
        </p:nvGrpSpPr>
        <p:grpSpPr>
          <a:xfrm>
            <a:off x="395288" y="725718"/>
            <a:ext cx="181609" cy="112669"/>
            <a:chOff x="412072" y="2422510"/>
            <a:chExt cx="181609" cy="112669"/>
          </a:xfrm>
        </p:grpSpPr>
        <p:sp>
          <p:nvSpPr>
            <p:cNvPr id="8" name="타원 7"/>
            <p:cNvSpPr/>
            <p:nvPr/>
          </p:nvSpPr>
          <p:spPr>
            <a:xfrm>
              <a:off x="481012" y="2422510"/>
              <a:ext cx="112669" cy="112669"/>
            </a:xfrm>
            <a:prstGeom prst="ellipse">
              <a:avLst/>
            </a:prstGeom>
            <a:solidFill>
              <a:srgbClr val="1148B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" name="타원 8"/>
            <p:cNvSpPr/>
            <p:nvPr/>
          </p:nvSpPr>
          <p:spPr>
            <a:xfrm>
              <a:off x="412072" y="2422510"/>
              <a:ext cx="112669" cy="112669"/>
            </a:xfrm>
            <a:prstGeom prst="ellipse">
              <a:avLst/>
            </a:prstGeom>
            <a:solidFill>
              <a:srgbClr val="00A8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" name="타원 23"/>
            <p:cNvSpPr/>
            <p:nvPr/>
          </p:nvSpPr>
          <p:spPr>
            <a:xfrm>
              <a:off x="481012" y="2435392"/>
              <a:ext cx="43730" cy="86904"/>
            </a:xfrm>
            <a:custGeom>
              <a:avLst/>
              <a:gdLst/>
              <a:ahLst/>
              <a:cxnLst/>
              <a:rect l="l" t="t" r="r" b="b"/>
              <a:pathLst>
                <a:path w="43730" h="86904">
                  <a:moveTo>
                    <a:pt x="21865" y="0"/>
                  </a:moveTo>
                  <a:cubicBezTo>
                    <a:pt x="35400" y="9636"/>
                    <a:pt x="43730" y="25571"/>
                    <a:pt x="43730" y="43452"/>
                  </a:cubicBezTo>
                  <a:cubicBezTo>
                    <a:pt x="43730" y="61333"/>
                    <a:pt x="35400" y="77268"/>
                    <a:pt x="21865" y="86904"/>
                  </a:cubicBezTo>
                  <a:cubicBezTo>
                    <a:pt x="8330" y="77268"/>
                    <a:pt x="0" y="61333"/>
                    <a:pt x="0" y="43452"/>
                  </a:cubicBezTo>
                  <a:cubicBezTo>
                    <a:pt x="0" y="25571"/>
                    <a:pt x="8330" y="9636"/>
                    <a:pt x="21865" y="0"/>
                  </a:cubicBezTo>
                  <a:close/>
                </a:path>
              </a:pathLst>
            </a:custGeom>
            <a:solidFill>
              <a:srgbClr val="0228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2" name="내용 개체 틀 2"/>
          <p:cNvSpPr>
            <a:spLocks noGrp="1"/>
          </p:cNvSpPr>
          <p:nvPr>
            <p:ph idx="12" hasCustomPrompt="1"/>
          </p:nvPr>
        </p:nvSpPr>
        <p:spPr>
          <a:xfrm>
            <a:off x="395288" y="1275606"/>
            <a:ext cx="7993138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71450" indent="-171450" algn="l" defTabSz="914273" rtl="0" eaLnBrk="1" latinLnBrk="1" hangingPunct="1">
              <a:lnSpc>
                <a:spcPct val="105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lang="en-US" altLang="ko-KR" sz="1200" kern="1200" spc="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 marL="0" algn="l" defTabSz="914273" rtl="0" eaLnBrk="1" latinLnBrk="1" hangingPunct="1">
              <a:lnSpc>
                <a:spcPct val="110000"/>
              </a:lnSpc>
              <a:spcBef>
                <a:spcPts val="0"/>
              </a:spcBef>
              <a:defRPr lang="ko-KR" altLang="en-US" sz="1800" kern="1200" spc="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 marL="0" algn="l" defTabSz="914273" rtl="0" eaLnBrk="1" latinLnBrk="1" hangingPunct="1">
              <a:lnSpc>
                <a:spcPct val="110000"/>
              </a:lnSpc>
              <a:spcBef>
                <a:spcPts val="0"/>
              </a:spcBef>
              <a:defRPr lang="ko-KR" altLang="en-US" sz="1800" kern="1200" spc="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 marL="0" algn="l" defTabSz="914273" rtl="0" eaLnBrk="1" latinLnBrk="1" hangingPunct="1">
              <a:lnSpc>
                <a:spcPct val="110000"/>
              </a:lnSpc>
              <a:spcBef>
                <a:spcPts val="0"/>
              </a:spcBef>
              <a:defRPr lang="ko-KR" altLang="en-US" sz="1800" kern="1200" spc="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 marL="0" algn="l" defTabSz="914273" rtl="0" eaLnBrk="1" latinLnBrk="1" hangingPunct="1">
              <a:lnSpc>
                <a:spcPct val="110000"/>
              </a:lnSpc>
              <a:spcBef>
                <a:spcPts val="0"/>
              </a:spcBef>
              <a:defRPr lang="ko-KR" altLang="en-US" sz="1800" kern="1200" spc="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ko-KR" altLang="en-US" dirty="0"/>
              <a:t>해당 페이지의 핵심적으로 전달하고자 하는 메시지로 구성하며 최대 </a:t>
            </a:r>
            <a:r>
              <a:rPr lang="en-US" altLang="ko-KR" dirty="0"/>
              <a:t>2</a:t>
            </a:r>
            <a:r>
              <a:rPr lang="ko-KR" altLang="en-US" dirty="0"/>
              <a:t>줄 내 요약정리</a:t>
            </a:r>
            <a:br>
              <a:rPr lang="ko-KR" altLang="en-US" dirty="0"/>
            </a:br>
            <a:r>
              <a:rPr lang="en-US" altLang="ko-KR" dirty="0"/>
              <a:t>(</a:t>
            </a:r>
            <a:r>
              <a:rPr lang="ko-KR" altLang="en-US" dirty="0"/>
              <a:t>폰트 </a:t>
            </a:r>
            <a:r>
              <a:rPr lang="en-US" altLang="ko-KR" dirty="0"/>
              <a:t>: </a:t>
            </a:r>
            <a:r>
              <a:rPr lang="ko-KR" altLang="en-US" dirty="0"/>
              <a:t>국문 맑은 고딕</a:t>
            </a:r>
            <a:r>
              <a:rPr lang="en-US" altLang="ko-KR" dirty="0"/>
              <a:t>, </a:t>
            </a:r>
            <a:r>
              <a:rPr lang="ko-KR" altLang="en-US" dirty="0"/>
              <a:t>색상 블랙</a:t>
            </a:r>
            <a:r>
              <a:rPr lang="en-US" altLang="ko-KR" dirty="0"/>
              <a:t>, </a:t>
            </a:r>
            <a:r>
              <a:rPr lang="ko-KR" altLang="en-US" dirty="0"/>
              <a:t>크기 </a:t>
            </a:r>
            <a:r>
              <a:rPr lang="en-US" altLang="ko-KR" dirty="0"/>
              <a:t>15pt)</a:t>
            </a:r>
          </a:p>
        </p:txBody>
      </p:sp>
    </p:spTree>
    <p:extLst>
      <p:ext uri="{BB962C8B-B14F-4D97-AF65-F5344CB8AC3E}">
        <p14:creationId xmlns:p14="http://schemas.microsoft.com/office/powerpoint/2010/main" val="1570216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넘버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/>
          <p:cNvSpPr txBox="1">
            <a:spLocks/>
          </p:cNvSpPr>
          <p:nvPr userDrawn="1"/>
        </p:nvSpPr>
        <p:spPr>
          <a:xfrm>
            <a:off x="3691770" y="4861138"/>
            <a:ext cx="1760464" cy="244841"/>
          </a:xfrm>
          <a:prstGeom prst="rect">
            <a:avLst/>
          </a:prstGeom>
        </p:spPr>
        <p:txBody>
          <a:bodyPr lIns="121898" tIns="60948" rIns="121898" bIns="60948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 defTabSz="914286">
              <a:defRPr/>
            </a:pPr>
            <a:fld id="{4E2E905B-828D-4F20-A1BB-9606BA51BD13}" type="slidenum">
              <a:rPr lang="ko-KR" altLang="en-US" sz="788" b="1" smtClean="0">
                <a:ln>
                  <a:solidFill>
                    <a:sysClr val="window" lastClr="FFFFFF">
                      <a:alpha val="0"/>
                    </a:sysClr>
                  </a:solidFill>
                </a:ln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latin typeface="Arial" panose="020B0604020202020204" pitchFamily="34" charset="0"/>
                <a:ea typeface="삼성긴고딕 Bold" panose="020B0600000101010101" pitchFamily="50" charset="-127"/>
                <a:cs typeface="Arial" panose="020B0604020202020204" pitchFamily="34" charset="0"/>
              </a:rPr>
              <a:pPr algn="ctr" defTabSz="914286">
                <a:defRPr/>
              </a:pPr>
              <a:t>‹#›</a:t>
            </a:fld>
            <a:r>
              <a:rPr lang="ko-KR" altLang="en-US" sz="525" b="1" dirty="0">
                <a:ln>
                  <a:solidFill>
                    <a:sysClr val="window" lastClr="FFFFFF">
                      <a:alpha val="0"/>
                    </a:sysClr>
                  </a:solidFill>
                </a:ln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525" dirty="0">
                <a:ln>
                  <a:solidFill>
                    <a:sysClr val="window" lastClr="FFFFFF">
                      <a:alpha val="0"/>
                    </a:sysClr>
                  </a:solidFill>
                </a:ln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 panose="020B0604020202020204" pitchFamily="34" charset="0"/>
              </a:rPr>
              <a:t>/ 75</a:t>
            </a:r>
            <a:endParaRPr lang="ko-KR" altLang="en-US" sz="525" dirty="0">
              <a:ln>
                <a:solidFill>
                  <a:sysClr val="window" lastClr="FFFFFF">
                    <a:alpha val="0"/>
                  </a:sysClr>
                </a:solidFill>
              </a:ln>
              <a:solidFill>
                <a:schemeClr val="tx1">
                  <a:lumMod val="75000"/>
                  <a:lumOff val="25000"/>
                  <a:alpha val="50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" name="Text Box 9"/>
          <p:cNvSpPr txBox="1">
            <a:spLocks noChangeArrowheads="1"/>
          </p:cNvSpPr>
          <p:nvPr userDrawn="1"/>
        </p:nvSpPr>
        <p:spPr bwMode="auto">
          <a:xfrm>
            <a:off x="6824663" y="4891226"/>
            <a:ext cx="1989140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68570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dirty="0">
                <a:ln>
                  <a:solidFill>
                    <a:sysClr val="window" lastClr="FFFFFF">
                      <a:alpha val="0"/>
                    </a:sysClr>
                  </a:solidFill>
                </a:ln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 panose="020B0604020202020204" pitchFamily="34" charset="0"/>
              </a:rPr>
              <a:t>Copyright 2024. Samsung SDS Co., Ltd.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09502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4143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2" r:id="rId5"/>
    <p:sldLayoutId id="2147483664" r:id="rId6"/>
    <p:sldLayoutId id="2147483665" r:id="rId7"/>
    <p:sldLayoutId id="2147483666" r:id="rId8"/>
    <p:sldLayoutId id="2147483667" r:id="rId9"/>
  </p:sldLayoutIdLst>
  <p:hf hdr="0" ftr="0" dt="0"/>
  <p:txStyles>
    <p:titleStyle>
      <a:lvl1pPr algn="l" defTabSz="685783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.google.com/compute/docs/gpus/install-drivers-gpu?hl=ko" TargetMode="External"/><Relationship Id="rId2" Type="http://schemas.openxmlformats.org/officeDocument/2006/relationships/hyperlink" Target="https://repo.anaconda.com/miniconda/Miniconda3-py38_23.11.0-2-Linux-x86_64.sh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l6.eu/blogpost/leveraging-llms-on-your-domain-specific-knowledge-base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arxiv.org/abs/2106.09685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Box 113"/>
          <p:cNvSpPr txBox="1"/>
          <p:nvPr/>
        </p:nvSpPr>
        <p:spPr>
          <a:xfrm>
            <a:off x="2310278" y="501104"/>
            <a:ext cx="1572866" cy="32470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l" defTabSz="684552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Linux &amp; Cloud 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45209" y="402770"/>
            <a:ext cx="579005" cy="5078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6845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700" b="0" i="0" u="none" strike="noStrike" kern="1200" cap="none" spc="-3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23E2FE"/>
                </a:solidFill>
                <a:effectLst/>
                <a:uLnTx/>
                <a:uFillTx/>
                <a:latin typeface="Times New Roman" panose="02020603050405020304" pitchFamily="18" charset="0"/>
                <a:ea typeface="나눔스퀘어 Bold" panose="020B0600000101010101" pitchFamily="50" charset="-127"/>
                <a:cs typeface="Times New Roman" panose="02020603050405020304" pitchFamily="18" charset="0"/>
              </a:rPr>
              <a:t>2 w</a:t>
            </a:r>
            <a:endParaRPr kumimoji="0" lang="en-US" altLang="ko-KR" sz="2700" b="0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23E2FE"/>
              </a:solidFill>
              <a:effectLst/>
              <a:uLnTx/>
              <a:uFillTx/>
              <a:latin typeface="Times New Roman" panose="02020603050405020304" pitchFamily="18" charset="0"/>
              <a:ea typeface="나눔스퀘어 Bold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EE8E18-66E1-B6E2-125F-A4384594FF54}"/>
              </a:ext>
            </a:extLst>
          </p:cNvPr>
          <p:cNvSpPr txBox="1"/>
          <p:nvPr/>
        </p:nvSpPr>
        <p:spPr>
          <a:xfrm>
            <a:off x="1038789" y="1038255"/>
            <a:ext cx="579005" cy="5078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6845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700" b="0" i="0" u="none" strike="noStrike" kern="1200" cap="none" spc="-3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23E2FE"/>
                </a:solidFill>
                <a:effectLst/>
                <a:uLnTx/>
                <a:uFillTx/>
                <a:latin typeface="Times New Roman" panose="02020603050405020304" pitchFamily="18" charset="0"/>
                <a:ea typeface="나눔스퀘어 Bold" panose="020B0600000101010101" pitchFamily="50" charset="-127"/>
                <a:cs typeface="Times New Roman" panose="02020603050405020304" pitchFamily="18" charset="0"/>
              </a:rPr>
              <a:t>3 w</a:t>
            </a:r>
            <a:endParaRPr kumimoji="0" lang="en-US" altLang="ko-KR" sz="2700" b="0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23E2FE"/>
              </a:solidFill>
              <a:effectLst/>
              <a:uLnTx/>
              <a:uFillTx/>
              <a:latin typeface="Times New Roman" panose="02020603050405020304" pitchFamily="18" charset="0"/>
              <a:ea typeface="나눔스퀘어 Bold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E786D3-D35A-87E8-689C-F2CA1E6C6E79}"/>
              </a:ext>
            </a:extLst>
          </p:cNvPr>
          <p:cNvSpPr txBox="1"/>
          <p:nvPr/>
        </p:nvSpPr>
        <p:spPr>
          <a:xfrm>
            <a:off x="1069253" y="1734253"/>
            <a:ext cx="530915" cy="5078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6845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700" b="0" i="0" u="none" strike="noStrike" kern="1200" cap="none" spc="-3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23E2FE"/>
                </a:solidFill>
                <a:effectLst/>
                <a:uLnTx/>
                <a:uFillTx/>
                <a:latin typeface="Times New Roman" panose="02020603050405020304" pitchFamily="18" charset="0"/>
                <a:ea typeface="나눔스퀘어 Bold" panose="020B0600000101010101" pitchFamily="50" charset="-127"/>
                <a:cs typeface="Times New Roman" panose="02020603050405020304" pitchFamily="18" charset="0"/>
              </a:rPr>
              <a:t>4w</a:t>
            </a:r>
            <a:endParaRPr kumimoji="0" lang="en-US" altLang="ko-KR" sz="2700" b="0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23E2FE"/>
              </a:solidFill>
              <a:effectLst/>
              <a:uLnTx/>
              <a:uFillTx/>
              <a:latin typeface="Times New Roman" panose="02020603050405020304" pitchFamily="18" charset="0"/>
              <a:ea typeface="나눔스퀘어 Bold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E27FB2-3753-8416-4BBC-F5104C30D4CA}"/>
              </a:ext>
            </a:extLst>
          </p:cNvPr>
          <p:cNvSpPr txBox="1"/>
          <p:nvPr/>
        </p:nvSpPr>
        <p:spPr>
          <a:xfrm>
            <a:off x="1045209" y="2944709"/>
            <a:ext cx="579005" cy="5078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6845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700" b="0" i="0" u="none" strike="noStrike" kern="1200" cap="none" spc="-3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23E2FE"/>
                </a:solidFill>
                <a:effectLst/>
                <a:uLnTx/>
                <a:uFillTx/>
                <a:latin typeface="Times New Roman" panose="02020603050405020304" pitchFamily="18" charset="0"/>
                <a:ea typeface="나눔스퀘어 Bold" panose="020B0600000101010101" pitchFamily="50" charset="-127"/>
                <a:cs typeface="Times New Roman" panose="02020603050405020304" pitchFamily="18" charset="0"/>
              </a:rPr>
              <a:t>6 w</a:t>
            </a:r>
            <a:endParaRPr kumimoji="0" lang="en-US" altLang="ko-KR" sz="2700" b="0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23E2FE"/>
              </a:solidFill>
              <a:effectLst/>
              <a:uLnTx/>
              <a:uFillTx/>
              <a:latin typeface="Times New Roman" panose="02020603050405020304" pitchFamily="18" charset="0"/>
              <a:ea typeface="나눔스퀘어 Bold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64D53E-D68B-DDB0-9803-3920CD2354AA}"/>
              </a:ext>
            </a:extLst>
          </p:cNvPr>
          <p:cNvSpPr txBox="1"/>
          <p:nvPr/>
        </p:nvSpPr>
        <p:spPr>
          <a:xfrm>
            <a:off x="1045209" y="2369737"/>
            <a:ext cx="579005" cy="5078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6845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700" b="0" i="0" u="none" strike="noStrike" kern="1200" cap="none" spc="-3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23E2FE"/>
                </a:solidFill>
                <a:effectLst/>
                <a:uLnTx/>
                <a:uFillTx/>
                <a:latin typeface="Times New Roman" panose="02020603050405020304" pitchFamily="18" charset="0"/>
                <a:ea typeface="나눔스퀘어 Bold" panose="020B0600000101010101" pitchFamily="50" charset="-127"/>
                <a:cs typeface="Times New Roman" panose="02020603050405020304" pitchFamily="18" charset="0"/>
              </a:rPr>
              <a:t>5 w</a:t>
            </a:r>
            <a:endParaRPr kumimoji="0" lang="en-US" altLang="ko-KR" sz="2700" b="0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23E2FE"/>
              </a:solidFill>
              <a:effectLst/>
              <a:uLnTx/>
              <a:uFillTx/>
              <a:latin typeface="Times New Roman" panose="02020603050405020304" pitchFamily="18" charset="0"/>
              <a:ea typeface="나눔스퀘어 Bold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16F813-1395-17FC-2FB5-AC854D0C5491}"/>
              </a:ext>
            </a:extLst>
          </p:cNvPr>
          <p:cNvSpPr txBox="1"/>
          <p:nvPr/>
        </p:nvSpPr>
        <p:spPr>
          <a:xfrm>
            <a:off x="2310279" y="3662470"/>
            <a:ext cx="2038763" cy="32470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l" defTabSz="684552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LLM 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활용 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: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Fine Tuning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C60DAB-C1BF-E398-BD2B-57CB9F28BDE1}"/>
              </a:ext>
            </a:extLst>
          </p:cNvPr>
          <p:cNvSpPr txBox="1"/>
          <p:nvPr/>
        </p:nvSpPr>
        <p:spPr>
          <a:xfrm>
            <a:off x="1045209" y="4134992"/>
            <a:ext cx="579005" cy="5078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6845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700" b="0" i="0" u="none" strike="noStrike" kern="1200" cap="none" spc="-3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23E2FE"/>
                </a:solidFill>
                <a:effectLst/>
                <a:uLnTx/>
                <a:uFillTx/>
                <a:latin typeface="Times New Roman" panose="02020603050405020304" pitchFamily="18" charset="0"/>
                <a:ea typeface="나눔스퀘어 Bold" panose="020B0600000101010101" pitchFamily="50" charset="-127"/>
                <a:cs typeface="Times New Roman" panose="02020603050405020304" pitchFamily="18" charset="0"/>
              </a:rPr>
              <a:t>8 w</a:t>
            </a:r>
            <a:endParaRPr kumimoji="0" lang="en-US" altLang="ko-KR" sz="2700" b="0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23E2FE"/>
              </a:solidFill>
              <a:effectLst/>
              <a:uLnTx/>
              <a:uFillTx/>
              <a:latin typeface="Times New Roman" panose="02020603050405020304" pitchFamily="18" charset="0"/>
              <a:ea typeface="나눔스퀘어 Bold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C5CE3F-C958-CC78-AC28-7A199CF09F50}"/>
              </a:ext>
            </a:extLst>
          </p:cNvPr>
          <p:cNvSpPr txBox="1"/>
          <p:nvPr/>
        </p:nvSpPr>
        <p:spPr>
          <a:xfrm>
            <a:off x="2310279" y="1082468"/>
            <a:ext cx="3731342" cy="553228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l" defTabSz="684552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5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Image Classification by SVM </a:t>
            </a:r>
            <a:br>
              <a:rPr kumimoji="0" lang="en-US" altLang="ko-KR" sz="135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5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Deep Learning 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실습 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: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Define by run, CNN</a:t>
            </a:r>
            <a:endParaRPr kumimoji="0" lang="en-US" altLang="ko-KR" sz="1350" b="1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735BFD-964B-ED01-49B1-FF8F65ADEBA7}"/>
              </a:ext>
            </a:extLst>
          </p:cNvPr>
          <p:cNvSpPr txBox="1"/>
          <p:nvPr/>
        </p:nvSpPr>
        <p:spPr>
          <a:xfrm>
            <a:off x="2310279" y="1835103"/>
            <a:ext cx="5931945" cy="32470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l" defTabSz="684552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Deep Learning 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실습 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II :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Transformer (BERT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Llama), Prompt engineering</a:t>
            </a:r>
            <a:endParaRPr kumimoji="0" lang="en-US" altLang="ko-KR" sz="1500" b="1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F174E0-E3BC-C9C4-139D-FBC8689A6C4C}"/>
              </a:ext>
            </a:extLst>
          </p:cNvPr>
          <p:cNvSpPr txBox="1"/>
          <p:nvPr/>
        </p:nvSpPr>
        <p:spPr>
          <a:xfrm>
            <a:off x="2310279" y="2499742"/>
            <a:ext cx="3154838" cy="32470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l" defTabSz="684552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LLM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활용 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function call(plug-in), RAG</a:t>
            </a:r>
            <a:endParaRPr kumimoji="0" lang="en-US" altLang="ko-KR" sz="1500" b="1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88D4E4-CD65-DB4C-8913-86314BE07664}"/>
              </a:ext>
            </a:extLst>
          </p:cNvPr>
          <p:cNvSpPr txBox="1"/>
          <p:nvPr/>
        </p:nvSpPr>
        <p:spPr>
          <a:xfrm>
            <a:off x="1045209" y="3539851"/>
            <a:ext cx="579005" cy="5078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6845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700" b="0" i="0" u="none" strike="noStrike" kern="1200" cap="none" spc="-3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23E2FE"/>
                </a:solidFill>
                <a:effectLst/>
                <a:uLnTx/>
                <a:uFillTx/>
                <a:latin typeface="Times New Roman" panose="02020603050405020304" pitchFamily="18" charset="0"/>
                <a:ea typeface="나눔스퀘어 Bold" panose="020B0600000101010101" pitchFamily="50" charset="-127"/>
                <a:cs typeface="Times New Roman" panose="02020603050405020304" pitchFamily="18" charset="0"/>
              </a:rPr>
              <a:t>7 w</a:t>
            </a:r>
            <a:endParaRPr kumimoji="0" lang="en-US" altLang="ko-KR" sz="2700" b="0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23E2FE"/>
              </a:solidFill>
              <a:effectLst/>
              <a:uLnTx/>
              <a:uFillTx/>
              <a:latin typeface="Times New Roman" panose="02020603050405020304" pitchFamily="18" charset="0"/>
              <a:ea typeface="나눔스퀘어 Bold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9F5130-38AF-8582-E425-BBB7E1A85066}"/>
              </a:ext>
            </a:extLst>
          </p:cNvPr>
          <p:cNvSpPr txBox="1"/>
          <p:nvPr/>
        </p:nvSpPr>
        <p:spPr>
          <a:xfrm>
            <a:off x="2310279" y="3081106"/>
            <a:ext cx="1521379" cy="32470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l" defTabSz="684552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LLM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활용 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RAG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FB174A-7254-8D50-500A-3357C3E40785}"/>
              </a:ext>
            </a:extLst>
          </p:cNvPr>
          <p:cNvSpPr txBox="1"/>
          <p:nvPr/>
        </p:nvSpPr>
        <p:spPr>
          <a:xfrm>
            <a:off x="2306262" y="4209499"/>
            <a:ext cx="3997889" cy="32470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l" defTabSz="684552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LLM 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활용 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: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Agent, Agentic workflow, Multi-Agent</a:t>
            </a:r>
          </a:p>
        </p:txBody>
      </p:sp>
    </p:spTree>
    <p:extLst>
      <p:ext uri="{BB962C8B-B14F-4D97-AF65-F5344CB8AC3E}">
        <p14:creationId xmlns:p14="http://schemas.microsoft.com/office/powerpoint/2010/main" val="2760899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Setup a Python Environment for something</a:t>
            </a:r>
            <a:endParaRPr lang="ko-KR" altLang="en-US" dirty="0"/>
          </a:p>
        </p:txBody>
      </p:sp>
      <p:sp>
        <p:nvSpPr>
          <p:cNvPr id="14" name="텍스트 개체 틀 1"/>
          <p:cNvSpPr txBox="1">
            <a:spLocks/>
          </p:cNvSpPr>
          <p:nvPr/>
        </p:nvSpPr>
        <p:spPr>
          <a:xfrm>
            <a:off x="458134" y="1703401"/>
            <a:ext cx="8255655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6209" indent="-176209" defTabSz="685800">
              <a:lnSpc>
                <a:spcPct val="100000"/>
              </a:lnSpc>
              <a:spcBef>
                <a:spcPts val="500"/>
              </a:spcBef>
              <a:defRPr/>
            </a:pPr>
            <a:endParaRPr lang="en-US" altLang="ko-KR" sz="1400" spc="-3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6" name="텍스트 개체 틀 1"/>
          <p:cNvSpPr txBox="1">
            <a:spLocks/>
          </p:cNvSpPr>
          <p:nvPr/>
        </p:nvSpPr>
        <p:spPr>
          <a:xfrm>
            <a:off x="503549" y="1049289"/>
            <a:ext cx="8255655" cy="34322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6209" indent="-176209" defTabSz="685800">
              <a:lnSpc>
                <a:spcPct val="100000"/>
              </a:lnSpc>
              <a:spcBef>
                <a:spcPts val="500"/>
              </a:spcBef>
              <a:defRPr/>
            </a:pPr>
            <a:r>
              <a:rPr lang="en-US" altLang="ko-KR" sz="1400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miniConda</a:t>
            </a:r>
            <a:r>
              <a:rPr lang="en-US" altLang="ko-KR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설치</a:t>
            </a:r>
            <a:endParaRPr lang="en-US" altLang="ko-KR" sz="1400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marL="442902" lvl="1" indent="-176209">
              <a:lnSpc>
                <a:spcPct val="100000"/>
              </a:lnSpc>
              <a:spcBef>
                <a:spcPts val="500"/>
              </a:spcBef>
              <a:buSzPct val="130000"/>
              <a:defRPr/>
            </a:pPr>
            <a:r>
              <a:rPr lang="da-DK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wget –c </a:t>
            </a:r>
            <a:r>
              <a:rPr lang="da-DK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  <a:hlinkClick r:id="rId2"/>
              </a:rPr>
              <a:t>https://repo.anaconda.com/miniconda/</a:t>
            </a:r>
            <a:r>
              <a:rPr lang="en-US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  <a:hlinkClick r:id="rId2"/>
              </a:rPr>
              <a:t>Miniconda3-py38_23.11.0-2-Linux-x86_64.sh</a:t>
            </a:r>
            <a:endParaRPr lang="en-US" altLang="ko-KR" sz="1000" spc="-3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pPr marL="442902" lvl="1" indent="-176209">
              <a:lnSpc>
                <a:spcPct val="100000"/>
              </a:lnSpc>
              <a:spcBef>
                <a:spcPts val="500"/>
              </a:spcBef>
              <a:buSzPct val="130000"/>
              <a:defRPr/>
            </a:pPr>
            <a:r>
              <a:rPr lang="en-US" altLang="ko-KR" sz="1000" spc="-3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chmod</a:t>
            </a:r>
            <a:r>
              <a:rPr lang="en-US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754 Miniconda3-py38_23.11.0-2-Linux-x86_64.sh  </a:t>
            </a:r>
          </a:p>
          <a:p>
            <a:pPr marL="442902" lvl="1" indent="-176209">
              <a:lnSpc>
                <a:spcPct val="100000"/>
              </a:lnSpc>
              <a:spcBef>
                <a:spcPts val="500"/>
              </a:spcBef>
              <a:buSzPct val="130000"/>
              <a:defRPr/>
            </a:pPr>
            <a:r>
              <a:rPr lang="en-US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./Miniconda3-py38_23.11.0-2-Linux-x86_64.sh</a:t>
            </a:r>
          </a:p>
          <a:p>
            <a:pPr marL="442902" lvl="1" indent="-176209">
              <a:lnSpc>
                <a:spcPct val="100000"/>
              </a:lnSpc>
              <a:spcBef>
                <a:spcPts val="500"/>
              </a:spcBef>
              <a:buSzPct val="130000"/>
              <a:defRPr/>
            </a:pPr>
            <a:r>
              <a:rPr lang="en-US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source ~/.</a:t>
            </a:r>
            <a:r>
              <a:rPr lang="en-US" altLang="ko-KR" sz="1000" spc="-3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bashrc</a:t>
            </a:r>
            <a:endParaRPr lang="en-US" altLang="ko-KR" sz="1000" spc="-3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pPr marL="176209" indent="-176209" defTabSz="685800">
              <a:lnSpc>
                <a:spcPct val="100000"/>
              </a:lnSpc>
              <a:spcBef>
                <a:spcPts val="500"/>
              </a:spcBef>
              <a:defRPr/>
            </a:pPr>
            <a:r>
              <a:rPr lang="en-US" altLang="ko-KR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Create a new environment:</a:t>
            </a:r>
          </a:p>
          <a:p>
            <a:pPr marL="442902" lvl="1" indent="-176209" defTabSz="685800">
              <a:lnSpc>
                <a:spcPct val="100000"/>
              </a:lnSpc>
              <a:spcBef>
                <a:spcPts val="500"/>
              </a:spcBef>
              <a:defRPr/>
            </a:pPr>
            <a:r>
              <a:rPr lang="en-US" altLang="ko-KR" sz="1000" spc="-3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conda</a:t>
            </a:r>
            <a:r>
              <a:rPr lang="en-US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create -n </a:t>
            </a:r>
            <a:r>
              <a:rPr lang="en-US" altLang="ko-KR" sz="1000" spc="-3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llm_env</a:t>
            </a:r>
            <a:r>
              <a:rPr lang="en-US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python=3.8</a:t>
            </a:r>
            <a:endParaRPr lang="en-US" altLang="ko-KR" sz="1000" b="1" spc="-3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pPr marL="133350" indent="-133350" defTabSz="685800">
              <a:defRPr/>
            </a:pPr>
            <a:r>
              <a:rPr lang="en-US" altLang="ko-KR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To use, or "activate" the new environment, type the following:</a:t>
            </a:r>
          </a:p>
          <a:p>
            <a:pPr marL="404813" lvl="1" indent="-136922" defTabSz="685800">
              <a:defRPr/>
            </a:pPr>
            <a:r>
              <a:rPr lang="en-US" altLang="ko-KR" sz="1000" spc="-3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conda</a:t>
            </a:r>
            <a:r>
              <a:rPr lang="en-US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 activate </a:t>
            </a:r>
            <a:r>
              <a:rPr lang="en-US" altLang="ko-KR" sz="1000" spc="-3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llm_env</a:t>
            </a:r>
            <a:r>
              <a:rPr lang="en-US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</a:t>
            </a:r>
          </a:p>
          <a:p>
            <a:pPr marL="176209" indent="-176209" defTabSz="685800">
              <a:lnSpc>
                <a:spcPct val="100000"/>
              </a:lnSpc>
              <a:spcBef>
                <a:spcPts val="500"/>
              </a:spcBef>
              <a:defRPr/>
            </a:pPr>
            <a:r>
              <a:rPr lang="en-US" altLang="ko-KR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To install library at your environments:</a:t>
            </a:r>
          </a:p>
          <a:p>
            <a:pPr marL="442902" lvl="1" indent="-176209">
              <a:lnSpc>
                <a:spcPct val="100000"/>
              </a:lnSpc>
              <a:spcBef>
                <a:spcPts val="500"/>
              </a:spcBef>
              <a:defRPr/>
            </a:pPr>
            <a:r>
              <a:rPr lang="en-US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GPU </a:t>
            </a:r>
            <a:r>
              <a:rPr lang="ko-KR" altLang="en-US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드라이버 설치 </a:t>
            </a:r>
            <a:r>
              <a:rPr lang="en-US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(</a:t>
            </a:r>
            <a:r>
              <a:rPr lang="ko-KR" altLang="en-US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앞 실습에서 이미 설치</a:t>
            </a:r>
            <a:r>
              <a:rPr lang="en-US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)</a:t>
            </a:r>
            <a:r>
              <a:rPr lang="ko-KR" altLang="en-US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en-US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  <a:hlinkClick r:id="rId3"/>
              </a:rPr>
              <a:t>https://cloud.google.com/compute/docs/gpus/install-drivers-gpu?hl=ko</a:t>
            </a:r>
            <a:r>
              <a:rPr lang="en-US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ko-KR" altLang="en-US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페이지 참조</a:t>
            </a:r>
            <a:endParaRPr lang="en-US" altLang="ko-KR" sz="1000" spc="-3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pPr marL="442902" lvl="1" indent="-176209">
              <a:lnSpc>
                <a:spcPct val="100000"/>
              </a:lnSpc>
              <a:spcBef>
                <a:spcPts val="500"/>
              </a:spcBef>
              <a:defRPr/>
            </a:pPr>
            <a:r>
              <a:rPr lang="ko-KR" altLang="en-US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가상환경 진입 후 </a:t>
            </a:r>
            <a:r>
              <a:rPr lang="en-US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pip install </a:t>
            </a:r>
            <a:r>
              <a:rPr lang="ko-KR" altLang="en-US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동일하게 사용</a:t>
            </a:r>
            <a:br>
              <a:rPr lang="en-US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</a:br>
            <a:r>
              <a:rPr lang="en-US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pip install pandas scikit-learn </a:t>
            </a:r>
            <a:r>
              <a:rPr lang="en-US" altLang="ko-KR" sz="1000" spc="-3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openai</a:t>
            </a:r>
            <a:r>
              <a:rPr lang="en-US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en-US" altLang="ko-KR" sz="1000" spc="-3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peft</a:t>
            </a:r>
            <a:r>
              <a:rPr lang="en-US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en-US" altLang="ko-KR" sz="1000" spc="-3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tavily</a:t>
            </a:r>
            <a:r>
              <a:rPr lang="en-US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-python accelerate transformers </a:t>
            </a:r>
            <a:r>
              <a:rPr lang="en-US" altLang="ko-KR" sz="1000" spc="-3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jupyterlab</a:t>
            </a:r>
            <a:endParaRPr lang="en-US" altLang="ko-KR" sz="1000" spc="-3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pPr marL="176209" indent="-176209" defTabSz="685800">
              <a:lnSpc>
                <a:spcPct val="100000"/>
              </a:lnSpc>
              <a:spcBef>
                <a:spcPts val="500"/>
              </a:spcBef>
              <a:defRPr/>
            </a:pPr>
            <a:r>
              <a:rPr lang="en-US" altLang="ko-KR" sz="1400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Jupyter</a:t>
            </a:r>
            <a:r>
              <a:rPr lang="en-US" altLang="ko-KR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lab </a:t>
            </a:r>
            <a:r>
              <a:rPr lang="ko-KR" altLang="en-US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실행</a:t>
            </a:r>
            <a:endParaRPr lang="en-US" altLang="ko-KR" sz="1400" spc="-30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pPr marL="442902" lvl="1" indent="-176209" defTabSz="685800">
              <a:lnSpc>
                <a:spcPct val="100000"/>
              </a:lnSpc>
              <a:spcBef>
                <a:spcPts val="500"/>
              </a:spcBef>
              <a:defRPr/>
            </a:pPr>
            <a:r>
              <a:rPr lang="en-US" altLang="ko-KR" sz="1000" spc="-3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jupyter</a:t>
            </a:r>
            <a:r>
              <a:rPr lang="en-US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lab --</a:t>
            </a:r>
            <a:r>
              <a:rPr lang="en-US" altLang="ko-KR" sz="1000" spc="-3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ip</a:t>
            </a:r>
            <a:r>
              <a:rPr lang="en-US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=0.0.0.0 --port=8888 --no-browser   (GCP </a:t>
            </a:r>
            <a:r>
              <a:rPr lang="ko-KR" altLang="en-US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에서 </a:t>
            </a:r>
            <a:r>
              <a:rPr lang="en-US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“VPC</a:t>
            </a:r>
            <a:r>
              <a:rPr lang="ko-KR" altLang="en-US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네트워크 </a:t>
            </a:r>
            <a:r>
              <a:rPr lang="en-US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&gt; </a:t>
            </a:r>
            <a:r>
              <a:rPr lang="ko-KR" altLang="en-US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방화벽</a:t>
            </a:r>
            <a:r>
              <a:rPr lang="en-US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”</a:t>
            </a:r>
            <a:r>
              <a:rPr lang="ko-KR" altLang="en-US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에서 방화벽 규칙에 </a:t>
            </a:r>
            <a:r>
              <a:rPr lang="en-US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8888 </a:t>
            </a:r>
            <a:r>
              <a:rPr lang="ko-KR" altLang="en-US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포트 추가</a:t>
            </a:r>
            <a:r>
              <a:rPr lang="en-US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)</a:t>
            </a:r>
          </a:p>
        </p:txBody>
      </p:sp>
      <p:grpSp>
        <p:nvGrpSpPr>
          <p:cNvPr id="18" name="그룹 17"/>
          <p:cNvGrpSpPr/>
          <p:nvPr/>
        </p:nvGrpSpPr>
        <p:grpSpPr>
          <a:xfrm>
            <a:off x="402827" y="703557"/>
            <a:ext cx="6863600" cy="246221"/>
            <a:chOff x="402827" y="1287503"/>
            <a:chExt cx="6863600" cy="246221"/>
          </a:xfrm>
        </p:grpSpPr>
        <p:sp>
          <p:nvSpPr>
            <p:cNvPr id="19" name="TextBox 18"/>
            <p:cNvSpPr txBox="1"/>
            <p:nvPr/>
          </p:nvSpPr>
          <p:spPr>
            <a:xfrm>
              <a:off x="644966" y="1287503"/>
              <a:ext cx="6621461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>
              <a:defPPr>
                <a:defRPr lang="ko-KR"/>
              </a:defPPr>
              <a:lvl2pPr marL="126000" lvl="1" indent="-126000" latinLnBrk="0">
                <a:spcBef>
                  <a:spcPts val="600"/>
                </a:spcBef>
                <a:spcAft>
                  <a:spcPts val="0"/>
                </a:spcAft>
                <a:buFont typeface="Arial" pitchFamily="34" charset="0"/>
                <a:buChar char="•"/>
                <a:defRPr sz="1400" spc="-80">
                  <a:solidFill>
                    <a:srgbClr val="5F5F5F"/>
                  </a:solidFill>
                  <a:latin typeface="맑은 고딕"/>
                </a:defRPr>
              </a:lvl2pPr>
            </a:lstStyle>
            <a:p>
              <a:pPr defTabSz="685800">
                <a:defRPr/>
              </a:pPr>
              <a:r>
                <a:rPr lang="ko-KR" altLang="en-US" sz="160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실습 환경 </a:t>
              </a:r>
              <a:r>
                <a:rPr lang="en-US" altLang="ko-KR" sz="160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1) </a:t>
              </a:r>
              <a:r>
                <a:rPr lang="en-US" altLang="ko-KR" sz="160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gpu</a:t>
              </a:r>
              <a:r>
                <a:rPr lang="en-US" altLang="ko-KR" sz="160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</a:t>
              </a:r>
              <a:r>
                <a:rPr lang="ko-KR" altLang="en-US" sz="160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환경  </a:t>
              </a:r>
              <a:r>
                <a:rPr lang="en-US" altLang="ko-KR" sz="160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L4 ,  ubuntu, SSD,</a:t>
              </a:r>
              <a:r>
                <a:rPr lang="ko-KR" altLang="en-US" sz="160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</a:t>
              </a:r>
              <a:r>
                <a:rPr lang="en-US" altLang="ko-KR" sz="160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200GB</a:t>
              </a:r>
              <a:endParaRPr lang="ko-KR" altLang="en-US" sz="16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grpSp>
          <p:nvGrpSpPr>
            <p:cNvPr id="20" name="그룹 19"/>
            <p:cNvGrpSpPr/>
            <p:nvPr/>
          </p:nvGrpSpPr>
          <p:grpSpPr>
            <a:xfrm>
              <a:off x="402827" y="1371495"/>
              <a:ext cx="181609" cy="112669"/>
              <a:chOff x="412072" y="2422510"/>
              <a:chExt cx="181609" cy="112669"/>
            </a:xfrm>
          </p:grpSpPr>
          <p:sp>
            <p:nvSpPr>
              <p:cNvPr id="21" name="타원 20"/>
              <p:cNvSpPr/>
              <p:nvPr/>
            </p:nvSpPr>
            <p:spPr>
              <a:xfrm>
                <a:off x="481012" y="2422510"/>
                <a:ext cx="112669" cy="112669"/>
              </a:xfrm>
              <a:prstGeom prst="ellipse">
                <a:avLst/>
              </a:prstGeom>
              <a:solidFill>
                <a:srgbClr val="1148B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ko-KR" altLang="en-US">
                  <a:solidFill>
                    <a:prstClr val="white"/>
                  </a:solidFill>
                  <a:latin typeface="Segoe UI" panose="020B0502040204020203" pitchFamily="34" charset="0"/>
                  <a:ea typeface="맑은 고딕" panose="020B0503020000020004" pitchFamily="50" charset="-127"/>
                  <a:cs typeface="Segoe UI" panose="020B0502040204020203" pitchFamily="34" charset="0"/>
                </a:endParaRPr>
              </a:p>
            </p:txBody>
          </p:sp>
          <p:sp>
            <p:nvSpPr>
              <p:cNvPr id="22" name="타원 21"/>
              <p:cNvSpPr/>
              <p:nvPr/>
            </p:nvSpPr>
            <p:spPr>
              <a:xfrm>
                <a:off x="412072" y="2422510"/>
                <a:ext cx="112669" cy="112669"/>
              </a:xfrm>
              <a:prstGeom prst="ellipse">
                <a:avLst/>
              </a:prstGeom>
              <a:solidFill>
                <a:srgbClr val="00A8E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ko-KR" altLang="en-US">
                  <a:solidFill>
                    <a:prstClr val="white"/>
                  </a:solidFill>
                  <a:latin typeface="Segoe UI" panose="020B0502040204020203" pitchFamily="34" charset="0"/>
                  <a:ea typeface="맑은 고딕" panose="020B0503020000020004" pitchFamily="50" charset="-127"/>
                  <a:cs typeface="Segoe UI" panose="020B0502040204020203" pitchFamily="34" charset="0"/>
                </a:endParaRPr>
              </a:p>
            </p:txBody>
          </p:sp>
          <p:sp>
            <p:nvSpPr>
              <p:cNvPr id="23" name="타원 23"/>
              <p:cNvSpPr/>
              <p:nvPr/>
            </p:nvSpPr>
            <p:spPr>
              <a:xfrm>
                <a:off x="481012" y="2435392"/>
                <a:ext cx="43730" cy="86904"/>
              </a:xfrm>
              <a:custGeom>
                <a:avLst/>
                <a:gdLst/>
                <a:ahLst/>
                <a:cxnLst/>
                <a:rect l="l" t="t" r="r" b="b"/>
                <a:pathLst>
                  <a:path w="43730" h="86904">
                    <a:moveTo>
                      <a:pt x="21865" y="0"/>
                    </a:moveTo>
                    <a:cubicBezTo>
                      <a:pt x="35400" y="9636"/>
                      <a:pt x="43730" y="25571"/>
                      <a:pt x="43730" y="43452"/>
                    </a:cubicBezTo>
                    <a:cubicBezTo>
                      <a:pt x="43730" y="61333"/>
                      <a:pt x="35400" y="77268"/>
                      <a:pt x="21865" y="86904"/>
                    </a:cubicBezTo>
                    <a:cubicBezTo>
                      <a:pt x="8330" y="77268"/>
                      <a:pt x="0" y="61333"/>
                      <a:pt x="0" y="43452"/>
                    </a:cubicBezTo>
                    <a:cubicBezTo>
                      <a:pt x="0" y="25571"/>
                      <a:pt x="8330" y="9636"/>
                      <a:pt x="21865" y="0"/>
                    </a:cubicBezTo>
                    <a:close/>
                  </a:path>
                </a:pathLst>
              </a:custGeom>
              <a:solidFill>
                <a:srgbClr val="0228A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ko-KR" altLang="en-US">
                  <a:solidFill>
                    <a:prstClr val="white"/>
                  </a:solidFill>
                  <a:latin typeface="Segoe UI" panose="020B0502040204020203" pitchFamily="34" charset="0"/>
                  <a:ea typeface="맑은 고딕" panose="020B0503020000020004" pitchFamily="50" charset="-127"/>
                  <a:cs typeface="Segoe UI" panose="020B0502040204020203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16242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198436-C253-C901-AAF4-D26CA0243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실습환경 </a:t>
            </a:r>
            <a:r>
              <a:rPr lang="en-US" altLang="ko-KR" dirty="0" err="1"/>
              <a:t>vllm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BEA542-90AE-BAA8-48D6-CAA000B56F9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755576" y="699542"/>
            <a:ext cx="7993138" cy="215315"/>
          </a:xfrm>
        </p:spPr>
        <p:txBody>
          <a:bodyPr/>
          <a:lstStyle/>
          <a:p>
            <a:r>
              <a:rPr lang="ko-KR" altLang="en-US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실습 환경 </a:t>
            </a:r>
            <a:r>
              <a:rPr lang="en-US" altLang="ko-KR" sz="1400" dirty="0">
                <a:solidFill>
                  <a:prstClr val="black"/>
                </a:solidFill>
                <a:latin typeface="Calibri" panose="020F0502020204030204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) </a:t>
            </a:r>
            <a:r>
              <a:rPr lang="en-US" altLang="ko-KR" sz="1400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gpu</a:t>
            </a:r>
            <a:r>
              <a:rPr lang="en-US" altLang="ko-KR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환경 </a:t>
            </a:r>
            <a:r>
              <a:rPr lang="en-US" altLang="ko-KR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L4 ,  ubuntu, SSD,</a:t>
            </a:r>
            <a:r>
              <a:rPr lang="ko-KR" altLang="en-US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solidFill>
                  <a:prstClr val="black"/>
                </a:solidFill>
                <a:latin typeface="Calibri" panose="020F0502020204030204"/>
              </a:rPr>
              <a:t>20</a:t>
            </a:r>
            <a:r>
              <a:rPr lang="en-US" altLang="ko-KR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0GB</a:t>
            </a:r>
            <a:endParaRPr lang="ko-KR" altLang="en-US" sz="1400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310391-2CA0-4708-0F34-915537493D8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31540" y="1233125"/>
            <a:ext cx="7993138" cy="3228513"/>
          </a:xfrm>
        </p:spPr>
        <p:txBody>
          <a:bodyPr/>
          <a:lstStyle/>
          <a:p>
            <a:pPr defTabSz="685800">
              <a:lnSpc>
                <a:spcPct val="100000"/>
              </a:lnSpc>
              <a:spcBef>
                <a:spcPts val="500"/>
              </a:spcBef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Llama 3.1 </a:t>
            </a:r>
            <a:r>
              <a:rPr lang="ko-KR" altLang="en-US" sz="1400" dirty="0">
                <a:ln>
                  <a:noFill/>
                </a:ln>
                <a:solidFill>
                  <a:prstClr val="black"/>
                </a:solidFill>
                <a:latin typeface="Calibri" panose="020F0502020204030204"/>
                <a:cs typeface="+mn-cs"/>
              </a:rPr>
              <a:t>을 </a:t>
            </a:r>
            <a:r>
              <a:rPr lang="en-US" altLang="ko-KR" sz="1400" dirty="0">
                <a:ln>
                  <a:noFill/>
                </a:ln>
                <a:solidFill>
                  <a:prstClr val="black"/>
                </a:solidFill>
                <a:latin typeface="Calibri" panose="020F0502020204030204"/>
                <a:cs typeface="+mn-cs"/>
              </a:rPr>
              <a:t>local </a:t>
            </a:r>
            <a:r>
              <a:rPr lang="ko-KR" altLang="en-US" sz="1400" dirty="0">
                <a:ln>
                  <a:noFill/>
                </a:ln>
                <a:solidFill>
                  <a:prstClr val="black"/>
                </a:solidFill>
                <a:latin typeface="Calibri" panose="020F0502020204030204"/>
                <a:cs typeface="+mn-cs"/>
              </a:rPr>
              <a:t>로 다운로드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442902" lvl="1" indent="-176209" defTabSz="914400">
              <a:lnSpc>
                <a:spcPct val="100000"/>
              </a:lnSpc>
              <a:spcBef>
                <a:spcPts val="500"/>
              </a:spcBef>
              <a:buSzPct val="130000"/>
              <a:buNone/>
              <a:defRPr/>
            </a:pP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pip install -U "</a:t>
            </a:r>
            <a:r>
              <a:rPr kumimoji="0" lang="en-US" altLang="ko-KR" sz="10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huggingface_hub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[cli]"  (</a:t>
            </a:r>
            <a:r>
              <a:rPr lang="en-US" altLang="ko-KR" sz="1000" spc="-30" dirty="0" err="1">
                <a:ln>
                  <a:noFill/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conda</a:t>
            </a:r>
            <a:r>
              <a:rPr lang="ko-KR" altLang="en-US" sz="1000" spc="-30" dirty="0">
                <a:ln>
                  <a:noFill/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의 </a:t>
            </a:r>
            <a:r>
              <a:rPr lang="en-US" altLang="ko-KR" sz="1000" spc="-30" dirty="0">
                <a:ln>
                  <a:noFill/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base </a:t>
            </a:r>
            <a:r>
              <a:rPr lang="ko-KR" altLang="en-US" sz="1000" spc="-30" dirty="0">
                <a:ln>
                  <a:noFill/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환경에서 해주세요</a:t>
            </a:r>
            <a:r>
              <a:rPr lang="en-US" altLang="ko-KR" sz="1000" spc="-30" dirty="0">
                <a:ln>
                  <a:noFill/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0" lang="en-US" altLang="ko-KR" sz="1000" b="0" i="0" u="none" strike="noStrike" kern="1200" cap="none" spc="-3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pPr marL="442902" marR="0" lvl="1" indent="-176209" algn="l" defTabSz="914400" rtl="0" eaLnBrk="1" fontAlgn="auto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30000"/>
              <a:buFontTx/>
              <a:buNone/>
              <a:tabLst/>
              <a:defRPr/>
            </a:pPr>
            <a:r>
              <a:rPr kumimoji="0" lang="da-DK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mkdir vllm_model</a:t>
            </a:r>
          </a:p>
          <a:p>
            <a:pPr marL="442902" marR="0" lvl="1" indent="-176209" algn="l" defTabSz="914400" rtl="0" eaLnBrk="1" fontAlgn="auto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30000"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cd</a:t>
            </a: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kumimoji="0" lang="en-US" altLang="ko-KR" sz="10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vllm_model</a:t>
            </a:r>
            <a:endParaRPr kumimoji="0" lang="da-DK" altLang="ko-KR" sz="1000" b="0" i="0" u="none" strike="noStrike" kern="1200" cap="none" spc="-3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pPr marL="442902" marR="0" lvl="1" indent="-176209" algn="l" defTabSz="914400" rtl="0" eaLnBrk="1" fontAlgn="auto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30000"/>
              <a:buFontTx/>
              <a:buNone/>
              <a:tabLst/>
              <a:defRPr/>
            </a:pPr>
            <a:endParaRPr lang="da-DK" altLang="ko-KR" sz="1000" spc="-30" dirty="0">
              <a:ln>
                <a:noFill/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2902" marR="0" lvl="1" indent="-176209" algn="l" defTabSz="914400" rtl="0" eaLnBrk="1" fontAlgn="auto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30000"/>
              <a:buFontTx/>
              <a:buNone/>
              <a:tabLst/>
              <a:defRPr/>
            </a:pPr>
            <a:r>
              <a:rPr kumimoji="0" lang="da-DK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huggingface-cli login</a:t>
            </a:r>
          </a:p>
          <a:p>
            <a:pPr marL="442902" marR="0" lvl="1" indent="-176209" algn="l" defTabSz="914400" rtl="0" eaLnBrk="1" fontAlgn="auto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30000"/>
              <a:buFontTx/>
              <a:buNone/>
              <a:tabLst/>
              <a:defRPr/>
            </a:pPr>
            <a:r>
              <a:rPr kumimoji="0" lang="da-DK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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</a:t>
            </a:r>
          </a:p>
          <a:p>
            <a:pPr marL="442902" marR="0" lvl="1" indent="-176209" algn="l" defTabSz="914400" rtl="0" eaLnBrk="1" fontAlgn="auto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30000"/>
              <a:buFontTx/>
              <a:buNone/>
              <a:tabLst/>
              <a:defRPr/>
            </a:pPr>
            <a:endParaRPr lang="da-DK" altLang="ko-KR" sz="1000" spc="-30" dirty="0">
              <a:ln>
                <a:noFill/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2902" marR="0" lvl="1" indent="-176209" algn="l" defTabSz="914400" rtl="0" eaLnBrk="1" fontAlgn="auto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30000"/>
              <a:buFontTx/>
              <a:buNone/>
              <a:tabLst/>
              <a:defRPr/>
            </a:pPr>
            <a:r>
              <a:rPr lang="da-DK" altLang="ko-KR" sz="1000" spc="-30" dirty="0">
                <a:ln>
                  <a:noFill/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mkdir </a:t>
            </a:r>
            <a:r>
              <a:rPr lang="en-US" altLang="ko-KR" sz="1000" spc="-30" dirty="0">
                <a:ln>
                  <a:noFill/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Llama-3.2-3B-Instruct</a:t>
            </a:r>
            <a:endParaRPr lang="da-DK" altLang="ko-KR" sz="1000" spc="-30" dirty="0">
              <a:ln>
                <a:noFill/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2902" marR="0" lvl="1" indent="-176209" algn="l" defTabSz="914400" rtl="0" eaLnBrk="1" fontAlgn="auto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30000"/>
              <a:buFontTx/>
              <a:buNone/>
              <a:tabLst/>
              <a:defRPr/>
            </a:pPr>
            <a:r>
              <a:rPr lang="da-DK" altLang="ko-KR" sz="1000" spc="-30" dirty="0">
                <a:ln>
                  <a:noFill/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huggingface-cli download </a:t>
            </a:r>
            <a:r>
              <a:rPr lang="en-US" altLang="ko-KR" sz="1000" spc="-30" dirty="0">
                <a:ln>
                  <a:noFill/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meta-llama/Llama-3.1-8B-Instruct --local-</a:t>
            </a:r>
            <a:r>
              <a:rPr lang="en-US" altLang="ko-KR" sz="1000" spc="-30" dirty="0" err="1">
                <a:ln>
                  <a:noFill/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dir</a:t>
            </a:r>
            <a:r>
              <a:rPr lang="en-US" altLang="ko-KR" sz="1000" spc="-30" dirty="0">
                <a:ln>
                  <a:noFill/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./Llama-3.1-8B-Instruct</a:t>
            </a:r>
          </a:p>
          <a:p>
            <a:pPr marL="442902" marR="0" lvl="1" indent="-176209" algn="l" defTabSz="914400" rtl="0" eaLnBrk="1" fontAlgn="auto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30000"/>
              <a:buFontTx/>
              <a:buNone/>
              <a:tabLst/>
              <a:defRPr/>
            </a:pPr>
            <a:r>
              <a:rPr lang="da-DK" altLang="ko-KR" sz="1000" spc="-30" dirty="0">
                <a:ln>
                  <a:noFill/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huggingface-cli download </a:t>
            </a:r>
            <a:r>
              <a:rPr lang="en-US" altLang="ko-KR" sz="1000" spc="-30" dirty="0">
                <a:ln>
                  <a:noFill/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meta-llama/Llama-3.2-3B-Instruct --local-</a:t>
            </a:r>
            <a:r>
              <a:rPr lang="en-US" altLang="ko-KR" sz="1000" spc="-30" dirty="0" err="1">
                <a:ln>
                  <a:noFill/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dir</a:t>
            </a:r>
            <a:r>
              <a:rPr lang="en-US" altLang="ko-KR" sz="1000" spc="-30" dirty="0">
                <a:ln>
                  <a:noFill/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./Llama-3.2-3B-Instruct</a:t>
            </a:r>
          </a:p>
          <a:p>
            <a:pPr marL="442902" marR="0" lvl="1" indent="-176209" algn="l" defTabSz="914400" rtl="0" eaLnBrk="1" fontAlgn="auto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30000"/>
              <a:buFontTx/>
              <a:buNone/>
              <a:tabLst/>
              <a:defRPr/>
            </a:pPr>
            <a:endParaRPr lang="da-DK" altLang="ko-KR" sz="1000" spc="-30" dirty="0">
              <a:ln>
                <a:noFill/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2902" marR="0" lvl="1" indent="-176209" algn="l" defTabSz="914400" rtl="0" eaLnBrk="1" fontAlgn="auto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30000"/>
              <a:buFontTx/>
              <a:buNone/>
              <a:tabLst/>
              <a:defRPr/>
            </a:pPr>
            <a:r>
              <a:rPr lang="da-DK" altLang="ko-KR" sz="1000" spc="-30" dirty="0">
                <a:ln>
                  <a:noFill/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du -sh L</a:t>
            </a:r>
            <a:r>
              <a:rPr lang="en-US" altLang="ko-KR" sz="1000" spc="-30" dirty="0">
                <a:ln>
                  <a:noFill/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lama-3.1-8B-Instruct</a:t>
            </a:r>
            <a:endParaRPr lang="da-DK" altLang="ko-KR" sz="1000" spc="-30" dirty="0">
              <a:ln>
                <a:noFill/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2902" marR="0" lvl="1" indent="-176209" algn="l" defTabSz="914400" rtl="0" eaLnBrk="1" fontAlgn="auto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30000"/>
              <a:buFontTx/>
              <a:buNone/>
              <a:tabLst/>
              <a:defRPr/>
            </a:pPr>
            <a:endParaRPr lang="da-DK" altLang="ko-KR" sz="1000" spc="-30" dirty="0">
              <a:ln>
                <a:noFill/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2CE3EBA-D6FB-5563-770D-3FA8813DD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072" y="352789"/>
            <a:ext cx="3497304" cy="2774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7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198436-C253-C901-AAF4-D26CA0243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실습환경 </a:t>
            </a:r>
            <a:r>
              <a:rPr lang="en-US" altLang="ko-KR" dirty="0" err="1"/>
              <a:t>vllm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BEA542-90AE-BAA8-48D6-CAA000B56F9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755576" y="699542"/>
            <a:ext cx="7993138" cy="215315"/>
          </a:xfrm>
        </p:spPr>
        <p:txBody>
          <a:bodyPr/>
          <a:lstStyle/>
          <a:p>
            <a:r>
              <a:rPr lang="ko-KR" altLang="en-US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실습 환경 </a:t>
            </a:r>
            <a:r>
              <a:rPr lang="en-US" altLang="ko-KR" sz="1400" dirty="0">
                <a:solidFill>
                  <a:prstClr val="black"/>
                </a:solidFill>
                <a:latin typeface="Calibri" panose="020F0502020204030204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) </a:t>
            </a:r>
            <a:r>
              <a:rPr lang="en-US" altLang="ko-KR" sz="1400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gpu</a:t>
            </a:r>
            <a:r>
              <a:rPr lang="en-US" altLang="ko-KR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환경 </a:t>
            </a:r>
            <a:r>
              <a:rPr lang="en-US" altLang="ko-KR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L4 ,  ubuntu, SSD,</a:t>
            </a:r>
            <a:r>
              <a:rPr lang="ko-KR" altLang="en-US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solidFill>
                  <a:prstClr val="black"/>
                </a:solidFill>
                <a:latin typeface="Calibri" panose="020F0502020204030204"/>
              </a:rPr>
              <a:t>2</a:t>
            </a:r>
            <a:r>
              <a:rPr lang="en-US" altLang="ko-KR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00GB</a:t>
            </a:r>
            <a:endParaRPr lang="ko-KR" altLang="en-US" sz="1400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310391-2CA0-4708-0F34-915537493D8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95288" y="1091273"/>
            <a:ext cx="7993138" cy="1484445"/>
          </a:xfrm>
        </p:spPr>
        <p:txBody>
          <a:bodyPr/>
          <a:lstStyle/>
          <a:p>
            <a:pPr marL="171450" marR="0" lvl="0" indent="-171450" algn="l" defTabSz="685800" rtl="0" eaLnBrk="1" fontAlgn="auto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Segoe UI" panose="020B0502040204020203" pitchFamily="34" charset="0"/>
              </a:rPr>
              <a:t>Llama 3.1 </a:t>
            </a:r>
            <a:r>
              <a:rPr lang="en-US" altLang="ko-KR" sz="1400" dirty="0" err="1">
                <a:ln>
                  <a:noFill/>
                </a:ln>
                <a:solidFill>
                  <a:prstClr val="black"/>
                </a:solidFill>
                <a:latin typeface="Calibri" panose="020F0502020204030204"/>
              </a:rPr>
              <a:t>vllm</a:t>
            </a:r>
            <a:r>
              <a:rPr lang="ko-KR" altLang="en-US" sz="1400" dirty="0">
                <a:ln>
                  <a:noFill/>
                </a:ln>
                <a:solidFill>
                  <a:prstClr val="black"/>
                </a:solidFill>
                <a:latin typeface="Calibri" panose="020F0502020204030204"/>
              </a:rPr>
              <a:t>으로 </a:t>
            </a:r>
            <a:r>
              <a:rPr lang="en-US" altLang="ko-KR" sz="1400" dirty="0">
                <a:ln>
                  <a:noFill/>
                </a:ln>
                <a:solidFill>
                  <a:prstClr val="black"/>
                </a:solidFill>
                <a:latin typeface="Calibri" panose="020F0502020204030204"/>
              </a:rPr>
              <a:t>serving</a:t>
            </a:r>
            <a:endParaRPr kumimoji="0" lang="en-US" altLang="ko-KR" sz="1000" b="0" i="0" u="none" strike="noStrike" kern="1200" cap="none" spc="-3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pPr marL="442902" marR="0" lvl="1" indent="-176209" algn="l" defTabSz="914400" rtl="0" eaLnBrk="1" fontAlgn="auto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30000"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conda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create -n </a:t>
            </a:r>
            <a:r>
              <a:rPr kumimoji="0" lang="en-US" altLang="ko-KR" sz="10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vllm_env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python=3.9</a:t>
            </a:r>
          </a:p>
          <a:p>
            <a:pPr marL="442902" marR="0" lvl="1" indent="-176209" algn="l" defTabSz="914400" rtl="0" eaLnBrk="1" fontAlgn="auto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30000"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conda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 activate </a:t>
            </a:r>
            <a:r>
              <a:rPr kumimoji="0" lang="en-US" altLang="ko-KR" sz="10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vllm_env</a:t>
            </a:r>
            <a:endParaRPr kumimoji="0" lang="en-US" altLang="ko-KR" sz="1000" b="0" i="0" u="none" strike="noStrike" kern="1200" cap="none" spc="-3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pPr marL="442902" marR="0" lvl="1" indent="-176209" algn="l" defTabSz="914400" rtl="0" eaLnBrk="1" fontAlgn="auto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30000"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pip install </a:t>
            </a:r>
            <a:r>
              <a:rPr kumimoji="0" lang="en-US" altLang="ko-KR" sz="10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vllm</a:t>
            </a:r>
            <a:endParaRPr kumimoji="0" lang="en-US" altLang="ko-KR" sz="1000" b="0" i="0" u="none" strike="noStrike" kern="1200" cap="none" spc="-3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pPr marL="442902" marR="0" lvl="1" indent="-176209" algn="l" defTabSz="914400" rtl="0" eaLnBrk="1" fontAlgn="auto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30000"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vllm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serve </a:t>
            </a:r>
            <a:r>
              <a:rPr lang="en-US" altLang="ko-KR" sz="1000" spc="-30" dirty="0">
                <a:ln>
                  <a:noFill/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Llama-3.1-8B-Instruct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--port 8877 --</a:t>
            </a:r>
            <a:r>
              <a:rPr kumimoji="0" lang="en-US" altLang="ko-KR" sz="10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dtype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float16 --max-model-</a:t>
            </a:r>
            <a:r>
              <a:rPr kumimoji="0" lang="en-US" altLang="ko-KR" sz="10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len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8192 --</a:t>
            </a:r>
            <a:r>
              <a:rPr kumimoji="0" lang="en-US" altLang="ko-KR" sz="10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api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-key token-abc123 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--tensor-parallel-size 2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</a:t>
            </a:r>
          </a:p>
          <a:p>
            <a:pPr marL="442902" marR="0" lvl="1" indent="-176209" algn="l" defTabSz="914400" rtl="0" eaLnBrk="1" fontAlgn="auto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30000"/>
              <a:buFontTx/>
              <a:buNone/>
              <a:tabLst/>
              <a:defRPr/>
            </a:pPr>
            <a:endParaRPr kumimoji="0" lang="en-US" altLang="ko-KR" sz="1000" b="0" i="0" u="none" strike="noStrike" kern="1200" cap="none" spc="-3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A7742E-C969-4B1A-5B12-06820509B6BB}"/>
              </a:ext>
            </a:extLst>
          </p:cNvPr>
          <p:cNvSpPr txBox="1"/>
          <p:nvPr/>
        </p:nvSpPr>
        <p:spPr>
          <a:xfrm>
            <a:off x="6768244" y="1679606"/>
            <a:ext cx="13484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※ 2 </a:t>
            </a:r>
            <a:r>
              <a:rPr lang="en-US" altLang="ko-KR" sz="1400" dirty="0" err="1"/>
              <a:t>gpu</a:t>
            </a:r>
            <a:r>
              <a:rPr lang="en-US" altLang="ko-KR" sz="1400" dirty="0"/>
              <a:t> </a:t>
            </a:r>
            <a:r>
              <a:rPr lang="ko-KR" altLang="en-US" sz="1400" dirty="0" err="1"/>
              <a:t>일때만</a:t>
            </a:r>
            <a:endParaRPr lang="ko-KR" altLang="en-US" sz="14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A6EED87-584C-38E8-C6DE-567DC37FC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2243444"/>
            <a:ext cx="6976178" cy="273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206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372FB7-2148-CC5E-46EA-FAA0B73C9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CoT</a:t>
            </a:r>
            <a:r>
              <a:rPr lang="en-US" altLang="ko-KR" dirty="0"/>
              <a:t>(Chain of Thought)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3B39E2-B237-2A88-3C85-A756B43C4B3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95290" y="596013"/>
            <a:ext cx="8353424" cy="223716"/>
          </a:xfrm>
        </p:spPr>
        <p:txBody>
          <a:bodyPr/>
          <a:lstStyle/>
          <a:p>
            <a:r>
              <a:rPr lang="ko-KR" altLang="en-US" dirty="0"/>
              <a:t>복잡한 문제를 풀어가는 방식을 </a:t>
            </a:r>
            <a:r>
              <a:rPr lang="en-US" altLang="ko-KR" dirty="0"/>
              <a:t>Prompt</a:t>
            </a:r>
            <a:r>
              <a:rPr lang="ko-KR" altLang="en-US" dirty="0"/>
              <a:t>로 설명한 뒤 해결하고자 하는 문제를 질문하는 방식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3C0C0D8-B367-E9D6-8E56-BEBD6CBB461A}"/>
              </a:ext>
            </a:extLst>
          </p:cNvPr>
          <p:cNvSpPr/>
          <p:nvPr/>
        </p:nvSpPr>
        <p:spPr>
          <a:xfrm>
            <a:off x="467544" y="1130425"/>
            <a:ext cx="8208912" cy="30828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3FD5908-D99E-2B7A-E692-DBC2FE5318E3}"/>
              </a:ext>
            </a:extLst>
          </p:cNvPr>
          <p:cNvSpPr/>
          <p:nvPr/>
        </p:nvSpPr>
        <p:spPr>
          <a:xfrm>
            <a:off x="657999" y="1023578"/>
            <a:ext cx="1152128" cy="216024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예시 </a:t>
            </a:r>
            <a:r>
              <a:rPr lang="en-US" altLang="ko-KR" sz="12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Prompt </a:t>
            </a:r>
            <a:endParaRPr lang="ko-KR" altLang="en-US" sz="1200" b="1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B6685F-2BE8-BD50-06DD-90FCAA35C679}"/>
              </a:ext>
            </a:extLst>
          </p:cNvPr>
          <p:cNvSpPr txBox="1"/>
          <p:nvPr/>
        </p:nvSpPr>
        <p:spPr>
          <a:xfrm>
            <a:off x="539552" y="1320220"/>
            <a:ext cx="8136904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tabLst>
                <a:tab pos="180975" algn="l"/>
              </a:tabLst>
            </a:pPr>
            <a:r>
              <a:rPr lang="ko-KR" altLang="en-US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프로 테니스 대회에서 테니스 공은 한번에 </a:t>
            </a:r>
            <a:r>
              <a:rPr lang="en-US" altLang="ko-KR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6</a:t>
            </a:r>
            <a:r>
              <a:rPr lang="ko-KR" altLang="en-US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개를 사용합니다</a:t>
            </a:r>
            <a:r>
              <a:rPr lang="en-US" altLang="ko-KR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  <a:r>
              <a:rPr lang="ko-KR" altLang="en-US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 </a:t>
            </a:r>
            <a:r>
              <a:rPr lang="en-US" altLang="ko-KR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6</a:t>
            </a:r>
            <a:r>
              <a:rPr lang="ko-KR" altLang="en-US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개의 공을 처음에는 게임 수의 합이 </a:t>
            </a:r>
            <a:r>
              <a:rPr lang="en-US" altLang="ko-KR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7</a:t>
            </a:r>
            <a:r>
              <a:rPr lang="ko-KR" altLang="en-US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게임</a:t>
            </a:r>
            <a:r>
              <a:rPr lang="en-US" altLang="ko-KR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다음부터는 </a:t>
            </a:r>
            <a:r>
              <a:rPr lang="en-US" altLang="ko-KR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9</a:t>
            </a:r>
            <a:r>
              <a:rPr lang="ko-KR" altLang="en-US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게임마다 새 공으로 교체를 합니다</a:t>
            </a:r>
            <a:r>
              <a:rPr lang="en-US" altLang="ko-KR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latinLnBrk="0">
              <a:tabLst>
                <a:tab pos="180975" algn="l"/>
              </a:tabLst>
            </a:pPr>
            <a:r>
              <a:rPr lang="ko-KR" altLang="en-US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만일 </a:t>
            </a:r>
            <a:r>
              <a:rPr lang="en-US" altLang="ko-KR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r>
              <a:rPr lang="ko-KR" altLang="en-US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세트 경기가 </a:t>
            </a:r>
            <a:r>
              <a:rPr lang="en-US" altLang="ko-KR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6:5 3:6 6:4 </a:t>
            </a:r>
            <a:r>
              <a:rPr lang="ko-KR" altLang="en-US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 진행됐다고 하면 총 몇 개의 공을 사용했을까요</a:t>
            </a:r>
            <a:r>
              <a:rPr lang="en-US" altLang="ko-KR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?</a:t>
            </a:r>
          </a:p>
          <a:p>
            <a:pPr latinLnBrk="0">
              <a:tabLst>
                <a:tab pos="180975" algn="l"/>
              </a:tabLst>
            </a:pPr>
            <a:r>
              <a:rPr lang="ko-KR" altLang="en-US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답</a:t>
            </a:r>
            <a:r>
              <a:rPr lang="en-US" altLang="ko-KR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</a:t>
            </a:r>
          </a:p>
          <a:p>
            <a:pPr latinLnBrk="0">
              <a:tabLst>
                <a:tab pos="180975" algn="l"/>
              </a:tabLst>
            </a:pPr>
            <a:r>
              <a:rPr lang="ko-KR" altLang="en-US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각 세트마다 게임 수를 더하면 </a:t>
            </a:r>
            <a:r>
              <a:rPr lang="en-US" altLang="ko-KR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11+9+10 = 30 </a:t>
            </a:r>
            <a:r>
              <a:rPr lang="ko-KR" altLang="en-US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으로 총 </a:t>
            </a:r>
            <a:r>
              <a:rPr lang="en-US" altLang="ko-KR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30</a:t>
            </a:r>
            <a:r>
              <a:rPr lang="ko-KR" altLang="en-US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게임이 진행됐습니다</a:t>
            </a:r>
            <a:r>
              <a:rPr lang="en-US" altLang="ko-KR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latinLnBrk="0">
              <a:tabLst>
                <a:tab pos="180975" algn="l"/>
              </a:tabLst>
            </a:pPr>
            <a:r>
              <a:rPr lang="ko-KR" altLang="en-US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테니스 공은 </a:t>
            </a:r>
            <a:r>
              <a:rPr lang="en-US" altLang="ko-KR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7</a:t>
            </a:r>
            <a:r>
              <a:rPr lang="ko-KR" altLang="en-US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번째 교체 후 </a:t>
            </a:r>
            <a:r>
              <a:rPr lang="en-US" altLang="ko-KR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9</a:t>
            </a:r>
            <a:r>
              <a:rPr lang="ko-KR" altLang="en-US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번째 게임마다 교체되니 </a:t>
            </a:r>
            <a:r>
              <a:rPr lang="en-US" altLang="ko-KR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7,16,25 </a:t>
            </a:r>
            <a:r>
              <a:rPr lang="ko-KR" altLang="en-US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게임에 총 </a:t>
            </a:r>
            <a:r>
              <a:rPr lang="en-US" altLang="ko-KR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r>
              <a:rPr lang="ko-KR" altLang="en-US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회에 교체 됩니다</a:t>
            </a:r>
            <a:r>
              <a:rPr lang="en-US" altLang="ko-KR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latinLnBrk="0">
              <a:tabLst>
                <a:tab pos="180975" algn="l"/>
              </a:tabLst>
            </a:pPr>
            <a:r>
              <a:rPr lang="ko-KR" altLang="en-US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최종적으로 경기시작 시 사용한 공 </a:t>
            </a:r>
            <a:r>
              <a:rPr lang="en-US" altLang="ko-KR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6</a:t>
            </a:r>
            <a:r>
              <a:rPr lang="ko-KR" altLang="en-US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 </a:t>
            </a:r>
            <a:r>
              <a:rPr lang="en-US" altLang="ko-KR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+ </a:t>
            </a:r>
            <a:r>
              <a:rPr lang="ko-KR" altLang="en-US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교체 시 마다 </a:t>
            </a:r>
            <a:r>
              <a:rPr lang="en-US" altLang="ko-KR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6</a:t>
            </a:r>
            <a:r>
              <a:rPr lang="ko-KR" altLang="en-US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개의 새 공으로 교체 했으니 </a:t>
            </a:r>
            <a:r>
              <a:rPr lang="en-US" altLang="ko-KR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6 + (6 * 3) = 24, </a:t>
            </a:r>
            <a:r>
              <a:rPr lang="ko-KR" altLang="en-US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사용된 공은 총 </a:t>
            </a:r>
            <a:r>
              <a:rPr lang="en-US" altLang="ko-KR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24</a:t>
            </a:r>
            <a:r>
              <a:rPr lang="ko-KR" altLang="en-US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 입니다</a:t>
            </a:r>
            <a:r>
              <a:rPr lang="en-US" altLang="ko-KR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latinLnBrk="0">
              <a:tabLst>
                <a:tab pos="180975" algn="l"/>
              </a:tabLst>
            </a:pPr>
            <a:endParaRPr lang="en-US" altLang="ko-KR" sz="1400" spc="-100" dirty="0">
              <a:solidFill>
                <a:sysClr val="windowText" lastClr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atinLnBrk="0">
              <a:tabLst>
                <a:tab pos="180975" algn="l"/>
              </a:tabLst>
            </a:pPr>
            <a:r>
              <a:rPr lang="ko-KR" altLang="en-US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질문</a:t>
            </a:r>
            <a:r>
              <a:rPr lang="en-US" altLang="ko-KR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</a:t>
            </a:r>
          </a:p>
          <a:p>
            <a:pPr latinLnBrk="0">
              <a:tabLst>
                <a:tab pos="180975" algn="l"/>
              </a:tabLst>
            </a:pPr>
            <a:r>
              <a:rPr lang="ko-KR" altLang="en-US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아마추어 테니스 대회에서는 </a:t>
            </a:r>
            <a:r>
              <a:rPr lang="ko-KR" altLang="en-US" sz="1400" spc="-100" dirty="0" err="1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테니스공을</a:t>
            </a:r>
            <a:r>
              <a:rPr lang="ko-KR" altLang="en-US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한번에 </a:t>
            </a:r>
            <a:r>
              <a:rPr lang="en-US" altLang="ko-KR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r>
              <a:rPr lang="ko-KR" altLang="en-US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 사용합니다</a:t>
            </a:r>
            <a:r>
              <a:rPr lang="en-US" altLang="ko-KR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  <a:r>
              <a:rPr lang="ko-KR" altLang="en-US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그리고 이 </a:t>
            </a:r>
            <a:r>
              <a:rPr lang="en-US" altLang="ko-KR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r>
              <a:rPr lang="ko-KR" altLang="en-US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개의 공을 처음에는 게임 수의 합이 </a:t>
            </a:r>
            <a:r>
              <a:rPr lang="en-US" altLang="ko-KR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7</a:t>
            </a:r>
            <a:r>
              <a:rPr lang="ko-KR" altLang="en-US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게임</a:t>
            </a:r>
            <a:r>
              <a:rPr lang="en-US" altLang="ko-KR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다음부터는 </a:t>
            </a:r>
            <a:r>
              <a:rPr lang="en-US" altLang="ko-KR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9</a:t>
            </a:r>
            <a:r>
              <a:rPr lang="ko-KR" altLang="en-US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게임마다 </a:t>
            </a:r>
            <a:r>
              <a:rPr lang="ko-KR" altLang="en-US" sz="1400" spc="-100" dirty="0" err="1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새공으로</a:t>
            </a:r>
            <a:r>
              <a:rPr lang="ko-KR" altLang="en-US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교체를 합니다</a:t>
            </a:r>
            <a:r>
              <a:rPr lang="en-US" altLang="ko-KR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latinLnBrk="0">
              <a:tabLst>
                <a:tab pos="180975" algn="l"/>
              </a:tabLst>
            </a:pPr>
            <a:r>
              <a:rPr lang="ko-KR" altLang="en-US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만일 </a:t>
            </a:r>
            <a:r>
              <a:rPr lang="en-US" altLang="ko-KR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r>
              <a:rPr lang="ko-KR" altLang="en-US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세트 경기가 </a:t>
            </a:r>
            <a:r>
              <a:rPr lang="en-US" altLang="ko-KR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6:5 5:7 6:7 </a:t>
            </a:r>
            <a:r>
              <a:rPr lang="ko-KR" altLang="en-US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 진행됐다고 하면 총 몇 개의 공을 사용했을까요</a:t>
            </a:r>
            <a:r>
              <a:rPr lang="en-US" altLang="ko-KR" sz="1400" spc="-100" dirty="0">
                <a:solidFill>
                  <a:sysClr val="windowText" lastClr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?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83C613B-1364-D927-9D97-BB48ED73F333}"/>
              </a:ext>
            </a:extLst>
          </p:cNvPr>
          <p:cNvGrpSpPr/>
          <p:nvPr/>
        </p:nvGrpSpPr>
        <p:grpSpPr>
          <a:xfrm>
            <a:off x="539552" y="4261642"/>
            <a:ext cx="6408712" cy="646331"/>
            <a:chOff x="546472" y="5472878"/>
            <a:chExt cx="6408712" cy="64633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F06BFAD-0EDF-DF93-567B-98F2AE729C02}"/>
                </a:ext>
              </a:extLst>
            </p:cNvPr>
            <p:cNvSpPr txBox="1"/>
            <p:nvPr/>
          </p:nvSpPr>
          <p:spPr>
            <a:xfrm>
              <a:off x="1410568" y="5565332"/>
              <a:ext cx="55446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spc="-100" dirty="0">
                  <a:solidFill>
                    <a:sysClr val="windowText" lastClr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LLM</a:t>
              </a:r>
              <a:r>
                <a:rPr lang="ko-KR" altLang="en-US" sz="1400" spc="-100" dirty="0">
                  <a:solidFill>
                    <a:sysClr val="windowText" lastClr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의 약점인 연산문제를 해결할 때 유용하게 활용하실 수 있습니다</a:t>
              </a:r>
              <a:r>
                <a:rPr lang="en-US" altLang="ko-KR" sz="1400" spc="-100" dirty="0">
                  <a:solidFill>
                    <a:sysClr val="windowText" lastClr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. 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1F9F4DC-8E89-216D-D8DB-A588431FF99F}"/>
                </a:ext>
              </a:extLst>
            </p:cNvPr>
            <p:cNvSpPr txBox="1"/>
            <p:nvPr/>
          </p:nvSpPr>
          <p:spPr>
            <a:xfrm>
              <a:off x="546472" y="5472878"/>
              <a:ext cx="86409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600" b="1" spc="-100" dirty="0">
                  <a:solidFill>
                    <a:srgbClr val="7030A0"/>
                  </a:solidFill>
                  <a:latin typeface="나눔명조" panose="02020603020101020101" pitchFamily="18" charset="-127"/>
                  <a:ea typeface="나눔명조" panose="02020603020101020101" pitchFamily="18" charset="-127"/>
                </a:rPr>
                <a:t>Tip.</a:t>
              </a:r>
              <a:endParaRPr lang="ko-KR" altLang="en-US" sz="3600" b="1" spc="-100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8672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그룹 112"/>
          <p:cNvGrpSpPr/>
          <p:nvPr/>
        </p:nvGrpSpPr>
        <p:grpSpPr>
          <a:xfrm>
            <a:off x="1047176" y="1421860"/>
            <a:ext cx="7751641" cy="1623292"/>
            <a:chOff x="3101581" y="1628775"/>
            <a:chExt cx="10335525" cy="2164389"/>
          </a:xfrm>
        </p:grpSpPr>
        <p:sp>
          <p:nvSpPr>
            <p:cNvPr id="114" name="TextBox 113"/>
            <p:cNvSpPr txBox="1"/>
            <p:nvPr/>
          </p:nvSpPr>
          <p:spPr>
            <a:xfrm>
              <a:off x="4128229" y="1784666"/>
              <a:ext cx="9308877" cy="2008498"/>
            </a:xfrm>
            <a:prstGeom prst="rect">
              <a:avLst/>
            </a:prstGeom>
            <a:noFill/>
          </p:spPr>
          <p:txBody>
            <a:bodyPr wrap="none" rtlCol="0" anchor="t" anchorCtr="0">
              <a:spAutoFit/>
            </a:bodyPr>
            <a:lstStyle/>
            <a:p>
              <a:pPr marL="0" marR="0" lvl="0" indent="0" algn="l" defTabSz="684552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1125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4500" b="1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RAG</a:t>
              </a:r>
              <a:endParaRPr kumimoji="0" lang="en-US" altLang="ko-KR" sz="45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endParaRPr>
            </a:p>
            <a:p>
              <a:pPr marL="0" marR="0" lvl="0" indent="0" algn="l" defTabSz="684552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1125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3300" b="1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Retrieval-Augmented Generation</a:t>
              </a:r>
              <a:r>
                <a:rPr kumimoji="0" lang="ko-KR" altLang="en-US" sz="3300" b="1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 </a:t>
              </a: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3101581" y="1628775"/>
              <a:ext cx="793380" cy="1354217"/>
            </a:xfrm>
            <a:prstGeom prst="rect">
              <a:avLst/>
            </a:prstGeom>
            <a:noFill/>
          </p:spPr>
          <p:txBody>
            <a:bodyPr wrap="none" rtlCol="0" anchor="t" anchorCtr="0">
              <a:spAutoFit/>
            </a:bodyPr>
            <a:lstStyle/>
            <a:p>
              <a:pPr marL="0" marR="0" lvl="0" indent="0" algn="ctr" defTabSz="684552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525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6000" b="0" i="0" u="none" strike="noStrike" kern="1200" cap="none" spc="-30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23E2F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나눔스퀘어 Bold" panose="020B0600000101010101" pitchFamily="50" charset="-127"/>
                  <a:cs typeface="Times New Roman" panose="02020603050405020304" pitchFamily="18" charset="0"/>
                </a:rPr>
                <a:t>Ⅰ</a:t>
              </a:r>
              <a:r>
                <a:rPr kumimoji="0" lang="en-US" altLang="ko-KR" sz="600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23E2F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나눔스퀘어 Bold" panose="020B0600000101010101" pitchFamily="50" charset="-127"/>
                  <a:cs typeface="Times New Roman" panose="02020603050405020304" pitchFamily="18" charset="0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10634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5A6055-0EC8-6C18-07FA-3F94925F2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9C4981-3228-1431-2813-88659C100A8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95290" y="596013"/>
            <a:ext cx="8353424" cy="466090"/>
          </a:xfrm>
        </p:spPr>
        <p:txBody>
          <a:bodyPr/>
          <a:lstStyle/>
          <a:p>
            <a:r>
              <a:rPr lang="en-US" altLang="ko-KR" dirty="0"/>
              <a:t>Vector (DB) </a:t>
            </a:r>
            <a:r>
              <a:rPr lang="ko-KR" altLang="en-US" dirty="0"/>
              <a:t>에서 </a:t>
            </a:r>
            <a:r>
              <a:rPr lang="en-US" altLang="ko-KR" dirty="0"/>
              <a:t>query</a:t>
            </a:r>
            <a:r>
              <a:rPr lang="ko-KR" altLang="en-US" dirty="0"/>
              <a:t>와 가장 </a:t>
            </a:r>
            <a:r>
              <a:rPr lang="ko-KR" altLang="en-US" dirty="0" err="1"/>
              <a:t>연관있는</a:t>
            </a:r>
            <a:r>
              <a:rPr lang="ko-KR" altLang="en-US" dirty="0"/>
              <a:t> </a:t>
            </a:r>
            <a:r>
              <a:rPr lang="en-US" altLang="ko-KR" dirty="0"/>
              <a:t>vector </a:t>
            </a:r>
            <a:r>
              <a:rPr lang="ko-KR" altLang="en-US" dirty="0"/>
              <a:t>를 </a:t>
            </a:r>
            <a:r>
              <a:rPr lang="en-US" altLang="ko-KR" dirty="0"/>
              <a:t>k</a:t>
            </a:r>
            <a:r>
              <a:rPr lang="ko-KR" altLang="en-US" dirty="0"/>
              <a:t>개 찾아 </a:t>
            </a:r>
            <a:r>
              <a:rPr lang="en-US" altLang="ko-KR" dirty="0"/>
              <a:t>LLM </a:t>
            </a:r>
            <a:r>
              <a:rPr lang="ko-KR" altLang="en-US" dirty="0"/>
              <a:t>에 </a:t>
            </a:r>
            <a:r>
              <a:rPr lang="en-US" altLang="ko-KR" dirty="0"/>
              <a:t>input </a:t>
            </a:r>
            <a:r>
              <a:rPr lang="ko-KR" altLang="en-US" dirty="0"/>
              <a:t>으로 함께 보내줌</a:t>
            </a:r>
            <a:endParaRPr lang="en-US" altLang="ko-KR" dirty="0"/>
          </a:p>
          <a:p>
            <a:r>
              <a:rPr lang="ko-KR" altLang="en-US" dirty="0"/>
              <a:t>논문에선 </a:t>
            </a:r>
            <a:r>
              <a:rPr lang="en-US" altLang="ko-KR" dirty="0"/>
              <a:t>vector </a:t>
            </a:r>
            <a:r>
              <a:rPr lang="ko-KR" altLang="en-US" dirty="0"/>
              <a:t>로 했지만</a:t>
            </a:r>
            <a:r>
              <a:rPr lang="en-US" altLang="ko-KR" dirty="0"/>
              <a:t>, </a:t>
            </a:r>
            <a:r>
              <a:rPr lang="ko-KR" altLang="en-US" dirty="0"/>
              <a:t>단지 </a:t>
            </a:r>
            <a:r>
              <a:rPr lang="en-US" altLang="ko-KR" dirty="0"/>
              <a:t>web search </a:t>
            </a:r>
            <a:r>
              <a:rPr lang="ko-KR" altLang="en-US" dirty="0"/>
              <a:t>결과를 붙여도 같은 개념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A3BDB6F-8CA5-263D-2560-22FB69F42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556" y="1707654"/>
            <a:ext cx="7778150" cy="2284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839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100" dirty="0"/>
              <a:t>Rag </a:t>
            </a:r>
            <a:r>
              <a:rPr lang="ko-KR" altLang="en-US" sz="2100" dirty="0"/>
              <a:t>아키텍처</a:t>
            </a:r>
            <a:br>
              <a:rPr lang="en-US" altLang="ko-KR" sz="2100" dirty="0"/>
            </a:br>
            <a:endParaRPr lang="ko-KR" altLang="en-US" sz="2100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80E5FAEB-9242-B93D-C9E5-DBCD46A7852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95290" y="596013"/>
            <a:ext cx="8353424" cy="950838"/>
          </a:xfrm>
        </p:spPr>
        <p:txBody>
          <a:bodyPr/>
          <a:lstStyle/>
          <a:p>
            <a:r>
              <a:rPr lang="en-US" altLang="ko-KR" dirty="0"/>
              <a:t>1) Retrieval – knowledge base embedding</a:t>
            </a:r>
            <a:br>
              <a:rPr lang="en-US" altLang="ko-KR" dirty="0"/>
            </a:br>
            <a:r>
              <a:rPr lang="en-US" altLang="ko-KR" dirty="0"/>
              <a:t>2) Retrieval – retrieve relevant Top-k passages</a:t>
            </a:r>
          </a:p>
          <a:p>
            <a:r>
              <a:rPr lang="en-US" altLang="ko-KR" dirty="0"/>
              <a:t>3) Generator – prompting</a:t>
            </a:r>
          </a:p>
          <a:p>
            <a:r>
              <a:rPr lang="en-US" altLang="ko-KR" dirty="0"/>
              <a:t>4) Generator – generate answer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44961" y="3948388"/>
            <a:ext cx="25801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그리고 대한민국의 월드컵 준결승을 이끌어낸 수비의 핵심 </a:t>
            </a:r>
            <a:r>
              <a:rPr lang="ko-KR" altLang="en-US" sz="900" dirty="0" err="1"/>
              <a:t>홍명보가</a:t>
            </a:r>
            <a:r>
              <a:rPr lang="ko-KR" altLang="en-US" sz="900" dirty="0"/>
              <a:t> 대한민국 선수로는 최초로 월드컵에서 </a:t>
            </a:r>
            <a:r>
              <a:rPr lang="ko-KR" altLang="en-US" sz="900" dirty="0" err="1"/>
              <a:t>브론즈볼을</a:t>
            </a:r>
            <a:r>
              <a:rPr lang="ko-KR" altLang="en-US" sz="900" dirty="0"/>
              <a:t> 수상하는 영광을 얻었다</a:t>
            </a:r>
            <a:r>
              <a:rPr lang="en-US" altLang="ko-KR" sz="900" dirty="0"/>
              <a:t>.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2122" y="4053939"/>
            <a:ext cx="1884010" cy="314002"/>
          </a:xfrm>
          <a:prstGeom prst="rect">
            <a:avLst/>
          </a:prstGeom>
        </p:spPr>
      </p:pic>
      <p:cxnSp>
        <p:nvCxnSpPr>
          <p:cNvPr id="9" name="직선 화살표 연결선 8"/>
          <p:cNvCxnSpPr/>
          <p:nvPr/>
        </p:nvCxnSpPr>
        <p:spPr>
          <a:xfrm>
            <a:off x="2888445" y="4203958"/>
            <a:ext cx="5558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74312" y="3903898"/>
            <a:ext cx="2114681" cy="66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50" dirty="0"/>
              <a:t>[-0.07276187837123871, 0.06431282311677933, </a:t>
            </a:r>
          </a:p>
          <a:p>
            <a:r>
              <a:rPr lang="en-US" altLang="ko-KR" sz="750" dirty="0"/>
              <a:t>-0.6189054250717163, -0.23230254650115967, </a:t>
            </a:r>
          </a:p>
          <a:p>
            <a:r>
              <a:rPr lang="en-US" altLang="ko-KR" sz="750" dirty="0"/>
              <a:t>-0.4149809777736664, 0.9860219955444336, </a:t>
            </a:r>
          </a:p>
          <a:p>
            <a:r>
              <a:rPr lang="en-US" altLang="ko-KR" sz="750" dirty="0"/>
              <a:t>0.3759382963180542, 0.18645648658275604, </a:t>
            </a:r>
          </a:p>
          <a:p>
            <a:r>
              <a:rPr lang="en-US" altLang="ko-KR" sz="750" dirty="0"/>
              <a:t>-0.3096271753311157, ……. ] </a:t>
            </a:r>
            <a:endParaRPr lang="ko-KR" altLang="en-US" sz="750" dirty="0"/>
          </a:p>
        </p:txBody>
      </p:sp>
      <p:cxnSp>
        <p:nvCxnSpPr>
          <p:cNvPr id="13" name="직선 화살표 연결선 12"/>
          <p:cNvCxnSpPr/>
          <p:nvPr/>
        </p:nvCxnSpPr>
        <p:spPr>
          <a:xfrm>
            <a:off x="5592805" y="4199756"/>
            <a:ext cx="5558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050" y="1635646"/>
            <a:ext cx="8533211" cy="2363043"/>
          </a:xfrm>
          <a:prstGeom prst="rect">
            <a:avLst/>
          </a:prstGeom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2D6A60DD-9F3B-3DE0-C5E1-B987264E1490}"/>
              </a:ext>
            </a:extLst>
          </p:cNvPr>
          <p:cNvSpPr/>
          <p:nvPr/>
        </p:nvSpPr>
        <p:spPr>
          <a:xfrm>
            <a:off x="2566156" y="1887674"/>
            <a:ext cx="180000" cy="180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D853EB7-3DDC-FD45-53F5-D31CB3EF2D94}"/>
              </a:ext>
            </a:extLst>
          </p:cNvPr>
          <p:cNvSpPr/>
          <p:nvPr/>
        </p:nvSpPr>
        <p:spPr>
          <a:xfrm>
            <a:off x="2566156" y="2601206"/>
            <a:ext cx="180000" cy="180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D11F9232-B01F-3D7C-9FDD-C1CAC556D975}"/>
              </a:ext>
            </a:extLst>
          </p:cNvPr>
          <p:cNvSpPr/>
          <p:nvPr/>
        </p:nvSpPr>
        <p:spPr>
          <a:xfrm>
            <a:off x="5780754" y="1887674"/>
            <a:ext cx="180000" cy="180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D38337CA-AD0B-C820-2A03-E9A861C9447A}"/>
              </a:ext>
            </a:extLst>
          </p:cNvPr>
          <p:cNvSpPr/>
          <p:nvPr/>
        </p:nvSpPr>
        <p:spPr>
          <a:xfrm>
            <a:off x="7416316" y="1887674"/>
            <a:ext cx="180000" cy="180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414417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15F07-E972-9814-048E-D3D0083CF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1321A2-13EB-2067-6340-9ACDF30D5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Plug-in vs RAG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3FB924-03D8-7880-168E-F0ED4DD3334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95290" y="596013"/>
            <a:ext cx="8353424" cy="497124"/>
          </a:xfrm>
        </p:spPr>
        <p:txBody>
          <a:bodyPr/>
          <a:lstStyle/>
          <a:p>
            <a:r>
              <a:rPr lang="en-US" altLang="ko-KR" sz="1600" dirty="0"/>
              <a:t>- </a:t>
            </a:r>
            <a:r>
              <a:rPr lang="ko-KR" altLang="en-US" sz="1600" dirty="0"/>
              <a:t>플러그인을 통하여 </a:t>
            </a:r>
            <a:r>
              <a:rPr lang="en-US" altLang="ko-KR" sz="1600" dirty="0"/>
              <a:t>LLM</a:t>
            </a:r>
            <a:r>
              <a:rPr lang="ko-KR" altLang="en-US" sz="1600" dirty="0"/>
              <a:t>에게 부족한 지식을 증강</a:t>
            </a:r>
          </a:p>
          <a:p>
            <a:r>
              <a:rPr lang="en-US" altLang="ko-KR" sz="1600" dirty="0"/>
              <a:t>- Retrieval-Augmented Generation (RAG) 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912A4C5-6BF8-788C-DA5E-62BD43C83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560" y="1250993"/>
            <a:ext cx="6632879" cy="330696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5BC0224-53A2-EDA4-38E6-E6BB08A25460}"/>
              </a:ext>
            </a:extLst>
          </p:cNvPr>
          <p:cNvSpPr/>
          <p:nvPr/>
        </p:nvSpPr>
        <p:spPr>
          <a:xfrm>
            <a:off x="4463988" y="4599809"/>
            <a:ext cx="447389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0052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3"/>
              </a:rPr>
              <a:t>https://www.ml6.eu/blogpost/leveraging-llms-on-your-domain-specific-knowledge-base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7567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EA936-5BF1-89A1-0178-078BDC866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65B285-D7C7-BE5E-C7AA-DA810174C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Web search plug-in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22AB2D-87EE-3840-C488-63C54342588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95290" y="596013"/>
            <a:ext cx="8353424" cy="497124"/>
          </a:xfrm>
        </p:spPr>
        <p:txBody>
          <a:bodyPr/>
          <a:lstStyle/>
          <a:p>
            <a:r>
              <a:rPr lang="en-US" altLang="ko-KR" sz="1600" dirty="0"/>
              <a:t>- </a:t>
            </a:r>
            <a:r>
              <a:rPr lang="ko-KR" altLang="en-US" sz="1600" dirty="0"/>
              <a:t>플러그인을 통하여 </a:t>
            </a:r>
            <a:r>
              <a:rPr lang="en-US" altLang="ko-KR" sz="1600" dirty="0"/>
              <a:t>LLM</a:t>
            </a:r>
            <a:r>
              <a:rPr lang="ko-KR" altLang="en-US" sz="1600" dirty="0"/>
              <a:t>에게 부족한 지식을 증강</a:t>
            </a:r>
          </a:p>
          <a:p>
            <a:r>
              <a:rPr lang="en-US" altLang="ko-KR" sz="1600" dirty="0"/>
              <a:t>- Retrieval-Augmented Generation (RAG) </a:t>
            </a: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4E582453-DA52-B8AF-F6C7-4261986FC991}"/>
              </a:ext>
            </a:extLst>
          </p:cNvPr>
          <p:cNvGrpSpPr/>
          <p:nvPr/>
        </p:nvGrpSpPr>
        <p:grpSpPr>
          <a:xfrm>
            <a:off x="576801" y="1747334"/>
            <a:ext cx="7621941" cy="2131326"/>
            <a:chOff x="886146" y="2172943"/>
            <a:chExt cx="6602178" cy="1515313"/>
          </a:xfrm>
        </p:grpSpPr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FD34C0C3-BA06-FF4A-F461-7050E51553DB}"/>
                </a:ext>
              </a:extLst>
            </p:cNvPr>
            <p:cNvCxnSpPr>
              <a:cxnSpLocks/>
            </p:cNvCxnSpPr>
            <p:nvPr/>
          </p:nvCxnSpPr>
          <p:spPr>
            <a:xfrm>
              <a:off x="1475656" y="2710249"/>
              <a:ext cx="9144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7D338D5-E4F4-96C0-4B49-24F6BF9A7142}"/>
                </a:ext>
              </a:extLst>
            </p:cNvPr>
            <p:cNvSpPr txBox="1"/>
            <p:nvPr/>
          </p:nvSpPr>
          <p:spPr>
            <a:xfrm>
              <a:off x="886146" y="2650651"/>
              <a:ext cx="452940" cy="2188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User</a:t>
              </a:r>
              <a:endParaRPr lang="ko-KR" altLang="en-US" sz="20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1251FAD-C0EC-FA1B-B7F6-F2A1E294D1E7}"/>
                </a:ext>
              </a:extLst>
            </p:cNvPr>
            <p:cNvSpPr txBox="1"/>
            <p:nvPr/>
          </p:nvSpPr>
          <p:spPr>
            <a:xfrm>
              <a:off x="1572821" y="2464027"/>
              <a:ext cx="682047" cy="1641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/>
                <a:t>사용자 질의</a:t>
              </a:r>
              <a:endParaRPr lang="ko-KR" altLang="en-US" sz="20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4AAF5F9-F95A-F432-223D-2E04CF36F44E}"/>
                </a:ext>
              </a:extLst>
            </p:cNvPr>
            <p:cNvSpPr txBox="1"/>
            <p:nvPr/>
          </p:nvSpPr>
          <p:spPr>
            <a:xfrm>
              <a:off x="2287226" y="2172943"/>
              <a:ext cx="1248568" cy="2407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dirty="0"/>
                <a:t>LLM</a:t>
              </a:r>
              <a:r>
                <a:rPr lang="ko-KR" altLang="en-US" sz="800" dirty="0"/>
                <a:t>활용 사용자 발화기반</a:t>
              </a:r>
              <a:endParaRPr lang="en-US" altLang="ko-KR" sz="800" dirty="0"/>
            </a:p>
            <a:p>
              <a:pPr algn="ctr"/>
              <a:r>
                <a:rPr lang="en-US" altLang="ko-KR" sz="800" dirty="0"/>
                <a:t>Web search</a:t>
              </a:r>
              <a:r>
                <a:rPr lang="ko-KR" altLang="en-US" sz="800" dirty="0"/>
                <a:t>를 위한 문장생성</a:t>
              </a:r>
              <a:endParaRPr lang="en-US" altLang="ko-KR" sz="800" dirty="0"/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47A1FA5F-1F5C-42F7-57C0-B500EC10DC4A}"/>
                </a:ext>
              </a:extLst>
            </p:cNvPr>
            <p:cNvSpPr/>
            <p:nvPr/>
          </p:nvSpPr>
          <p:spPr>
            <a:xfrm>
              <a:off x="2527357" y="2540977"/>
              <a:ext cx="871824" cy="276987"/>
            </a:xfrm>
            <a:prstGeom prst="roundRect">
              <a:avLst/>
            </a:prstGeom>
            <a:solidFill>
              <a:srgbClr val="DAE8FC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ysClr val="windowText" lastClr="000000"/>
                  </a:solidFill>
                </a:rPr>
                <a:t>Search Query </a:t>
              </a:r>
              <a:r>
                <a:rPr lang="ko-KR" altLang="en-US" sz="1000" dirty="0">
                  <a:solidFill>
                    <a:sysClr val="windowText" lastClr="000000"/>
                  </a:solidFill>
                </a:rPr>
                <a:t>생성</a:t>
              </a:r>
            </a:p>
          </p:txBody>
        </p: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13A14E8D-1892-141A-51ED-0556643FD4CD}"/>
                </a:ext>
              </a:extLst>
            </p:cNvPr>
            <p:cNvCxnSpPr>
              <a:cxnSpLocks/>
            </p:cNvCxnSpPr>
            <p:nvPr/>
          </p:nvCxnSpPr>
          <p:spPr>
            <a:xfrm>
              <a:off x="3527884" y="2658998"/>
              <a:ext cx="269187" cy="26030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E902B2A8-FFA4-12D2-D046-DD46F8B6FD6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539944" y="2380695"/>
              <a:ext cx="269187" cy="26030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F3EC6490-0A18-21CE-4C7C-1C236E42A6E2}"/>
                </a:ext>
              </a:extLst>
            </p:cNvPr>
            <p:cNvSpPr/>
            <p:nvPr/>
          </p:nvSpPr>
          <p:spPr>
            <a:xfrm>
              <a:off x="2441507" y="3395175"/>
              <a:ext cx="871824" cy="276987"/>
            </a:xfrm>
            <a:prstGeom prst="roundRect">
              <a:avLst/>
            </a:prstGeom>
            <a:solidFill>
              <a:srgbClr val="DAE8FC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00" dirty="0">
                  <a:solidFill>
                    <a:sysClr val="windowText" lastClr="000000"/>
                  </a:solidFill>
                </a:rPr>
                <a:t>내용 정리</a:t>
              </a:r>
              <a:endParaRPr lang="en-US" altLang="ko-KR" sz="10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ysClr val="windowText" lastClr="000000"/>
                  </a:solidFill>
                </a:rPr>
                <a:t>최종답변 생성</a:t>
              </a: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E91CD87F-6716-5120-C623-EDDB07C9A96B}"/>
                </a:ext>
              </a:extLst>
            </p:cNvPr>
            <p:cNvSpPr/>
            <p:nvPr/>
          </p:nvSpPr>
          <p:spPr>
            <a:xfrm>
              <a:off x="4031940" y="2195803"/>
              <a:ext cx="432048" cy="2691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900" dirty="0">
                  <a:solidFill>
                    <a:sysClr val="windowText" lastClr="000000"/>
                  </a:solidFill>
                </a:rPr>
                <a:t>Web query_1</a:t>
              </a:r>
              <a:endParaRPr lang="ko-KR" altLang="en-US" sz="9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B5B482C5-90E1-A984-51CC-57E94D914B48}"/>
                </a:ext>
              </a:extLst>
            </p:cNvPr>
            <p:cNvSpPr/>
            <p:nvPr/>
          </p:nvSpPr>
          <p:spPr>
            <a:xfrm>
              <a:off x="4031940" y="2577608"/>
              <a:ext cx="432048" cy="2691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900" dirty="0">
                  <a:solidFill>
                    <a:sysClr val="windowText" lastClr="000000"/>
                  </a:solidFill>
                </a:rPr>
                <a:t>Web query_1</a:t>
              </a:r>
              <a:endParaRPr lang="ko-KR" altLang="en-US" sz="9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43285957-0E60-12FA-CF55-7C1402298804}"/>
                </a:ext>
              </a:extLst>
            </p:cNvPr>
            <p:cNvSpPr/>
            <p:nvPr/>
          </p:nvSpPr>
          <p:spPr>
            <a:xfrm>
              <a:off x="4031568" y="2959413"/>
              <a:ext cx="432048" cy="2691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900" dirty="0">
                  <a:solidFill>
                    <a:sysClr val="windowText" lastClr="000000"/>
                  </a:solidFill>
                </a:rPr>
                <a:t>Web query_1</a:t>
              </a:r>
              <a:endParaRPr lang="ko-KR" altLang="en-US" sz="9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89A42446-81EB-ECA4-52D9-8C70F90431F7}"/>
                </a:ext>
              </a:extLst>
            </p:cNvPr>
            <p:cNvSpPr/>
            <p:nvPr/>
          </p:nvSpPr>
          <p:spPr>
            <a:xfrm>
              <a:off x="3694676" y="3419068"/>
              <a:ext cx="1080120" cy="2691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900" dirty="0">
                  <a:solidFill>
                    <a:sysClr val="windowText" lastClr="000000"/>
                  </a:solidFill>
                </a:rPr>
                <a:t>글자 수</a:t>
              </a:r>
              <a:r>
                <a:rPr lang="en-US" altLang="ko-KR" sz="900" dirty="0">
                  <a:solidFill>
                    <a:sysClr val="windowText" lastClr="000000"/>
                  </a:solidFill>
                </a:rPr>
                <a:t>(context length)</a:t>
              </a:r>
              <a:r>
                <a:rPr lang="ko-KR" altLang="en-US" sz="900" dirty="0">
                  <a:solidFill>
                    <a:sysClr val="windowText" lastClr="000000"/>
                  </a:solidFill>
                </a:rPr>
                <a:t> </a:t>
              </a:r>
              <a:r>
                <a:rPr lang="en-US" altLang="ko-KR" sz="900" dirty="0">
                  <a:solidFill>
                    <a:sysClr val="windowText" lastClr="000000"/>
                  </a:solidFill>
                </a:rPr>
                <a:t>validation</a:t>
              </a:r>
              <a:endParaRPr lang="ko-KR" altLang="en-US" sz="9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8ACF06D8-B023-6ADE-C173-8F823237BEAA}"/>
                </a:ext>
              </a:extLst>
            </p:cNvPr>
            <p:cNvSpPr/>
            <p:nvPr/>
          </p:nvSpPr>
          <p:spPr>
            <a:xfrm>
              <a:off x="7056276" y="2577608"/>
              <a:ext cx="432048" cy="2691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900" dirty="0" err="1">
                  <a:solidFill>
                    <a:sysClr val="windowText" lastClr="000000"/>
                  </a:solidFill>
                </a:rPr>
                <a:t>Tavily</a:t>
              </a:r>
              <a:endParaRPr lang="ko-KR" altLang="en-US" sz="900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E719702A-121B-A5D2-2347-1B30AAC194FA}"/>
                </a:ext>
              </a:extLst>
            </p:cNvPr>
            <p:cNvCxnSpPr>
              <a:cxnSpLocks/>
            </p:cNvCxnSpPr>
            <p:nvPr/>
          </p:nvCxnSpPr>
          <p:spPr>
            <a:xfrm>
              <a:off x="4824248" y="2590938"/>
              <a:ext cx="198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연결선: 꺾임 32">
              <a:extLst>
                <a:ext uri="{FF2B5EF4-FFF2-40B4-BE49-F238E27FC236}">
                  <a16:creationId xmlns:a16="http://schemas.microsoft.com/office/drawing/2014/main" id="{C074C79A-28FB-0675-1E18-54A5CACED917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4927719" y="2817964"/>
              <a:ext cx="1876528" cy="735698"/>
            </a:xfrm>
            <a:prstGeom prst="bentConnector3">
              <a:avLst>
                <a:gd name="adj1" fmla="val 85328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A32150F-CF66-2DD7-3290-DCDEA93A73A2}"/>
                </a:ext>
              </a:extLst>
            </p:cNvPr>
            <p:cNvSpPr txBox="1"/>
            <p:nvPr/>
          </p:nvSpPr>
          <p:spPr>
            <a:xfrm>
              <a:off x="5335061" y="2687136"/>
              <a:ext cx="1188861" cy="4157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800" dirty="0"/>
                <a:t>검색결과 </a:t>
              </a:r>
              <a:r>
                <a:rPr lang="en-US" altLang="ko-KR" sz="800" dirty="0"/>
                <a:t>site content</a:t>
              </a:r>
            </a:p>
            <a:p>
              <a:pPr algn="ctr"/>
              <a:endParaRPr lang="en-US" altLang="ko-KR" sz="800" dirty="0"/>
            </a:p>
            <a:p>
              <a:pPr algn="ctr"/>
              <a:r>
                <a:rPr lang="ko-KR" altLang="en-US" sz="800" dirty="0"/>
                <a:t>리턴 </a:t>
              </a:r>
              <a:r>
                <a:rPr lang="en-US" altLang="ko-KR" sz="800" dirty="0"/>
                <a:t>site </a:t>
              </a:r>
              <a:r>
                <a:rPr lang="ko-KR" altLang="en-US" sz="800" dirty="0" err="1"/>
                <a:t>수설정</a:t>
              </a:r>
              <a:endParaRPr lang="en-US" altLang="ko-KR" sz="800" dirty="0"/>
            </a:p>
            <a:p>
              <a:pPr algn="ctr"/>
              <a:r>
                <a:rPr lang="en-US" altLang="ko-KR" sz="800" dirty="0"/>
                <a:t>Raw content </a:t>
              </a:r>
              <a:r>
                <a:rPr lang="ko-KR" altLang="en-US" sz="800" dirty="0" err="1"/>
                <a:t>리턴여부</a:t>
              </a:r>
              <a:r>
                <a:rPr lang="ko-KR" altLang="en-US" sz="800" dirty="0"/>
                <a:t> 설정</a:t>
              </a:r>
              <a:endParaRPr lang="en-US" altLang="ko-KR" sz="800" dirty="0"/>
            </a:p>
          </p:txBody>
        </p:sp>
        <p:cxnSp>
          <p:nvCxnSpPr>
            <p:cNvPr id="38" name="직선 화살표 연결선 37">
              <a:extLst>
                <a:ext uri="{FF2B5EF4-FFF2-40B4-BE49-F238E27FC236}">
                  <a16:creationId xmlns:a16="http://schemas.microsoft.com/office/drawing/2014/main" id="{D1510B8E-9374-79AF-3F24-AACC0345CF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68841" y="3553663"/>
              <a:ext cx="18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연결선: 꺾임 39">
              <a:extLst>
                <a:ext uri="{FF2B5EF4-FFF2-40B4-BE49-F238E27FC236}">
                  <a16:creationId xmlns:a16="http://schemas.microsoft.com/office/drawing/2014/main" id="{49747EE4-B1AD-7D93-5169-9CFAA24E7E7E}"/>
                </a:ext>
              </a:extLst>
            </p:cNvPr>
            <p:cNvCxnSpPr>
              <a:cxnSpLocks/>
              <a:stCxn id="24" idx="1"/>
            </p:cNvCxnSpPr>
            <p:nvPr/>
          </p:nvCxnSpPr>
          <p:spPr>
            <a:xfrm rot="10800000">
              <a:off x="1624213" y="2859353"/>
              <a:ext cx="817294" cy="674317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095D186-7EC6-B3E2-87BF-4AF5CB19D908}"/>
                </a:ext>
              </a:extLst>
            </p:cNvPr>
            <p:cNvSpPr txBox="1"/>
            <p:nvPr/>
          </p:nvSpPr>
          <p:spPr>
            <a:xfrm>
              <a:off x="1818812" y="3088790"/>
              <a:ext cx="582073" cy="1641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/>
                <a:t>최종 답변</a:t>
              </a:r>
              <a:endParaRPr lang="ko-KR" altLang="en-US" sz="2000" dirty="0"/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9B0AC100-923D-AA61-A679-096D0DDCFC65}"/>
              </a:ext>
            </a:extLst>
          </p:cNvPr>
          <p:cNvSpPr txBox="1"/>
          <p:nvPr/>
        </p:nvSpPr>
        <p:spPr>
          <a:xfrm>
            <a:off x="2513433" y="2580244"/>
            <a:ext cx="987768" cy="273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dirty="0">
                <a:latin typeface="+mn-ea"/>
              </a:rPr>
              <a:t>Query Rewrite</a:t>
            </a:r>
          </a:p>
        </p:txBody>
      </p:sp>
    </p:spTree>
    <p:extLst>
      <p:ext uri="{BB962C8B-B14F-4D97-AF65-F5344CB8AC3E}">
        <p14:creationId xmlns:p14="http://schemas.microsoft.com/office/powerpoint/2010/main" val="37472045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95288" y="1221912"/>
            <a:ext cx="8353426" cy="1962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50" dirty="0">
                <a:latin typeface="+mn-ea"/>
              </a:rPr>
              <a:t>Query Rewrite </a:t>
            </a:r>
          </a:p>
          <a:p>
            <a:r>
              <a:rPr lang="ko-KR" altLang="en-US" sz="1350" dirty="0">
                <a:latin typeface="+mn-ea"/>
              </a:rPr>
              <a:t>예시</a:t>
            </a:r>
            <a:r>
              <a:rPr lang="en-US" altLang="ko-KR" sz="1350" dirty="0">
                <a:latin typeface="+mn-ea"/>
              </a:rPr>
              <a:t>)  </a:t>
            </a:r>
          </a:p>
          <a:p>
            <a:endParaRPr lang="en-US" altLang="ko-KR" sz="1350" dirty="0">
              <a:latin typeface="+mn-ea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ko-KR" altLang="en-US" sz="1350" dirty="0">
                <a:latin typeface="+mn-ea"/>
              </a:rPr>
              <a:t>사용자 질의</a:t>
            </a:r>
            <a:r>
              <a:rPr lang="en-US" altLang="ko-KR" sz="1350" dirty="0">
                <a:latin typeface="+mn-ea"/>
              </a:rPr>
              <a:t>: </a:t>
            </a:r>
            <a:r>
              <a:rPr lang="en-US" altLang="ko-KR" sz="1350" dirty="0">
                <a:solidFill>
                  <a:srgbClr val="2A8EFA"/>
                </a:solidFill>
                <a:latin typeface="+mn-ea"/>
              </a:rPr>
              <a:t>K-</a:t>
            </a:r>
            <a:r>
              <a:rPr lang="ko-KR" altLang="en-US" sz="1350" dirty="0">
                <a:solidFill>
                  <a:srgbClr val="2A8EFA"/>
                </a:solidFill>
                <a:latin typeface="+mn-ea"/>
              </a:rPr>
              <a:t>패스가 뭐야</a:t>
            </a:r>
            <a:r>
              <a:rPr lang="en-US" altLang="ko-KR" sz="1350" dirty="0">
                <a:solidFill>
                  <a:srgbClr val="2A8EFA"/>
                </a:solidFill>
                <a:latin typeface="+mn-ea"/>
              </a:rPr>
              <a:t>?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ko-KR" altLang="en-US" sz="1350" dirty="0">
                <a:latin typeface="+mn-ea"/>
              </a:rPr>
              <a:t>추출된 키워드</a:t>
            </a:r>
            <a:r>
              <a:rPr lang="en-US" altLang="ko-KR" sz="1350" dirty="0">
                <a:latin typeface="+mn-ea"/>
              </a:rPr>
              <a:t>: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ko-KR" altLang="en-US" sz="1350" dirty="0">
                <a:latin typeface="+mn-ea"/>
              </a:rPr>
              <a:t>기본 쿼리</a:t>
            </a:r>
            <a:r>
              <a:rPr lang="en-US" altLang="ko-KR" sz="1350" dirty="0">
                <a:latin typeface="+mn-ea"/>
              </a:rPr>
              <a:t>: </a:t>
            </a:r>
            <a:r>
              <a:rPr lang="en-US" altLang="ko-KR" sz="1350" dirty="0">
                <a:solidFill>
                  <a:srgbClr val="2A8EFA"/>
                </a:solidFill>
                <a:latin typeface="+mn-ea"/>
              </a:rPr>
              <a:t>K</a:t>
            </a:r>
            <a:r>
              <a:rPr lang="ko-KR" altLang="en-US" sz="1350" dirty="0">
                <a:solidFill>
                  <a:srgbClr val="2A8EFA"/>
                </a:solidFill>
                <a:latin typeface="+mn-ea"/>
              </a:rPr>
              <a:t>패스</a:t>
            </a:r>
            <a:endParaRPr lang="en-US" altLang="ko-KR" sz="1350" dirty="0">
              <a:solidFill>
                <a:srgbClr val="2A8EFA"/>
              </a:solidFill>
              <a:latin typeface="+mn-ea"/>
            </a:endParaRP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ko-KR" altLang="en-US" sz="1350" dirty="0">
                <a:latin typeface="+mn-ea"/>
              </a:rPr>
              <a:t>확장 쿼리</a:t>
            </a:r>
            <a:r>
              <a:rPr lang="en-US" altLang="ko-KR" sz="1350" dirty="0">
                <a:latin typeface="+mn-ea"/>
              </a:rPr>
              <a:t>: </a:t>
            </a:r>
            <a:r>
              <a:rPr lang="en-US" altLang="ko-KR" sz="1350" dirty="0">
                <a:solidFill>
                  <a:srgbClr val="2A8EFA"/>
                </a:solidFill>
                <a:latin typeface="+mn-ea"/>
              </a:rPr>
              <a:t>K</a:t>
            </a:r>
            <a:r>
              <a:rPr lang="ko-KR" altLang="en-US" sz="1350" dirty="0">
                <a:solidFill>
                  <a:srgbClr val="2A8EFA"/>
                </a:solidFill>
                <a:latin typeface="+mn-ea"/>
              </a:rPr>
              <a:t>패스</a:t>
            </a:r>
            <a:r>
              <a:rPr lang="en-US" altLang="ko-KR" sz="1350" dirty="0">
                <a:solidFill>
                  <a:srgbClr val="2A8EFA"/>
                </a:solidFill>
                <a:latin typeface="+mn-ea"/>
              </a:rPr>
              <a:t>,</a:t>
            </a:r>
            <a:r>
              <a:rPr lang="ko-KR" altLang="en-US" sz="1350" dirty="0">
                <a:solidFill>
                  <a:srgbClr val="2A8EFA"/>
                </a:solidFill>
                <a:latin typeface="+mn-ea"/>
              </a:rPr>
              <a:t> </a:t>
            </a:r>
            <a:r>
              <a:rPr lang="en-US" altLang="ko-KR" sz="1350" dirty="0">
                <a:solidFill>
                  <a:srgbClr val="2A8EFA"/>
                </a:solidFill>
                <a:latin typeface="+mn-ea"/>
              </a:rPr>
              <a:t>K-</a:t>
            </a:r>
            <a:r>
              <a:rPr lang="ko-KR" altLang="en-US" sz="1350" dirty="0">
                <a:solidFill>
                  <a:srgbClr val="2A8EFA"/>
                </a:solidFill>
                <a:latin typeface="+mn-ea"/>
              </a:rPr>
              <a:t>패스의 정의</a:t>
            </a:r>
            <a:r>
              <a:rPr lang="en-US" altLang="ko-KR" sz="1350" dirty="0">
                <a:solidFill>
                  <a:srgbClr val="2A8EFA"/>
                </a:solidFill>
                <a:latin typeface="+mn-ea"/>
              </a:rPr>
              <a:t>,</a:t>
            </a:r>
            <a:r>
              <a:rPr lang="ko-KR" altLang="en-US" sz="1350" dirty="0">
                <a:solidFill>
                  <a:srgbClr val="2A8EFA"/>
                </a:solidFill>
                <a:latin typeface="+mn-ea"/>
              </a:rPr>
              <a:t> </a:t>
            </a:r>
            <a:r>
              <a:rPr lang="en-US" altLang="ko-KR" sz="1350" dirty="0">
                <a:solidFill>
                  <a:srgbClr val="2A8EFA"/>
                </a:solidFill>
                <a:latin typeface="+mn-ea"/>
              </a:rPr>
              <a:t>K-</a:t>
            </a:r>
            <a:r>
              <a:rPr lang="ko-KR" altLang="en-US" sz="1350" dirty="0">
                <a:solidFill>
                  <a:srgbClr val="2A8EFA"/>
                </a:solidFill>
                <a:latin typeface="+mn-ea"/>
              </a:rPr>
              <a:t>패스의 사용처</a:t>
            </a:r>
            <a:r>
              <a:rPr lang="en-US" altLang="ko-KR" sz="1350" dirty="0">
                <a:solidFill>
                  <a:srgbClr val="2A8EFA"/>
                </a:solidFill>
                <a:latin typeface="+mn-ea"/>
              </a:rPr>
              <a:t>,</a:t>
            </a:r>
            <a:r>
              <a:rPr lang="ko-KR" altLang="en-US" sz="1350" dirty="0">
                <a:solidFill>
                  <a:srgbClr val="2A8EFA"/>
                </a:solidFill>
                <a:latin typeface="+mn-ea"/>
              </a:rPr>
              <a:t> </a:t>
            </a:r>
            <a:r>
              <a:rPr lang="en-US" altLang="ko-KR" sz="1350" dirty="0">
                <a:solidFill>
                  <a:srgbClr val="2A8EFA"/>
                </a:solidFill>
                <a:latin typeface="+mn-ea"/>
              </a:rPr>
              <a:t>K-</a:t>
            </a:r>
            <a:r>
              <a:rPr lang="ko-KR" altLang="en-US" sz="1350" dirty="0">
                <a:solidFill>
                  <a:srgbClr val="2A8EFA"/>
                </a:solidFill>
                <a:latin typeface="+mn-ea"/>
              </a:rPr>
              <a:t>패스의 기능</a:t>
            </a:r>
            <a:endParaRPr lang="en-US" altLang="ko-KR" sz="1350" dirty="0">
              <a:solidFill>
                <a:srgbClr val="2A8EFA"/>
              </a:solidFill>
              <a:latin typeface="+mn-ea"/>
            </a:endParaRP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ko-KR" altLang="en-US" sz="1350" dirty="0">
                <a:latin typeface="+mn-ea"/>
              </a:rPr>
              <a:t>검색 엔진용 최적화된 쿼리</a:t>
            </a:r>
            <a:r>
              <a:rPr lang="en-US" altLang="ko-KR" sz="1350" dirty="0">
                <a:latin typeface="+mn-ea"/>
              </a:rPr>
              <a:t>: </a:t>
            </a:r>
            <a:r>
              <a:rPr lang="en-US" altLang="ko-KR" sz="1350" dirty="0">
                <a:solidFill>
                  <a:srgbClr val="2A8EFA"/>
                </a:solidFill>
                <a:latin typeface="+mn-ea"/>
              </a:rPr>
              <a:t>K</a:t>
            </a:r>
            <a:r>
              <a:rPr lang="ko-KR" altLang="en-US" sz="1350" dirty="0">
                <a:solidFill>
                  <a:srgbClr val="2A8EFA"/>
                </a:solidFill>
                <a:latin typeface="+mn-ea"/>
              </a:rPr>
              <a:t>패스의 정의와 기능</a:t>
            </a:r>
            <a:endParaRPr lang="en-US" altLang="ko-KR" sz="1350" dirty="0">
              <a:solidFill>
                <a:srgbClr val="2A8EFA"/>
              </a:solidFill>
              <a:latin typeface="+mn-ea"/>
            </a:endParaRPr>
          </a:p>
          <a:p>
            <a:endParaRPr lang="en-US" altLang="ko-KR" sz="1350" dirty="0">
              <a:latin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01EF4FD-6469-2E6F-A17C-046E1C379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Query Rewrite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010F4F-76F2-E096-590F-4C5A07AF522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95290" y="596013"/>
            <a:ext cx="8353424" cy="248017"/>
          </a:xfrm>
        </p:spPr>
        <p:txBody>
          <a:bodyPr/>
          <a:lstStyle/>
          <a:p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사용자 질의 기반으로 검색에 적합한 검색어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검색 문장을 재 생성하여 검색어로 활용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1899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1C2D8-9DC0-0F00-364E-00147A875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BA81A079-74D7-34E6-9E08-912E5AA96881}"/>
              </a:ext>
            </a:extLst>
          </p:cNvPr>
          <p:cNvSpPr/>
          <p:nvPr/>
        </p:nvSpPr>
        <p:spPr>
          <a:xfrm>
            <a:off x="5442941" y="2117756"/>
            <a:ext cx="2291723" cy="1276562"/>
          </a:xfrm>
          <a:prstGeom prst="round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67F0400-982B-A15F-EE21-9A07AFAC3CBA}"/>
              </a:ext>
            </a:extLst>
          </p:cNvPr>
          <p:cNvSpPr/>
          <p:nvPr/>
        </p:nvSpPr>
        <p:spPr>
          <a:xfrm>
            <a:off x="4283968" y="1887674"/>
            <a:ext cx="815680" cy="165794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E2B1A61-410E-EA76-3144-9844546B4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Deep Research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6C13B3-34E9-3577-8EC7-7FEC723D491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95290" y="596013"/>
            <a:ext cx="8353424" cy="497124"/>
          </a:xfrm>
        </p:spPr>
        <p:txBody>
          <a:bodyPr/>
          <a:lstStyle/>
          <a:p>
            <a:r>
              <a:rPr lang="en-US" altLang="ko-KR" sz="1600" dirty="0"/>
              <a:t>- </a:t>
            </a:r>
            <a:r>
              <a:rPr lang="ko-KR" altLang="en-US" sz="1600" dirty="0"/>
              <a:t>플러그인을 통하여 </a:t>
            </a:r>
            <a:r>
              <a:rPr lang="en-US" altLang="ko-KR" sz="1600" dirty="0"/>
              <a:t>LLM</a:t>
            </a:r>
            <a:r>
              <a:rPr lang="ko-KR" altLang="en-US" sz="1600" dirty="0"/>
              <a:t>에게 부족한 지식을 증강</a:t>
            </a:r>
          </a:p>
          <a:p>
            <a:r>
              <a:rPr lang="en-US" altLang="ko-KR" sz="1600" dirty="0"/>
              <a:t>- Retrieval-Augmented Generation (RAG) 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1019CC8-CAB5-99A8-4BDE-7F143C43F84C}"/>
              </a:ext>
            </a:extLst>
          </p:cNvPr>
          <p:cNvSpPr/>
          <p:nvPr/>
        </p:nvSpPr>
        <p:spPr>
          <a:xfrm>
            <a:off x="7949351" y="1601018"/>
            <a:ext cx="498782" cy="37862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900" dirty="0" err="1">
                <a:solidFill>
                  <a:sysClr val="windowText" lastClr="000000"/>
                </a:solidFill>
              </a:rPr>
              <a:t>Tavily</a:t>
            </a:r>
            <a:endParaRPr lang="ko-KR" altLang="en-US" sz="900" dirty="0">
              <a:solidFill>
                <a:sysClr val="windowText" lastClr="000000"/>
              </a:solidFill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3CD3DB9B-EDF1-DB3E-3BEA-C77EF260D07A}"/>
              </a:ext>
            </a:extLst>
          </p:cNvPr>
          <p:cNvCxnSpPr>
            <a:cxnSpLocks/>
          </p:cNvCxnSpPr>
          <p:nvPr/>
        </p:nvCxnSpPr>
        <p:spPr>
          <a:xfrm>
            <a:off x="1138799" y="2767311"/>
            <a:ext cx="8717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D2FB501-8BF2-BE22-D83C-8CBFD8851E90}"/>
              </a:ext>
            </a:extLst>
          </p:cNvPr>
          <p:cNvSpPr txBox="1"/>
          <p:nvPr/>
        </p:nvSpPr>
        <p:spPr>
          <a:xfrm>
            <a:off x="576801" y="2699588"/>
            <a:ext cx="4976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User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8A630F-D2E8-3DD6-0DC3-25B141F14899}"/>
              </a:ext>
            </a:extLst>
          </p:cNvPr>
          <p:cNvSpPr txBox="1"/>
          <p:nvPr/>
        </p:nvSpPr>
        <p:spPr>
          <a:xfrm>
            <a:off x="1231429" y="2487520"/>
            <a:ext cx="75471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사용자 질의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6DB6E8-51B8-D33D-C1AC-04826D4C0165}"/>
              </a:ext>
            </a:extLst>
          </p:cNvPr>
          <p:cNvSpPr txBox="1"/>
          <p:nvPr/>
        </p:nvSpPr>
        <p:spPr>
          <a:xfrm>
            <a:off x="1832897" y="2156750"/>
            <a:ext cx="13494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00" dirty="0"/>
              <a:t>LLM</a:t>
            </a:r>
            <a:r>
              <a:rPr lang="ko-KR" altLang="en-US" sz="700" dirty="0"/>
              <a:t>활용 사용자 발화기반</a:t>
            </a:r>
            <a:endParaRPr lang="en-US" altLang="ko-KR" sz="700" dirty="0"/>
          </a:p>
          <a:p>
            <a:pPr algn="ctr"/>
            <a:r>
              <a:rPr lang="en-US" altLang="ko-KR" sz="700" dirty="0"/>
              <a:t>Web search</a:t>
            </a:r>
            <a:r>
              <a:rPr lang="ko-KR" altLang="en-US" sz="700" dirty="0"/>
              <a:t>를 위한 문장생성</a:t>
            </a:r>
            <a:endParaRPr lang="en-US" altLang="ko-KR" sz="700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D9FC7A6A-A367-01D9-E238-40518340D385}"/>
              </a:ext>
            </a:extLst>
          </p:cNvPr>
          <p:cNvSpPr/>
          <p:nvPr/>
        </p:nvSpPr>
        <p:spPr>
          <a:xfrm>
            <a:off x="2141416" y="2574961"/>
            <a:ext cx="831136" cy="314751"/>
          </a:xfrm>
          <a:prstGeom prst="roundRect">
            <a:avLst/>
          </a:prstGeom>
          <a:solidFill>
            <a:srgbClr val="DAE8FC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ysClr val="windowText" lastClr="000000"/>
                </a:solidFill>
              </a:rPr>
              <a:t>Planning</a:t>
            </a:r>
          </a:p>
          <a:p>
            <a:pPr algn="ctr"/>
            <a:r>
              <a:rPr lang="ko-KR" altLang="en-US" sz="900" dirty="0">
                <a:solidFill>
                  <a:sysClr val="windowText" lastClr="000000"/>
                </a:solidFill>
              </a:rPr>
              <a:t>생성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5A7BB978-AADC-E60E-E198-DDC28686A5AA}"/>
              </a:ext>
            </a:extLst>
          </p:cNvPr>
          <p:cNvCxnSpPr>
            <a:cxnSpLocks/>
          </p:cNvCxnSpPr>
          <p:nvPr/>
        </p:nvCxnSpPr>
        <p:spPr>
          <a:xfrm>
            <a:off x="3095249" y="2709073"/>
            <a:ext cx="256624" cy="295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34828F5D-A457-EB83-9F42-0EC49859808F}"/>
              </a:ext>
            </a:extLst>
          </p:cNvPr>
          <p:cNvCxnSpPr>
            <a:cxnSpLocks/>
          </p:cNvCxnSpPr>
          <p:nvPr/>
        </p:nvCxnSpPr>
        <p:spPr>
          <a:xfrm rot="16200000">
            <a:off x="3082114" y="2416646"/>
            <a:ext cx="305887" cy="2481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69B69621-5009-9DC9-4592-B77E03E6273D}"/>
              </a:ext>
            </a:extLst>
          </p:cNvPr>
          <p:cNvSpPr/>
          <p:nvPr/>
        </p:nvSpPr>
        <p:spPr>
          <a:xfrm>
            <a:off x="2059573" y="3545620"/>
            <a:ext cx="831136" cy="314751"/>
          </a:xfrm>
          <a:prstGeom prst="roundRect">
            <a:avLst/>
          </a:prstGeom>
          <a:solidFill>
            <a:srgbClr val="DAE8FC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900" dirty="0">
                <a:solidFill>
                  <a:sysClr val="windowText" lastClr="000000"/>
                </a:solidFill>
              </a:rPr>
              <a:t>내용 정리</a:t>
            </a:r>
            <a:endParaRPr lang="en-US" altLang="ko-KR" sz="900" dirty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sz="900" dirty="0">
                <a:solidFill>
                  <a:sysClr val="windowText" lastClr="000000"/>
                </a:solidFill>
              </a:rPr>
              <a:t>최종답변 생성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75DD89A-17AF-8AED-48D1-9004AC0092F0}"/>
              </a:ext>
            </a:extLst>
          </p:cNvPr>
          <p:cNvSpPr/>
          <p:nvPr/>
        </p:nvSpPr>
        <p:spPr>
          <a:xfrm>
            <a:off x="3497563" y="2182727"/>
            <a:ext cx="490103" cy="305889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dirty="0">
                <a:solidFill>
                  <a:sysClr val="windowText" lastClr="000000"/>
                </a:solidFill>
              </a:rPr>
              <a:t>Session_1</a:t>
            </a:r>
            <a:endParaRPr lang="ko-KR" altLang="en-US" sz="800" dirty="0">
              <a:solidFill>
                <a:sysClr val="windowText" lastClr="000000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8053282-CD28-02D6-DDD5-8ADABF37DDBB}"/>
              </a:ext>
            </a:extLst>
          </p:cNvPr>
          <p:cNvSpPr/>
          <p:nvPr/>
        </p:nvSpPr>
        <p:spPr>
          <a:xfrm>
            <a:off x="3497563" y="2616587"/>
            <a:ext cx="490103" cy="305889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dirty="0">
                <a:solidFill>
                  <a:sysClr val="windowText" lastClr="000000"/>
                </a:solidFill>
              </a:rPr>
              <a:t>Session_2</a:t>
            </a:r>
            <a:endParaRPr lang="ko-KR" altLang="en-US" sz="800" dirty="0">
              <a:solidFill>
                <a:sysClr val="windowText" lastClr="000000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A7110A1-1821-5746-B3CA-CD32240464DB}"/>
              </a:ext>
            </a:extLst>
          </p:cNvPr>
          <p:cNvSpPr/>
          <p:nvPr/>
        </p:nvSpPr>
        <p:spPr>
          <a:xfrm>
            <a:off x="3497563" y="3050446"/>
            <a:ext cx="489748" cy="305889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dirty="0">
                <a:solidFill>
                  <a:sysClr val="windowText" lastClr="000000"/>
                </a:solidFill>
              </a:rPr>
              <a:t>Session_3</a:t>
            </a:r>
            <a:endParaRPr lang="ko-KR" altLang="en-US" sz="800" dirty="0">
              <a:solidFill>
                <a:sysClr val="windowText" lastClr="000000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2476FB3-E79D-DFFF-5BA1-E55002AB56BB}"/>
              </a:ext>
            </a:extLst>
          </p:cNvPr>
          <p:cNvSpPr/>
          <p:nvPr/>
        </p:nvSpPr>
        <p:spPr>
          <a:xfrm>
            <a:off x="3254257" y="3572770"/>
            <a:ext cx="1029711" cy="305889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</a:rPr>
              <a:t>글자 수</a:t>
            </a:r>
            <a:r>
              <a:rPr lang="en-US" altLang="ko-KR" sz="800" dirty="0">
                <a:solidFill>
                  <a:sysClr val="windowText" lastClr="000000"/>
                </a:solidFill>
              </a:rPr>
              <a:t>(context length)</a:t>
            </a:r>
            <a:r>
              <a:rPr lang="ko-KR" altLang="en-US" sz="800" dirty="0">
                <a:solidFill>
                  <a:sysClr val="windowText" lastClr="000000"/>
                </a:solidFill>
              </a:rPr>
              <a:t> </a:t>
            </a:r>
            <a:r>
              <a:rPr lang="en-US" altLang="ko-KR" sz="800" dirty="0">
                <a:solidFill>
                  <a:sysClr val="windowText" lastClr="000000"/>
                </a:solidFill>
              </a:rPr>
              <a:t>validation</a:t>
            </a:r>
            <a:endParaRPr lang="ko-KR" altLang="en-US" sz="800" dirty="0">
              <a:solidFill>
                <a:sysClr val="windowText" lastClr="000000"/>
              </a:solidFill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FE4C6327-AF6B-3C2B-45A0-3C9BB544D4D2}"/>
              </a:ext>
            </a:extLst>
          </p:cNvPr>
          <p:cNvCxnSpPr>
            <a:cxnSpLocks/>
          </p:cNvCxnSpPr>
          <p:nvPr/>
        </p:nvCxnSpPr>
        <p:spPr>
          <a:xfrm flipH="1">
            <a:off x="2943629" y="3725716"/>
            <a:ext cx="171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6C1F7677-603B-3F34-375A-A044D7DF9173}"/>
              </a:ext>
            </a:extLst>
          </p:cNvPr>
          <p:cNvCxnSpPr>
            <a:cxnSpLocks/>
            <a:stCxn id="24" idx="1"/>
          </p:cNvCxnSpPr>
          <p:nvPr/>
        </p:nvCxnSpPr>
        <p:spPr>
          <a:xfrm rot="10800000">
            <a:off x="1280423" y="2936744"/>
            <a:ext cx="779151" cy="76625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AF827E33-44E6-08CD-BDAC-F729F2B4090D}"/>
              </a:ext>
            </a:extLst>
          </p:cNvPr>
          <p:cNvSpPr txBox="1"/>
          <p:nvPr/>
        </p:nvSpPr>
        <p:spPr>
          <a:xfrm>
            <a:off x="1465938" y="3197463"/>
            <a:ext cx="6471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/>
              <a:t>최종 답변</a:t>
            </a:r>
            <a:endParaRPr lang="ko-KR" alt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5B78BC6-9195-8DC5-C616-AA2E7901D4E1}"/>
              </a:ext>
            </a:extLst>
          </p:cNvPr>
          <p:cNvSpPr txBox="1"/>
          <p:nvPr/>
        </p:nvSpPr>
        <p:spPr>
          <a:xfrm>
            <a:off x="2176035" y="2829662"/>
            <a:ext cx="815680" cy="437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dirty="0">
                <a:latin typeface="+mn-ea"/>
              </a:rPr>
              <a:t>Query Rewrite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B001FDE-792E-DA84-76E9-2130AF646439}"/>
              </a:ext>
            </a:extLst>
          </p:cNvPr>
          <p:cNvSpPr/>
          <p:nvPr/>
        </p:nvSpPr>
        <p:spPr>
          <a:xfrm>
            <a:off x="4413259" y="2075314"/>
            <a:ext cx="557098" cy="50157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ysClr val="windowText" lastClr="000000"/>
                </a:solidFill>
              </a:rPr>
              <a:t>Name</a:t>
            </a:r>
          </a:p>
          <a:p>
            <a:r>
              <a:rPr lang="en-US" altLang="ko-KR" sz="800" dirty="0">
                <a:solidFill>
                  <a:sysClr val="windowText" lastClr="000000"/>
                </a:solidFill>
              </a:rPr>
              <a:t>Description</a:t>
            </a:r>
          </a:p>
          <a:p>
            <a:r>
              <a:rPr lang="en-US" altLang="ko-KR" sz="800" dirty="0">
                <a:solidFill>
                  <a:sysClr val="windowText" lastClr="000000"/>
                </a:solidFill>
              </a:rPr>
              <a:t>Search</a:t>
            </a:r>
          </a:p>
          <a:p>
            <a:r>
              <a:rPr lang="en-US" altLang="ko-KR" sz="800" dirty="0">
                <a:solidFill>
                  <a:sysClr val="windowText" lastClr="000000"/>
                </a:solidFill>
              </a:rPr>
              <a:t>Content</a:t>
            </a:r>
            <a:endParaRPr lang="ko-KR" altLang="en-US" sz="800" dirty="0">
              <a:solidFill>
                <a:sysClr val="windowText" lastClr="000000"/>
              </a:solidFill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B235B0F0-73DB-6047-9EF0-475A194BC8E1}"/>
              </a:ext>
            </a:extLst>
          </p:cNvPr>
          <p:cNvCxnSpPr/>
          <p:nvPr/>
        </p:nvCxnSpPr>
        <p:spPr>
          <a:xfrm>
            <a:off x="4031940" y="2319722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B555A95-BEF3-46C1-90CC-D566644169C2}"/>
              </a:ext>
            </a:extLst>
          </p:cNvPr>
          <p:cNvCxnSpPr/>
          <p:nvPr/>
        </p:nvCxnSpPr>
        <p:spPr>
          <a:xfrm>
            <a:off x="4031980" y="2751770"/>
            <a:ext cx="144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7D13FAFD-F9F2-8E8B-06A6-D42A805E8111}"/>
              </a:ext>
            </a:extLst>
          </p:cNvPr>
          <p:cNvCxnSpPr/>
          <p:nvPr/>
        </p:nvCxnSpPr>
        <p:spPr>
          <a:xfrm>
            <a:off x="4031940" y="3183818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EF40CE9-D314-48BD-C6D2-42776B86D998}"/>
              </a:ext>
            </a:extLst>
          </p:cNvPr>
          <p:cNvSpPr/>
          <p:nvPr/>
        </p:nvSpPr>
        <p:spPr>
          <a:xfrm>
            <a:off x="4413259" y="2946677"/>
            <a:ext cx="557098" cy="50157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ysClr val="windowText" lastClr="000000"/>
                </a:solidFill>
              </a:rPr>
              <a:t>Name</a:t>
            </a:r>
          </a:p>
          <a:p>
            <a:r>
              <a:rPr lang="en-US" altLang="ko-KR" sz="800" dirty="0">
                <a:solidFill>
                  <a:sysClr val="windowText" lastClr="000000"/>
                </a:solidFill>
              </a:rPr>
              <a:t>Description</a:t>
            </a:r>
          </a:p>
          <a:p>
            <a:r>
              <a:rPr lang="en-US" altLang="ko-KR" sz="800" dirty="0">
                <a:solidFill>
                  <a:sysClr val="windowText" lastClr="000000"/>
                </a:solidFill>
              </a:rPr>
              <a:t>Search</a:t>
            </a:r>
          </a:p>
          <a:p>
            <a:r>
              <a:rPr lang="en-US" altLang="ko-KR" sz="800" dirty="0">
                <a:solidFill>
                  <a:sysClr val="windowText" lastClr="000000"/>
                </a:solidFill>
              </a:rPr>
              <a:t>Content</a:t>
            </a:r>
            <a:endParaRPr lang="ko-KR" altLang="en-US" sz="800" dirty="0">
              <a:solidFill>
                <a:sysClr val="windowText" lastClr="000000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FDD5BC5-246F-CC20-5B87-3608147A7857}"/>
              </a:ext>
            </a:extLst>
          </p:cNvPr>
          <p:cNvSpPr/>
          <p:nvPr/>
        </p:nvSpPr>
        <p:spPr>
          <a:xfrm>
            <a:off x="5583531" y="2464272"/>
            <a:ext cx="557098" cy="50157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ysClr val="windowText" lastClr="000000"/>
                </a:solidFill>
              </a:rPr>
              <a:t>Name</a:t>
            </a:r>
          </a:p>
          <a:p>
            <a:r>
              <a:rPr lang="en-US" altLang="ko-KR" sz="800" dirty="0">
                <a:solidFill>
                  <a:sysClr val="windowText" lastClr="000000"/>
                </a:solidFill>
              </a:rPr>
              <a:t>Description</a:t>
            </a:r>
          </a:p>
          <a:p>
            <a:r>
              <a:rPr lang="en-US" altLang="ko-KR" sz="800" dirty="0">
                <a:solidFill>
                  <a:sysClr val="windowText" lastClr="000000"/>
                </a:solidFill>
              </a:rPr>
              <a:t>Search</a:t>
            </a:r>
          </a:p>
          <a:p>
            <a:r>
              <a:rPr lang="en-US" altLang="ko-KR" sz="800" dirty="0">
                <a:solidFill>
                  <a:sysClr val="windowText" lastClr="000000"/>
                </a:solidFill>
              </a:rPr>
              <a:t>Content</a:t>
            </a:r>
            <a:endParaRPr lang="ko-KR" altLang="en-US" sz="800" dirty="0">
              <a:solidFill>
                <a:sysClr val="windowText" lastClr="000000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48E3D42-E407-063E-1121-E135E7813C0D}"/>
              </a:ext>
            </a:extLst>
          </p:cNvPr>
          <p:cNvSpPr/>
          <p:nvPr/>
        </p:nvSpPr>
        <p:spPr>
          <a:xfrm>
            <a:off x="6310608" y="2456742"/>
            <a:ext cx="557098" cy="50157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ko-KR" altLang="en-US" sz="800" dirty="0">
                <a:solidFill>
                  <a:sysClr val="windowText" lastClr="000000"/>
                </a:solidFill>
              </a:rPr>
              <a:t>증강 </a:t>
            </a:r>
            <a:r>
              <a:rPr lang="en-US" altLang="ko-KR" sz="800" dirty="0">
                <a:solidFill>
                  <a:sysClr val="windowText" lastClr="000000"/>
                </a:solidFill>
              </a:rPr>
              <a:t>Query</a:t>
            </a:r>
            <a:r>
              <a:rPr lang="ko-KR" altLang="en-US" sz="800" dirty="0">
                <a:solidFill>
                  <a:sysClr val="windowText" lastClr="000000"/>
                </a:solidFill>
              </a:rPr>
              <a:t> </a:t>
            </a:r>
            <a:endParaRPr lang="en-US" altLang="ko-KR" sz="800" dirty="0">
              <a:solidFill>
                <a:sysClr val="windowText" lastClr="000000"/>
              </a:solidFill>
            </a:endParaRPr>
          </a:p>
          <a:p>
            <a:r>
              <a:rPr lang="ko-KR" altLang="en-US" sz="800" dirty="0">
                <a:solidFill>
                  <a:sysClr val="windowText" lastClr="000000"/>
                </a:solidFill>
              </a:rPr>
              <a:t>생성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E8B04A0-B73B-68F4-F2AF-E364324FDFC7}"/>
              </a:ext>
            </a:extLst>
          </p:cNvPr>
          <p:cNvSpPr/>
          <p:nvPr/>
        </p:nvSpPr>
        <p:spPr>
          <a:xfrm>
            <a:off x="6998866" y="2456742"/>
            <a:ext cx="557098" cy="50157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ysClr val="windowText" lastClr="000000"/>
                </a:solidFill>
              </a:rPr>
              <a:t>Web search</a:t>
            </a:r>
            <a:endParaRPr lang="ko-KR" altLang="en-US" sz="800" dirty="0">
              <a:solidFill>
                <a:sysClr val="windowText" lastClr="000000"/>
              </a:solidFill>
            </a:endParaRPr>
          </a:p>
        </p:txBody>
      </p: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D7F60EC7-3EE3-E635-4C87-A50BB30C5B1B}"/>
              </a:ext>
            </a:extLst>
          </p:cNvPr>
          <p:cNvCxnSpPr>
            <a:cxnSpLocks/>
            <a:stCxn id="31" idx="0"/>
            <a:endCxn id="29" idx="1"/>
          </p:cNvCxnSpPr>
          <p:nvPr/>
        </p:nvCxnSpPr>
        <p:spPr>
          <a:xfrm rot="5400000" flipH="1" flipV="1">
            <a:off x="7280176" y="1787567"/>
            <a:ext cx="666414" cy="6719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F92E90C1-29D2-37FA-7876-D6BD274A60CD}"/>
              </a:ext>
            </a:extLst>
          </p:cNvPr>
          <p:cNvCxnSpPr>
            <a:cxnSpLocks/>
            <a:stCxn id="31" idx="2"/>
          </p:cNvCxnSpPr>
          <p:nvPr/>
        </p:nvCxnSpPr>
        <p:spPr>
          <a:xfrm rot="5400000" flipH="1">
            <a:off x="6592486" y="2273385"/>
            <a:ext cx="68601" cy="1301257"/>
          </a:xfrm>
          <a:prstGeom prst="bentConnector4">
            <a:avLst>
              <a:gd name="adj1" fmla="val -333231"/>
              <a:gd name="adj2" fmla="val 7885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84C10009-ABAA-5B84-4809-AFC041825D34}"/>
              </a:ext>
            </a:extLst>
          </p:cNvPr>
          <p:cNvCxnSpPr>
            <a:cxnSpLocks/>
          </p:cNvCxnSpPr>
          <p:nvPr/>
        </p:nvCxnSpPr>
        <p:spPr>
          <a:xfrm>
            <a:off x="6127141" y="2715766"/>
            <a:ext cx="18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97BBD56D-362D-2551-EB05-36CCEB43C3FB}"/>
              </a:ext>
            </a:extLst>
          </p:cNvPr>
          <p:cNvCxnSpPr>
            <a:cxnSpLocks/>
          </p:cNvCxnSpPr>
          <p:nvPr/>
        </p:nvCxnSpPr>
        <p:spPr>
          <a:xfrm>
            <a:off x="6840272" y="2715766"/>
            <a:ext cx="18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9596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7F0BC-A846-7D47-FF3E-5904F8778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47CEF50A-73BA-07BF-60C5-7A179B3A4D28}"/>
              </a:ext>
            </a:extLst>
          </p:cNvPr>
          <p:cNvSpPr/>
          <p:nvPr/>
        </p:nvSpPr>
        <p:spPr>
          <a:xfrm>
            <a:off x="5442941" y="2117756"/>
            <a:ext cx="2291723" cy="1276562"/>
          </a:xfrm>
          <a:prstGeom prst="round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D52CA17-E22A-0469-D969-2F428222B54C}"/>
              </a:ext>
            </a:extLst>
          </p:cNvPr>
          <p:cNvSpPr/>
          <p:nvPr/>
        </p:nvSpPr>
        <p:spPr>
          <a:xfrm>
            <a:off x="4283968" y="1887674"/>
            <a:ext cx="815680" cy="165794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F68C1E9-D40A-BE4E-D63A-58E9B9195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Deep Research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D16263-9179-4FB9-244A-9BB545887BC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95290" y="596013"/>
            <a:ext cx="8353424" cy="497124"/>
          </a:xfrm>
        </p:spPr>
        <p:txBody>
          <a:bodyPr/>
          <a:lstStyle/>
          <a:p>
            <a:r>
              <a:rPr lang="en-US" altLang="ko-KR" sz="1600" dirty="0"/>
              <a:t>- </a:t>
            </a:r>
            <a:r>
              <a:rPr lang="ko-KR" altLang="en-US" sz="1600" dirty="0"/>
              <a:t>플러그인을 통하여 </a:t>
            </a:r>
            <a:r>
              <a:rPr lang="en-US" altLang="ko-KR" sz="1600" dirty="0"/>
              <a:t>LLM</a:t>
            </a:r>
            <a:r>
              <a:rPr lang="ko-KR" altLang="en-US" sz="1600" dirty="0"/>
              <a:t>에게 부족한 지식을 증강</a:t>
            </a:r>
          </a:p>
          <a:p>
            <a:r>
              <a:rPr lang="en-US" altLang="ko-KR" sz="1600" dirty="0"/>
              <a:t>- Retrieval-Augmented Generation (RAG) 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BD91A7B-3C22-8112-EB7E-3E5CCFB82FE2}"/>
              </a:ext>
            </a:extLst>
          </p:cNvPr>
          <p:cNvSpPr/>
          <p:nvPr/>
        </p:nvSpPr>
        <p:spPr>
          <a:xfrm>
            <a:off x="7949351" y="1601018"/>
            <a:ext cx="498782" cy="37862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900" dirty="0" err="1">
                <a:solidFill>
                  <a:sysClr val="windowText" lastClr="000000"/>
                </a:solidFill>
              </a:rPr>
              <a:t>Tavily</a:t>
            </a:r>
            <a:endParaRPr lang="ko-KR" altLang="en-US" sz="900" dirty="0">
              <a:solidFill>
                <a:sysClr val="windowText" lastClr="000000"/>
              </a:solidFill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F0C07F35-EA2A-9D26-0C64-0E840F968AA3}"/>
              </a:ext>
            </a:extLst>
          </p:cNvPr>
          <p:cNvCxnSpPr>
            <a:cxnSpLocks/>
          </p:cNvCxnSpPr>
          <p:nvPr/>
        </p:nvCxnSpPr>
        <p:spPr>
          <a:xfrm>
            <a:off x="1138799" y="2767311"/>
            <a:ext cx="8717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DF9BDB4-98DD-5B74-C14D-7A9FA0D48083}"/>
              </a:ext>
            </a:extLst>
          </p:cNvPr>
          <p:cNvSpPr txBox="1"/>
          <p:nvPr/>
        </p:nvSpPr>
        <p:spPr>
          <a:xfrm>
            <a:off x="576801" y="2699588"/>
            <a:ext cx="4976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User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EDC177-3513-59EA-DA43-86CAE1BFF4D4}"/>
              </a:ext>
            </a:extLst>
          </p:cNvPr>
          <p:cNvSpPr txBox="1"/>
          <p:nvPr/>
        </p:nvSpPr>
        <p:spPr>
          <a:xfrm>
            <a:off x="1231429" y="2487520"/>
            <a:ext cx="75471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사용자 질의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88969C-ECC3-03AB-82ED-7A80F1F178D8}"/>
              </a:ext>
            </a:extLst>
          </p:cNvPr>
          <p:cNvSpPr txBox="1"/>
          <p:nvPr/>
        </p:nvSpPr>
        <p:spPr>
          <a:xfrm>
            <a:off x="1832897" y="2156750"/>
            <a:ext cx="13494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00" dirty="0"/>
              <a:t>LLM</a:t>
            </a:r>
            <a:r>
              <a:rPr lang="ko-KR" altLang="en-US" sz="700" dirty="0"/>
              <a:t>활용 사용자 발화기반</a:t>
            </a:r>
            <a:endParaRPr lang="en-US" altLang="ko-KR" sz="700" dirty="0"/>
          </a:p>
          <a:p>
            <a:pPr algn="ctr"/>
            <a:r>
              <a:rPr lang="en-US" altLang="ko-KR" sz="700" dirty="0"/>
              <a:t>Web search</a:t>
            </a:r>
            <a:r>
              <a:rPr lang="ko-KR" altLang="en-US" sz="700" dirty="0"/>
              <a:t>를 위한 문장생성</a:t>
            </a:r>
            <a:endParaRPr lang="en-US" altLang="ko-KR" sz="700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77D8C88-9DC9-0BE9-D3E4-5BCCAD9A2E13}"/>
              </a:ext>
            </a:extLst>
          </p:cNvPr>
          <p:cNvSpPr/>
          <p:nvPr/>
        </p:nvSpPr>
        <p:spPr>
          <a:xfrm>
            <a:off x="2141416" y="2574961"/>
            <a:ext cx="831136" cy="314751"/>
          </a:xfrm>
          <a:prstGeom prst="roundRect">
            <a:avLst/>
          </a:prstGeom>
          <a:solidFill>
            <a:srgbClr val="DAE8FC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ysClr val="windowText" lastClr="000000"/>
                </a:solidFill>
              </a:rPr>
              <a:t>Planning</a:t>
            </a:r>
          </a:p>
          <a:p>
            <a:pPr algn="ctr"/>
            <a:r>
              <a:rPr lang="ko-KR" altLang="en-US" sz="900" dirty="0">
                <a:solidFill>
                  <a:sysClr val="windowText" lastClr="000000"/>
                </a:solidFill>
              </a:rPr>
              <a:t>생성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AD540378-3EC3-4B87-27B3-AF1C57D5BA06}"/>
              </a:ext>
            </a:extLst>
          </p:cNvPr>
          <p:cNvCxnSpPr>
            <a:cxnSpLocks/>
          </p:cNvCxnSpPr>
          <p:nvPr/>
        </p:nvCxnSpPr>
        <p:spPr>
          <a:xfrm>
            <a:off x="3095249" y="2709073"/>
            <a:ext cx="256624" cy="295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9F68B486-D618-E962-82F4-894F1B411390}"/>
              </a:ext>
            </a:extLst>
          </p:cNvPr>
          <p:cNvCxnSpPr>
            <a:cxnSpLocks/>
          </p:cNvCxnSpPr>
          <p:nvPr/>
        </p:nvCxnSpPr>
        <p:spPr>
          <a:xfrm rot="16200000">
            <a:off x="3082114" y="2416646"/>
            <a:ext cx="305887" cy="2481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20D4A4B8-2960-83E7-42D0-CA5B16376696}"/>
              </a:ext>
            </a:extLst>
          </p:cNvPr>
          <p:cNvSpPr/>
          <p:nvPr/>
        </p:nvSpPr>
        <p:spPr>
          <a:xfrm>
            <a:off x="2059573" y="3545620"/>
            <a:ext cx="831136" cy="314751"/>
          </a:xfrm>
          <a:prstGeom prst="roundRect">
            <a:avLst/>
          </a:prstGeom>
          <a:solidFill>
            <a:srgbClr val="DAE8FC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900" dirty="0">
                <a:solidFill>
                  <a:sysClr val="windowText" lastClr="000000"/>
                </a:solidFill>
              </a:rPr>
              <a:t>내용 정리</a:t>
            </a:r>
            <a:endParaRPr lang="en-US" altLang="ko-KR" sz="900" dirty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sz="900" dirty="0">
                <a:solidFill>
                  <a:sysClr val="windowText" lastClr="000000"/>
                </a:solidFill>
              </a:rPr>
              <a:t>최종답변 생성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A150831-357C-BF71-A481-DE7AA0C042AA}"/>
              </a:ext>
            </a:extLst>
          </p:cNvPr>
          <p:cNvSpPr/>
          <p:nvPr/>
        </p:nvSpPr>
        <p:spPr>
          <a:xfrm>
            <a:off x="3497563" y="2182727"/>
            <a:ext cx="490103" cy="305889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dirty="0">
                <a:solidFill>
                  <a:sysClr val="windowText" lastClr="000000"/>
                </a:solidFill>
              </a:rPr>
              <a:t>Session_1</a:t>
            </a:r>
            <a:endParaRPr lang="ko-KR" altLang="en-US" sz="800" dirty="0">
              <a:solidFill>
                <a:sysClr val="windowText" lastClr="000000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B49976C-C8D4-3378-C4A3-DE77C32B3529}"/>
              </a:ext>
            </a:extLst>
          </p:cNvPr>
          <p:cNvSpPr/>
          <p:nvPr/>
        </p:nvSpPr>
        <p:spPr>
          <a:xfrm>
            <a:off x="3497563" y="2616587"/>
            <a:ext cx="490103" cy="305889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dirty="0">
                <a:solidFill>
                  <a:sysClr val="windowText" lastClr="000000"/>
                </a:solidFill>
              </a:rPr>
              <a:t>Session_2</a:t>
            </a:r>
            <a:endParaRPr lang="ko-KR" altLang="en-US" sz="800" dirty="0">
              <a:solidFill>
                <a:sysClr val="windowText" lastClr="000000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BAD87CE-8900-FCF2-D20C-DDF82796059C}"/>
              </a:ext>
            </a:extLst>
          </p:cNvPr>
          <p:cNvSpPr/>
          <p:nvPr/>
        </p:nvSpPr>
        <p:spPr>
          <a:xfrm>
            <a:off x="3497563" y="3050446"/>
            <a:ext cx="489748" cy="305889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dirty="0">
                <a:solidFill>
                  <a:sysClr val="windowText" lastClr="000000"/>
                </a:solidFill>
              </a:rPr>
              <a:t>Session_3</a:t>
            </a:r>
            <a:endParaRPr lang="ko-KR" altLang="en-US" sz="800" dirty="0">
              <a:solidFill>
                <a:sysClr val="windowText" lastClr="000000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8B6D6A3-DF96-8702-F0EF-51C95E84F385}"/>
              </a:ext>
            </a:extLst>
          </p:cNvPr>
          <p:cNvSpPr/>
          <p:nvPr/>
        </p:nvSpPr>
        <p:spPr>
          <a:xfrm>
            <a:off x="3254257" y="3572770"/>
            <a:ext cx="1029711" cy="305889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</a:rPr>
              <a:t>글자 수</a:t>
            </a:r>
            <a:r>
              <a:rPr lang="en-US" altLang="ko-KR" sz="800" dirty="0">
                <a:solidFill>
                  <a:sysClr val="windowText" lastClr="000000"/>
                </a:solidFill>
              </a:rPr>
              <a:t>(context length)</a:t>
            </a:r>
            <a:r>
              <a:rPr lang="ko-KR" altLang="en-US" sz="800" dirty="0">
                <a:solidFill>
                  <a:sysClr val="windowText" lastClr="000000"/>
                </a:solidFill>
              </a:rPr>
              <a:t> </a:t>
            </a:r>
            <a:r>
              <a:rPr lang="en-US" altLang="ko-KR" sz="800" dirty="0">
                <a:solidFill>
                  <a:sysClr val="windowText" lastClr="000000"/>
                </a:solidFill>
              </a:rPr>
              <a:t>validation</a:t>
            </a:r>
            <a:endParaRPr lang="ko-KR" altLang="en-US" sz="800" dirty="0">
              <a:solidFill>
                <a:sysClr val="windowText" lastClr="000000"/>
              </a:solidFill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994907F8-15E3-8BDD-A1D8-4E400E098393}"/>
              </a:ext>
            </a:extLst>
          </p:cNvPr>
          <p:cNvCxnSpPr>
            <a:cxnSpLocks/>
          </p:cNvCxnSpPr>
          <p:nvPr/>
        </p:nvCxnSpPr>
        <p:spPr>
          <a:xfrm flipH="1">
            <a:off x="2943629" y="3725716"/>
            <a:ext cx="171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6E52713B-CD6A-CD42-B827-71108B12D023}"/>
              </a:ext>
            </a:extLst>
          </p:cNvPr>
          <p:cNvCxnSpPr>
            <a:cxnSpLocks/>
            <a:stCxn id="24" idx="1"/>
          </p:cNvCxnSpPr>
          <p:nvPr/>
        </p:nvCxnSpPr>
        <p:spPr>
          <a:xfrm rot="10800000">
            <a:off x="1280423" y="2936744"/>
            <a:ext cx="779151" cy="76625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B3EDBE37-D20B-B717-1152-BCAB17059D4B}"/>
              </a:ext>
            </a:extLst>
          </p:cNvPr>
          <p:cNvSpPr txBox="1"/>
          <p:nvPr/>
        </p:nvSpPr>
        <p:spPr>
          <a:xfrm>
            <a:off x="1465938" y="3197463"/>
            <a:ext cx="6471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/>
              <a:t>최종 답변</a:t>
            </a:r>
            <a:endParaRPr lang="ko-KR" alt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02C929D-EEB5-8F1A-E26D-8C15CB637017}"/>
              </a:ext>
            </a:extLst>
          </p:cNvPr>
          <p:cNvSpPr txBox="1"/>
          <p:nvPr/>
        </p:nvSpPr>
        <p:spPr>
          <a:xfrm>
            <a:off x="2176035" y="2829662"/>
            <a:ext cx="815680" cy="437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dirty="0">
                <a:latin typeface="+mn-ea"/>
              </a:rPr>
              <a:t>Query Rewrite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E525057-B4D6-014A-82C3-3A7289FAA3DF}"/>
              </a:ext>
            </a:extLst>
          </p:cNvPr>
          <p:cNvSpPr/>
          <p:nvPr/>
        </p:nvSpPr>
        <p:spPr>
          <a:xfrm>
            <a:off x="4413259" y="2075314"/>
            <a:ext cx="557098" cy="50157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ysClr val="windowText" lastClr="000000"/>
                </a:solidFill>
              </a:rPr>
              <a:t>Name</a:t>
            </a:r>
          </a:p>
          <a:p>
            <a:r>
              <a:rPr lang="en-US" altLang="ko-KR" sz="800" dirty="0">
                <a:solidFill>
                  <a:sysClr val="windowText" lastClr="000000"/>
                </a:solidFill>
              </a:rPr>
              <a:t>Description</a:t>
            </a:r>
          </a:p>
          <a:p>
            <a:r>
              <a:rPr lang="en-US" altLang="ko-KR" sz="800" dirty="0">
                <a:solidFill>
                  <a:sysClr val="windowText" lastClr="000000"/>
                </a:solidFill>
              </a:rPr>
              <a:t>Search</a:t>
            </a:r>
          </a:p>
          <a:p>
            <a:r>
              <a:rPr lang="en-US" altLang="ko-KR" sz="800" dirty="0">
                <a:solidFill>
                  <a:sysClr val="windowText" lastClr="000000"/>
                </a:solidFill>
              </a:rPr>
              <a:t>Content</a:t>
            </a:r>
            <a:endParaRPr lang="ko-KR" altLang="en-US" sz="800" dirty="0">
              <a:solidFill>
                <a:sysClr val="windowText" lastClr="000000"/>
              </a:solidFill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E1C85635-221F-34DC-FC57-7388802D7AA0}"/>
              </a:ext>
            </a:extLst>
          </p:cNvPr>
          <p:cNvCxnSpPr/>
          <p:nvPr/>
        </p:nvCxnSpPr>
        <p:spPr>
          <a:xfrm>
            <a:off x="4031940" y="2319722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F5E2E2-9792-B281-9386-C0CCC8CBA892}"/>
              </a:ext>
            </a:extLst>
          </p:cNvPr>
          <p:cNvCxnSpPr/>
          <p:nvPr/>
        </p:nvCxnSpPr>
        <p:spPr>
          <a:xfrm>
            <a:off x="4031980" y="2751770"/>
            <a:ext cx="144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A613D17F-4247-3639-BC38-6739F50D0640}"/>
              </a:ext>
            </a:extLst>
          </p:cNvPr>
          <p:cNvCxnSpPr/>
          <p:nvPr/>
        </p:nvCxnSpPr>
        <p:spPr>
          <a:xfrm>
            <a:off x="4031940" y="3183818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378B79C-0075-1BD1-C00B-1B9C0602D169}"/>
              </a:ext>
            </a:extLst>
          </p:cNvPr>
          <p:cNvSpPr/>
          <p:nvPr/>
        </p:nvSpPr>
        <p:spPr>
          <a:xfrm>
            <a:off x="4413259" y="2946677"/>
            <a:ext cx="557098" cy="50157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ysClr val="windowText" lastClr="000000"/>
                </a:solidFill>
              </a:rPr>
              <a:t>Name</a:t>
            </a:r>
          </a:p>
          <a:p>
            <a:r>
              <a:rPr lang="en-US" altLang="ko-KR" sz="800" dirty="0">
                <a:solidFill>
                  <a:sysClr val="windowText" lastClr="000000"/>
                </a:solidFill>
              </a:rPr>
              <a:t>Description</a:t>
            </a:r>
          </a:p>
          <a:p>
            <a:r>
              <a:rPr lang="en-US" altLang="ko-KR" sz="800" dirty="0">
                <a:solidFill>
                  <a:sysClr val="windowText" lastClr="000000"/>
                </a:solidFill>
              </a:rPr>
              <a:t>Search</a:t>
            </a:r>
          </a:p>
          <a:p>
            <a:r>
              <a:rPr lang="en-US" altLang="ko-KR" sz="800" dirty="0">
                <a:solidFill>
                  <a:sysClr val="windowText" lastClr="000000"/>
                </a:solidFill>
              </a:rPr>
              <a:t>Content</a:t>
            </a:r>
            <a:endParaRPr lang="ko-KR" altLang="en-US" sz="800" dirty="0">
              <a:solidFill>
                <a:sysClr val="windowText" lastClr="000000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E53CD6F-6350-D166-F859-92AEEF79AA80}"/>
              </a:ext>
            </a:extLst>
          </p:cNvPr>
          <p:cNvSpPr/>
          <p:nvPr/>
        </p:nvSpPr>
        <p:spPr>
          <a:xfrm>
            <a:off x="5583531" y="2464272"/>
            <a:ext cx="557098" cy="50157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ysClr val="windowText" lastClr="000000"/>
                </a:solidFill>
              </a:rPr>
              <a:t>Name</a:t>
            </a:r>
          </a:p>
          <a:p>
            <a:r>
              <a:rPr lang="en-US" altLang="ko-KR" sz="800" dirty="0">
                <a:solidFill>
                  <a:sysClr val="windowText" lastClr="000000"/>
                </a:solidFill>
              </a:rPr>
              <a:t>Description</a:t>
            </a:r>
          </a:p>
          <a:p>
            <a:r>
              <a:rPr lang="en-US" altLang="ko-KR" sz="800" dirty="0">
                <a:solidFill>
                  <a:sysClr val="windowText" lastClr="000000"/>
                </a:solidFill>
              </a:rPr>
              <a:t>Search</a:t>
            </a:r>
          </a:p>
          <a:p>
            <a:r>
              <a:rPr lang="en-US" altLang="ko-KR" sz="800" dirty="0">
                <a:solidFill>
                  <a:sysClr val="windowText" lastClr="000000"/>
                </a:solidFill>
              </a:rPr>
              <a:t>Content</a:t>
            </a:r>
            <a:endParaRPr lang="ko-KR" altLang="en-US" sz="800" dirty="0">
              <a:solidFill>
                <a:sysClr val="windowText" lastClr="000000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44FA7B1-77DA-B423-27D5-7119C1EC02B1}"/>
              </a:ext>
            </a:extLst>
          </p:cNvPr>
          <p:cNvSpPr/>
          <p:nvPr/>
        </p:nvSpPr>
        <p:spPr>
          <a:xfrm>
            <a:off x="6310608" y="2456742"/>
            <a:ext cx="557098" cy="50157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ko-KR" altLang="en-US" sz="800" dirty="0">
                <a:solidFill>
                  <a:sysClr val="windowText" lastClr="000000"/>
                </a:solidFill>
              </a:rPr>
              <a:t>증강 </a:t>
            </a:r>
            <a:r>
              <a:rPr lang="en-US" altLang="ko-KR" sz="800" dirty="0">
                <a:solidFill>
                  <a:sysClr val="windowText" lastClr="000000"/>
                </a:solidFill>
              </a:rPr>
              <a:t>Query</a:t>
            </a:r>
            <a:r>
              <a:rPr lang="ko-KR" altLang="en-US" sz="800" dirty="0">
                <a:solidFill>
                  <a:sysClr val="windowText" lastClr="000000"/>
                </a:solidFill>
              </a:rPr>
              <a:t> </a:t>
            </a:r>
            <a:endParaRPr lang="en-US" altLang="ko-KR" sz="800" dirty="0">
              <a:solidFill>
                <a:sysClr val="windowText" lastClr="000000"/>
              </a:solidFill>
            </a:endParaRPr>
          </a:p>
          <a:p>
            <a:r>
              <a:rPr lang="ko-KR" altLang="en-US" sz="800" dirty="0">
                <a:solidFill>
                  <a:sysClr val="windowText" lastClr="000000"/>
                </a:solidFill>
              </a:rPr>
              <a:t>생성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067E8AF-995D-F7E3-FC6E-8EA7710245F4}"/>
              </a:ext>
            </a:extLst>
          </p:cNvPr>
          <p:cNvSpPr/>
          <p:nvPr/>
        </p:nvSpPr>
        <p:spPr>
          <a:xfrm>
            <a:off x="6998866" y="2456742"/>
            <a:ext cx="557098" cy="50157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800" dirty="0">
                <a:solidFill>
                  <a:sysClr val="windowText" lastClr="000000"/>
                </a:solidFill>
              </a:rPr>
              <a:t>Web search</a:t>
            </a:r>
            <a:endParaRPr lang="ko-KR" altLang="en-US" sz="800" dirty="0">
              <a:solidFill>
                <a:sysClr val="windowText" lastClr="000000"/>
              </a:solidFill>
            </a:endParaRPr>
          </a:p>
        </p:txBody>
      </p: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A156D56E-A40B-5952-191B-6EB54A3A9315}"/>
              </a:ext>
            </a:extLst>
          </p:cNvPr>
          <p:cNvCxnSpPr>
            <a:cxnSpLocks/>
            <a:stCxn id="31" idx="0"/>
            <a:endCxn id="29" idx="1"/>
          </p:cNvCxnSpPr>
          <p:nvPr/>
        </p:nvCxnSpPr>
        <p:spPr>
          <a:xfrm rot="5400000" flipH="1" flipV="1">
            <a:off x="7280176" y="1787567"/>
            <a:ext cx="666414" cy="6719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07C03BCF-4BD1-8184-F7DF-AAAC43CA872A}"/>
              </a:ext>
            </a:extLst>
          </p:cNvPr>
          <p:cNvCxnSpPr>
            <a:cxnSpLocks/>
            <a:stCxn id="31" idx="2"/>
          </p:cNvCxnSpPr>
          <p:nvPr/>
        </p:nvCxnSpPr>
        <p:spPr>
          <a:xfrm rot="5400000" flipH="1">
            <a:off x="6592486" y="2273385"/>
            <a:ext cx="68601" cy="1301257"/>
          </a:xfrm>
          <a:prstGeom prst="bentConnector4">
            <a:avLst>
              <a:gd name="adj1" fmla="val -333231"/>
              <a:gd name="adj2" fmla="val 7885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21DB3C28-9540-8707-C3E2-DE08D673466E}"/>
              </a:ext>
            </a:extLst>
          </p:cNvPr>
          <p:cNvCxnSpPr>
            <a:cxnSpLocks/>
          </p:cNvCxnSpPr>
          <p:nvPr/>
        </p:nvCxnSpPr>
        <p:spPr>
          <a:xfrm>
            <a:off x="6127141" y="2715766"/>
            <a:ext cx="18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65F337A1-D376-A88F-4B83-DCF4FEB94597}"/>
              </a:ext>
            </a:extLst>
          </p:cNvPr>
          <p:cNvCxnSpPr>
            <a:cxnSpLocks/>
          </p:cNvCxnSpPr>
          <p:nvPr/>
        </p:nvCxnSpPr>
        <p:spPr>
          <a:xfrm>
            <a:off x="6840272" y="2715766"/>
            <a:ext cx="18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A932F370-A1D0-44BD-4B97-8DA024969674}"/>
              </a:ext>
            </a:extLst>
          </p:cNvPr>
          <p:cNvSpPr/>
          <p:nvPr/>
        </p:nvSpPr>
        <p:spPr>
          <a:xfrm>
            <a:off x="5982582" y="3976965"/>
            <a:ext cx="498782" cy="37862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900" dirty="0">
                <a:solidFill>
                  <a:sysClr val="windowText" lastClr="000000"/>
                </a:solidFill>
              </a:rPr>
              <a:t>사내</a:t>
            </a:r>
            <a:endParaRPr lang="en-US" altLang="ko-KR" sz="900" dirty="0"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900" dirty="0">
                <a:solidFill>
                  <a:sysClr val="windowText" lastClr="000000"/>
                </a:solidFill>
              </a:rPr>
              <a:t>Data</a:t>
            </a:r>
            <a:endParaRPr lang="ko-KR" altLang="en-US" sz="900" dirty="0">
              <a:solidFill>
                <a:sysClr val="windowText" lastClr="00000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259AE94-841C-F07B-2AC7-33671F43DA7E}"/>
              </a:ext>
            </a:extLst>
          </p:cNvPr>
          <p:cNvSpPr/>
          <p:nvPr/>
        </p:nvSpPr>
        <p:spPr>
          <a:xfrm>
            <a:off x="6674712" y="3976965"/>
            <a:ext cx="684076" cy="37862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900" dirty="0">
                <a:solidFill>
                  <a:sysClr val="windowText" lastClr="000000"/>
                </a:solidFill>
              </a:rPr>
              <a:t>Confluence</a:t>
            </a:r>
            <a:endParaRPr lang="ko-KR" altLang="en-US" sz="900" dirty="0">
              <a:solidFill>
                <a:sysClr val="windowText" lastClr="000000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EE419DD-FCD9-8CC9-5BC7-93EA4CEFB690}"/>
              </a:ext>
            </a:extLst>
          </p:cNvPr>
          <p:cNvSpPr/>
          <p:nvPr/>
        </p:nvSpPr>
        <p:spPr>
          <a:xfrm>
            <a:off x="7552136" y="3976965"/>
            <a:ext cx="498782" cy="37862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900" dirty="0">
                <a:solidFill>
                  <a:sysClr val="windowText" lastClr="000000"/>
                </a:solidFill>
              </a:rPr>
              <a:t>Legacy</a:t>
            </a:r>
          </a:p>
          <a:p>
            <a:pPr algn="ctr"/>
            <a:r>
              <a:rPr lang="en-US" altLang="ko-KR" sz="900" dirty="0">
                <a:solidFill>
                  <a:sysClr val="windowText" lastClr="000000"/>
                </a:solidFill>
              </a:rPr>
              <a:t>System</a:t>
            </a:r>
            <a:endParaRPr lang="ko-KR" altLang="en-US" sz="900" dirty="0">
              <a:solidFill>
                <a:sysClr val="windowText" lastClr="000000"/>
              </a:solidFill>
            </a:endParaRPr>
          </a:p>
        </p:txBody>
      </p: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0AECC7EC-6F1C-5C53-DD92-E30CCE7092E6}"/>
              </a:ext>
            </a:extLst>
          </p:cNvPr>
          <p:cNvCxnSpPr>
            <a:cxnSpLocks/>
            <a:stCxn id="18" idx="2"/>
            <a:endCxn id="6" idx="0"/>
          </p:cNvCxnSpPr>
          <p:nvPr/>
        </p:nvCxnSpPr>
        <p:spPr>
          <a:xfrm rot="16200000" flipH="1">
            <a:off x="5197532" y="2942523"/>
            <a:ext cx="528717" cy="154016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16366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895850" y="1419622"/>
            <a:ext cx="3355406" cy="162615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684552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4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>
                  <a:reflection blurRad="6350" stA="17000" endPos="28000" dist="6350" dir="5400000" sy="-100000" algn="bl" rotWithShape="0"/>
                </a:effectLst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rPr>
              <a:t>LLM </a:t>
            </a:r>
            <a:r>
              <a:rPr kumimoji="0" lang="ko-KR" altLang="en-US" sz="54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>
                  <a:reflection blurRad="6350" stA="17000" endPos="28000" dist="6350" dir="5400000" sy="-100000" algn="bl" rotWithShape="0"/>
                </a:effectLst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rPr>
              <a:t>활용 </a:t>
            </a:r>
            <a:br>
              <a:rPr kumimoji="0" lang="en-US" altLang="ko-KR" sz="54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>
                  <a:reflection blurRad="6350" stA="17000" endPos="28000" dist="6350" dir="5400000" sy="-100000" algn="bl" rotWithShape="0"/>
                </a:effectLst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rPr>
            </a:br>
            <a:r>
              <a:rPr kumimoji="0" lang="en-US" altLang="ko-KR" sz="40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>
                  <a:reflection blurRad="6350" stA="17000" endPos="28000" dist="6350" dir="5400000" sy="-100000" algn="bl" rotWithShape="0"/>
                </a:effectLst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rPr>
              <a:t>: Fine Tuning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8EE7F3-AB20-822C-2A6B-79B45EC80D42}"/>
              </a:ext>
            </a:extLst>
          </p:cNvPr>
          <p:cNvSpPr txBox="1"/>
          <p:nvPr/>
        </p:nvSpPr>
        <p:spPr>
          <a:xfrm>
            <a:off x="1655676" y="1421860"/>
            <a:ext cx="813043" cy="1015663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6845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0" b="0" i="0" u="none" strike="noStrike" kern="1200" cap="none" spc="-300" normalizeH="0" baseline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23E2FE"/>
                </a:solidFill>
                <a:effectLst/>
                <a:uLnTx/>
                <a:uFillTx/>
                <a:latin typeface="Times New Roman" panose="02020603050405020304" pitchFamily="18" charset="0"/>
                <a:ea typeface="나눔스퀘어 Bold" panose="020B0600000101010101" pitchFamily="50" charset="-127"/>
                <a:cs typeface="Times New Roman" panose="02020603050405020304" pitchFamily="18" charset="0"/>
              </a:rPr>
              <a:t>ⅠⅠ</a:t>
            </a:r>
            <a:r>
              <a:rPr kumimoji="0" lang="en-US" altLang="ko-KR" sz="60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23E2FE"/>
                </a:solidFill>
                <a:effectLst/>
                <a:uLnTx/>
                <a:uFillTx/>
                <a:latin typeface="Times New Roman" panose="02020603050405020304" pitchFamily="18" charset="0"/>
                <a:ea typeface="나눔스퀘어 Bold" panose="020B0600000101010101" pitchFamily="50" charset="-127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126907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885865-72D8-FDE2-5D8F-91D0D4064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Tuning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DFD61F-D1FA-5B1F-72BE-BC8C5524F7B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95290" y="596013"/>
            <a:ext cx="8353424" cy="223716"/>
          </a:xfrm>
        </p:spPr>
        <p:txBody>
          <a:bodyPr/>
          <a:lstStyle/>
          <a:p>
            <a:r>
              <a:rPr lang="en-US" altLang="ko-KR" dirty="0"/>
              <a:t>ML Training/Learning  vs  DL Transfer Learning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B63E482-36EF-1395-DB76-3734BDCE9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139" y="1527634"/>
            <a:ext cx="3960439" cy="188178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BF3A35C-BB83-802C-9503-708D03E3C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4929" y="1095586"/>
            <a:ext cx="4289043" cy="24554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9E7556-E6DB-484F-DDA8-8AF7B8444066}"/>
              </a:ext>
            </a:extLst>
          </p:cNvPr>
          <p:cNvSpPr txBox="1"/>
          <p:nvPr/>
        </p:nvSpPr>
        <p:spPr>
          <a:xfrm>
            <a:off x="840242" y="3909414"/>
            <a:ext cx="30442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ML Training/Learning  vs  DL Transfer Learning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637583-14E6-9730-A50D-70B710431CA0}"/>
              </a:ext>
            </a:extLst>
          </p:cNvPr>
          <p:cNvSpPr txBox="1"/>
          <p:nvPr/>
        </p:nvSpPr>
        <p:spPr>
          <a:xfrm>
            <a:off x="5713570" y="3906047"/>
            <a:ext cx="14507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DL Transfer Learning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3321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03C45AE-1D51-67F5-687A-190B5D49344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17442" y="827485"/>
            <a:ext cx="6305221" cy="384526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CD86806-6A67-5419-B05F-DF1AEBE63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Fine Tuning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01791F-E424-F5DB-41A4-59479751D46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95290" y="596013"/>
            <a:ext cx="8353424" cy="466090"/>
          </a:xfrm>
        </p:spPr>
        <p:txBody>
          <a:bodyPr/>
          <a:lstStyle/>
          <a:p>
            <a:r>
              <a:rPr lang="en-US" altLang="ko-KR" dirty="0"/>
              <a:t>Domain </a:t>
            </a:r>
            <a:r>
              <a:rPr lang="ko-KR" altLang="en-US" dirty="0"/>
              <a:t>특화 지식 추가 학습 필요시</a:t>
            </a:r>
            <a:endParaRPr lang="en-US" altLang="ko-KR" dirty="0"/>
          </a:p>
          <a:p>
            <a:r>
              <a:rPr lang="en-US" altLang="ko-KR" dirty="0"/>
              <a:t>PEFT : Parameter Efficient Fine Tuning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6538CF6-7B73-62CA-6185-D90A6D18B458}"/>
              </a:ext>
            </a:extLst>
          </p:cNvPr>
          <p:cNvSpPr/>
          <p:nvPr/>
        </p:nvSpPr>
        <p:spPr>
          <a:xfrm>
            <a:off x="5220072" y="827485"/>
            <a:ext cx="2448272" cy="2464345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204A2C-462B-8CD2-2411-FDFEE595992E}"/>
              </a:ext>
            </a:extLst>
          </p:cNvPr>
          <p:cNvSpPr txBox="1"/>
          <p:nvPr/>
        </p:nvSpPr>
        <p:spPr>
          <a:xfrm>
            <a:off x="5366099" y="3068691"/>
            <a:ext cx="1074012" cy="1692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Domain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특화 지식</a:t>
            </a:r>
          </a:p>
        </p:txBody>
      </p:sp>
    </p:spTree>
    <p:extLst>
      <p:ext uri="{BB962C8B-B14F-4D97-AF65-F5344CB8AC3E}">
        <p14:creationId xmlns:p14="http://schemas.microsoft.com/office/powerpoint/2010/main" val="3477931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934FE7-03E2-26CE-D1BC-ACB9FB700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다양한 </a:t>
            </a:r>
            <a:r>
              <a:rPr lang="en-US" altLang="ko-KR" dirty="0"/>
              <a:t>PEFT </a:t>
            </a:r>
            <a:r>
              <a:rPr lang="ko-KR" altLang="en-US" dirty="0"/>
              <a:t>기법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7AFDD9-0A29-1777-29E0-7F06CFAA8D8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95290" y="596013"/>
            <a:ext cx="8353424" cy="466090"/>
          </a:xfrm>
        </p:spPr>
        <p:txBody>
          <a:bodyPr/>
          <a:lstStyle/>
          <a:p>
            <a:r>
              <a:rPr lang="en-US" altLang="ko-KR" dirty="0"/>
              <a:t>Rather than the traditional method of fine tuning where every parameter of the model is updated, PEFT selectively tunes only a small portion of the model's parameters.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EBF93F9-8514-7A30-F143-37C67CE7E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72" y="1203598"/>
            <a:ext cx="6876256" cy="34067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01D3FD-78F0-BDE4-596B-7E125354923B}"/>
              </a:ext>
            </a:extLst>
          </p:cNvPr>
          <p:cNvSpPr txBox="1"/>
          <p:nvPr/>
        </p:nvSpPr>
        <p:spPr>
          <a:xfrm>
            <a:off x="4843249" y="4626158"/>
            <a:ext cx="39148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+mn-cs"/>
              </a:rPr>
              <a:t>Source : </a:t>
            </a:r>
            <a:r>
              <a:rPr kumimoji="0" lang="fr-FR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+mn-cs"/>
              </a:rPr>
              <a:t>https://www.mercity.ai/blog-post/fine-tuning-llms-using-peft-and-lora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89623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DAB03C-BDC4-1D68-AF80-4018766DF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Prompt-Tuning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2198A6-AE76-CC68-9B28-879E360B8EB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95290" y="596013"/>
            <a:ext cx="8353424" cy="950838"/>
          </a:xfrm>
        </p:spPr>
        <p:txBody>
          <a:bodyPr/>
          <a:lstStyle/>
          <a:p>
            <a:r>
              <a:rPr lang="en-US" altLang="ko-KR" dirty="0"/>
              <a:t>In-context learning </a:t>
            </a:r>
            <a:r>
              <a:rPr lang="ko-KR" altLang="en-US" dirty="0"/>
              <a:t>으로 도 표현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Assumption: The LLM may possess the capability to respond in various domains.</a:t>
            </a:r>
          </a:p>
          <a:p>
            <a:r>
              <a:rPr lang="en-US" altLang="ko-KR" dirty="0"/>
              <a:t>                 we simply have not yet mastered the appropriate method of querying.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424E258-95A9-5E75-5306-6CB0CBCBF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660" y="1995686"/>
            <a:ext cx="1795713" cy="23291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E8D435A-0BFB-6F54-DB23-C976ED41A21B}"/>
              </a:ext>
            </a:extLst>
          </p:cNvPr>
          <p:cNvSpPr txBox="1"/>
          <p:nvPr/>
        </p:nvSpPr>
        <p:spPr>
          <a:xfrm>
            <a:off x="4376320" y="2400896"/>
            <a:ext cx="290977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LLM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이 답변을 잘 할 수 있도록 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Prompt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작성하는 여러 패턴 들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Ex) 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ReAct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70150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C9A610-B987-D3D8-4AA9-782AC88E0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reparameterization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C79E13-1680-3D85-7E19-852B4DD088F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95290" y="596013"/>
            <a:ext cx="8353424" cy="466090"/>
          </a:xfrm>
        </p:spPr>
        <p:txBody>
          <a:bodyPr/>
          <a:lstStyle/>
          <a:p>
            <a:r>
              <a:rPr lang="en-US" altLang="ko-KR" dirty="0"/>
              <a:t>Assumption: Insert an additional layer that helps it operate in a new domain, </a:t>
            </a:r>
          </a:p>
          <a:p>
            <a:r>
              <a:rPr lang="en-US" altLang="ko-KR" dirty="0"/>
              <a:t>                 and only train this layer.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B78080-45E7-6E12-E447-FF3CD509E00A}"/>
              </a:ext>
            </a:extLst>
          </p:cNvPr>
          <p:cNvSpPr txBox="1"/>
          <p:nvPr/>
        </p:nvSpPr>
        <p:spPr>
          <a:xfrm>
            <a:off x="4716016" y="1833086"/>
            <a:ext cx="385124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컨셉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: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Additional Layer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를 추가해보자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콜럼버스의 달걀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: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추가되는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parameter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를 어떻게 작게 관리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?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F1202E2-22E6-D28F-110F-087DB259A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734" y="1440051"/>
            <a:ext cx="2961453" cy="28629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FDB06B9-6D1E-5B24-D13F-8D36F4F705E8}"/>
              </a:ext>
            </a:extLst>
          </p:cNvPr>
          <p:cNvSpPr txBox="1"/>
          <p:nvPr/>
        </p:nvSpPr>
        <p:spPr>
          <a:xfrm>
            <a:off x="3419872" y="3435846"/>
            <a:ext cx="8410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추가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parameter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11450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3D8E95-2655-4439-41AC-F0085A05E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LoRA</a:t>
            </a:r>
            <a:r>
              <a:rPr lang="en-US" altLang="ko-KR" dirty="0"/>
              <a:t> (Low-Rank Adaptation)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7CBBA4-434B-5F0F-25ED-8806208FF34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95290" y="596013"/>
            <a:ext cx="8353424" cy="708464"/>
          </a:xfrm>
        </p:spPr>
        <p:txBody>
          <a:bodyPr/>
          <a:lstStyle/>
          <a:p>
            <a:r>
              <a:rPr lang="en-US" altLang="ko-KR" dirty="0"/>
              <a:t>Parameter Efficient Fine Tuning</a:t>
            </a:r>
            <a:r>
              <a:rPr lang="ko-KR" altLang="en-US" dirty="0"/>
              <a:t>의 대표 유형</a:t>
            </a:r>
            <a:endParaRPr lang="en-US" altLang="ko-KR" dirty="0"/>
          </a:p>
          <a:p>
            <a:r>
              <a:rPr lang="ko-KR" altLang="en-US" dirty="0"/>
              <a:t> 전체 </a:t>
            </a:r>
            <a:r>
              <a:rPr lang="en-US" altLang="ko-KR" dirty="0"/>
              <a:t>Weight</a:t>
            </a:r>
            <a:r>
              <a:rPr lang="ko-KR" altLang="en-US" dirty="0"/>
              <a:t>의 가중치를 행렬연산 기반의 근사값으로 업데이트 </a:t>
            </a:r>
          </a:p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8CBD61-D521-5E17-1E84-9DFA26B4E4F9}"/>
              </a:ext>
            </a:extLst>
          </p:cNvPr>
          <p:cNvSpPr txBox="1"/>
          <p:nvPr/>
        </p:nvSpPr>
        <p:spPr>
          <a:xfrm>
            <a:off x="441960" y="1304477"/>
            <a:ext cx="8306754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72B4D"/>
                </a:solidFill>
                <a:effectLst/>
                <a:highlight>
                  <a:srgbClr val="FFFFFF"/>
                </a:highlight>
                <a:uLnTx/>
                <a:uFillTx/>
                <a:latin typeface="나눔스퀘어" panose="020B0600000101010101" pitchFamily="50" charset="-127"/>
                <a:ea typeface="맑은 고딕" panose="020B0503020000020004" pitchFamily="50" charset="-127"/>
                <a:cs typeface="+mn-cs"/>
              </a:rPr>
              <a:t>LoRA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72B4D"/>
                </a:solidFill>
                <a:effectLst/>
                <a:highlight>
                  <a:srgbClr val="FFFFFF"/>
                </a:highlight>
                <a:uLnTx/>
                <a:uFillTx/>
                <a:latin typeface="나눔스퀘어" panose="020B0600000101010101" pitchFamily="50" charset="-127"/>
                <a:ea typeface="맑은 고딕" panose="020B0503020000020004" pitchFamily="50" charset="-127"/>
                <a:cs typeface="+mn-cs"/>
              </a:rPr>
              <a:t>의 장점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72B4D"/>
                </a:solidFill>
                <a:effectLst/>
                <a:highlight>
                  <a:srgbClr val="FFFFFF"/>
                </a:highlight>
                <a:uLnTx/>
                <a:uFillTx/>
                <a:latin typeface="나눔스퀘어" panose="020B0600000101010101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172B4D"/>
                </a:solidFill>
                <a:effectLst/>
                <a:highlight>
                  <a:srgbClr val="FFFFFF"/>
                </a:highlight>
                <a:uLnTx/>
                <a:uFillTx/>
                <a:latin typeface="나눔스퀘어" panose="020B0600000101010101" pitchFamily="50" charset="-127"/>
                <a:ea typeface="맑은 고딕" panose="020B0503020000020004" pitchFamily="50" charset="-127"/>
                <a:cs typeface="+mn-cs"/>
              </a:rPr>
              <a:t>업데이트하는 </a:t>
            </a:r>
            <a:r>
              <a:rPr kumimoji="0" lang="en-US" altLang="ko-KR" sz="1100" b="1" i="0" u="sng" strike="noStrike" kern="1200" cap="none" spc="0" normalizeH="0" baseline="0" noProof="0" dirty="0">
                <a:ln>
                  <a:noFill/>
                </a:ln>
                <a:solidFill>
                  <a:srgbClr val="172B4D"/>
                </a:solidFill>
                <a:effectLst/>
                <a:highlight>
                  <a:srgbClr val="FFFFFF"/>
                </a:highlight>
                <a:uLnTx/>
                <a:uFillTx/>
                <a:latin typeface="나눔스퀘어" panose="020B0600000101010101" pitchFamily="50" charset="-127"/>
                <a:ea typeface="맑은 고딕" panose="020B0503020000020004" pitchFamily="50" charset="-127"/>
                <a:cs typeface="+mn-cs"/>
              </a:rPr>
              <a:t>weight</a:t>
            </a:r>
            <a:r>
              <a:rPr kumimoji="0" lang="ko-KR" alt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172B4D"/>
                </a:solidFill>
                <a:effectLst/>
                <a:highlight>
                  <a:srgbClr val="FFFFFF"/>
                </a:highlight>
                <a:uLnTx/>
                <a:uFillTx/>
                <a:latin typeface="나눔스퀘어" panose="020B0600000101010101" pitchFamily="50" charset="-127"/>
                <a:ea typeface="맑은 고딕" panose="020B0503020000020004" pitchFamily="50" charset="-127"/>
                <a:cs typeface="+mn-cs"/>
              </a:rPr>
              <a:t>를 극단적으로 줄일 수 있음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172B4D"/>
              </a:solidFill>
              <a:effectLst/>
              <a:highlight>
                <a:srgbClr val="FFFFFF"/>
              </a:highlight>
              <a:uLnTx/>
              <a:uFillTx/>
              <a:latin typeface="나눔스퀘어" panose="020B0600000101010101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72B4D"/>
                </a:solidFill>
                <a:effectLst/>
                <a:highlight>
                  <a:srgbClr val="FFFFFF"/>
                </a:highlight>
                <a:uLnTx/>
                <a:uFillTx/>
                <a:latin typeface="나눔스퀘어" panose="020B0600000101010101" pitchFamily="50" charset="-127"/>
                <a:ea typeface="맑은 고딕" panose="020B0503020000020004" pitchFamily="50" charset="-127"/>
                <a:cs typeface="+mn-cs"/>
              </a:rPr>
              <a:t> Base Model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72B4D"/>
                </a:solidFill>
                <a:effectLst/>
                <a:highlight>
                  <a:srgbClr val="FFFFFF"/>
                </a:highlight>
                <a:uLnTx/>
                <a:uFillTx/>
                <a:latin typeface="나눔스퀘어" panose="020B0600000101010101" pitchFamily="50" charset="-127"/>
                <a:ea typeface="맑은 고딕" panose="020B0503020000020004" pitchFamily="50" charset="-127"/>
                <a:cs typeface="+mn-cs"/>
              </a:rPr>
              <a:t>의 기존 가중치를 유지한 채로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72B4D"/>
                </a:solidFill>
                <a:effectLst/>
                <a:highlight>
                  <a:srgbClr val="FFFFFF"/>
                </a:highlight>
                <a:uLnTx/>
                <a:uFillTx/>
                <a:latin typeface="나눔스퀘어" panose="020B0600000101010101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72B4D"/>
                </a:solidFill>
                <a:effectLst/>
                <a:highlight>
                  <a:srgbClr val="FFFFFF"/>
                </a:highlight>
                <a:uLnTx/>
                <a:uFillTx/>
                <a:latin typeface="나눔스퀘어" panose="020B0600000101010101" pitchFamily="50" charset="-127"/>
                <a:ea typeface="맑은 고딕" panose="020B0503020000020004" pitchFamily="50" charset="-127"/>
                <a:cs typeface="+mn-cs"/>
              </a:rPr>
              <a:t>사용 목적에 따라서 여러 개의 어댑터만 파인튜닝 가능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172B4D"/>
              </a:solidFill>
              <a:effectLst/>
              <a:highlight>
                <a:srgbClr val="FFFFFF"/>
              </a:highlight>
              <a:uLnTx/>
              <a:uFillTx/>
              <a:latin typeface="나눔스퀘어" panose="020B0600000101010101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72B4D"/>
                </a:solidFill>
                <a:effectLst/>
                <a:highlight>
                  <a:srgbClr val="FFFFFF"/>
                </a:highlight>
                <a:uLnTx/>
                <a:uFillTx/>
                <a:latin typeface="나눔스퀘어" panose="020B0600000101010101" pitchFamily="50" charset="-127"/>
                <a:ea typeface="맑은 고딕" panose="020B0503020000020004" pitchFamily="50" charset="-127"/>
                <a:cs typeface="+mn-cs"/>
              </a:rPr>
              <a:t> 훈련된 어댑터를 별도로 저장하며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72B4D"/>
                </a:solidFill>
                <a:effectLst/>
                <a:highlight>
                  <a:srgbClr val="FFFFFF"/>
                </a:highlight>
                <a:uLnTx/>
                <a:uFillTx/>
                <a:latin typeface="나눔스퀘어" panose="020B0600000101010101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72B4D"/>
                </a:solidFill>
                <a:effectLst/>
                <a:highlight>
                  <a:srgbClr val="FFFFFF"/>
                </a:highlight>
                <a:uLnTx/>
                <a:uFillTx/>
                <a:latin typeface="나눔스퀘어" panose="020B0600000101010101" pitchFamily="50" charset="-127"/>
                <a:ea typeface="맑은 고딕" panose="020B0503020000020004" pitchFamily="50" charset="-127"/>
                <a:cs typeface="+mn-cs"/>
              </a:rPr>
              <a:t>기존 가중치에 더해주는 것으로 병합이 가능하고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72B4D"/>
                </a:solidFill>
                <a:effectLst/>
                <a:highlight>
                  <a:srgbClr val="FFFFFF"/>
                </a:highlight>
                <a:uLnTx/>
                <a:uFillTx/>
                <a:latin typeface="나눔스퀘어" panose="020B0600000101010101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72B4D"/>
                </a:solidFill>
                <a:effectLst/>
                <a:highlight>
                  <a:srgbClr val="FFFFFF"/>
                </a:highlight>
                <a:uLnTx/>
                <a:uFillTx/>
                <a:latin typeface="나눔스퀘어" panose="020B0600000101010101" pitchFamily="50" charset="-127"/>
                <a:ea typeface="맑은 고딕" panose="020B0503020000020004" pitchFamily="50" charset="-127"/>
                <a:cs typeface="+mn-cs"/>
              </a:rPr>
              <a:t>병합 후에는 기존 모델과 추론 속도가 동등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172B4D"/>
              </a:solidFill>
              <a:effectLst/>
              <a:highlight>
                <a:srgbClr val="FFFFFF"/>
              </a:highlight>
              <a:uLnTx/>
              <a:uFillTx/>
              <a:latin typeface="나눔스퀘어" panose="020B0600000101010101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26C3792-7127-3ED9-F158-14BB2D5D4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353897"/>
            <a:ext cx="6624736" cy="257531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484CE45-74AB-7574-6CDC-D1E5E8EBD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204" y="2795042"/>
            <a:ext cx="2088232" cy="2181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EEFA222-44A5-013A-4FEE-FEE4C8D9D3B7}"/>
              </a:ext>
            </a:extLst>
          </p:cNvPr>
          <p:cNvSpPr txBox="1"/>
          <p:nvPr/>
        </p:nvSpPr>
        <p:spPr>
          <a:xfrm>
            <a:off x="2735796" y="4294189"/>
            <a:ext cx="1218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70B (700</a:t>
            </a:r>
            <a:r>
              <a:rPr kumimoji="0" lang="ko-KR" altLang="en-US" sz="9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억개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(700000 x 100000)</a:t>
            </a:r>
            <a:endParaRPr kumimoji="0" lang="ko-KR" alt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3C7128-C7FB-5F65-9040-4014383F4E43}"/>
              </a:ext>
            </a:extLst>
          </p:cNvPr>
          <p:cNvSpPr txBox="1"/>
          <p:nvPr/>
        </p:nvSpPr>
        <p:spPr>
          <a:xfrm>
            <a:off x="6394235" y="4155690"/>
            <a:ext cx="13500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R = 10 </a:t>
            </a:r>
            <a:r>
              <a:rPr kumimoji="0" lang="ko-KR" altLang="en-US" sz="9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일경우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700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만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(=700000 x10)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100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만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(=10 x 100000)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총 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800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만개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0F7291-75AB-C587-28CC-F00C735861E9}"/>
              </a:ext>
            </a:extLst>
          </p:cNvPr>
          <p:cNvSpPr txBox="1"/>
          <p:nvPr/>
        </p:nvSpPr>
        <p:spPr>
          <a:xfrm>
            <a:off x="4211960" y="325219"/>
            <a:ext cx="37497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  <a:hlinkClick r:id="rId4"/>
              </a:rPr>
              <a:t>[2106.09685]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  <a:hlinkClick r:id="rId4"/>
              </a:rPr>
              <a:t>LoRA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  <a:hlinkClick r:id="rId4"/>
              </a:rPr>
              <a:t>: Low-Rank Adaptation of Large Language Models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43811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57C34B-0977-F382-D58C-A840F2DF0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PEFT </a:t>
            </a:r>
            <a:r>
              <a:rPr lang="ko-KR" altLang="en-US" dirty="0"/>
              <a:t>효과 및 장점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B04061-6596-8799-6D1D-D26BF9C076D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95290" y="596013"/>
            <a:ext cx="8353424" cy="708464"/>
          </a:xfrm>
        </p:spPr>
        <p:txBody>
          <a:bodyPr/>
          <a:lstStyle/>
          <a:p>
            <a:r>
              <a:rPr lang="ko-KR" altLang="en-US" dirty="0"/>
              <a:t>지식 학습으로는 활용이 어려우나</a:t>
            </a:r>
            <a:r>
              <a:rPr lang="en-US" altLang="ko-KR" dirty="0"/>
              <a:t>, </a:t>
            </a:r>
          </a:p>
          <a:p>
            <a:r>
              <a:rPr lang="en-US" altLang="ko-KR" dirty="0"/>
              <a:t>Task </a:t>
            </a:r>
            <a:r>
              <a:rPr lang="ko-KR" altLang="en-US" dirty="0"/>
              <a:t>수행을 위한 </a:t>
            </a:r>
            <a:r>
              <a:rPr lang="en-US" altLang="ko-KR" dirty="0"/>
              <a:t>Instruction Following</a:t>
            </a:r>
            <a:r>
              <a:rPr lang="ko-KR" altLang="en-US" dirty="0"/>
              <a:t>에는 효과적 </a:t>
            </a:r>
            <a:r>
              <a:rPr lang="en-US" altLang="ko-KR" dirty="0"/>
              <a:t>&amp; </a:t>
            </a:r>
            <a:r>
              <a:rPr lang="ko-KR" altLang="en-US" dirty="0"/>
              <a:t>학습 데이터 소량</a:t>
            </a:r>
            <a:r>
              <a:rPr lang="en-US" altLang="ko-KR" dirty="0"/>
              <a:t>, </a:t>
            </a:r>
            <a:r>
              <a:rPr lang="ko-KR" altLang="en-US" dirty="0"/>
              <a:t>학습 시간 단축 가능 </a:t>
            </a:r>
          </a:p>
          <a:p>
            <a:r>
              <a:rPr lang="en-US" altLang="ko-KR" dirty="0"/>
              <a:t>Forgetting </a:t>
            </a:r>
            <a:r>
              <a:rPr lang="ko-KR" altLang="en-US" dirty="0"/>
              <a:t>현상을 최소화하며</a:t>
            </a:r>
            <a:r>
              <a:rPr lang="en-US" altLang="ko-KR" dirty="0"/>
              <a:t>, Instruction Following </a:t>
            </a:r>
            <a:r>
              <a:rPr lang="ko-KR" altLang="en-US" dirty="0"/>
              <a:t>반영 가능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B97FC72-8DCF-FC52-4681-88BCFF896D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651523"/>
            <a:ext cx="4578284" cy="2284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57835266-4795-2B61-FAD6-73A57197E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1286" y="1552711"/>
            <a:ext cx="3385255" cy="2949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234BB9-E277-4547-3960-715669B4C813}"/>
              </a:ext>
            </a:extLst>
          </p:cNvPr>
          <p:cNvSpPr txBox="1"/>
          <p:nvPr/>
        </p:nvSpPr>
        <p:spPr>
          <a:xfrm>
            <a:off x="667914" y="4039656"/>
            <a:ext cx="400622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2E75B6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※ MNLI-m: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E75B6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2E75B6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Multi-Genre Natural Language Inference (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E75B6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대화 및 기록물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2E75B6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433K Pairs)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2E75B6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※ </a:t>
            </a:r>
            <a:r>
              <a:rPr kumimoji="0" lang="en-US" altLang="ko-K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E75B6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SAMSum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2E75B6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: 16K messenger conversion with summary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2E75B6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B04F18-3344-528A-3EF4-FA76DB0A0837}"/>
              </a:ext>
            </a:extLst>
          </p:cNvPr>
          <p:cNvSpPr txBox="1"/>
          <p:nvPr/>
        </p:nvSpPr>
        <p:spPr>
          <a:xfrm>
            <a:off x="658019" y="4692273"/>
            <a:ext cx="609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Source: LOW-RANK ADAPTATION OF LARGE LANGUAGE MODELS, 2023/06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B5F895-078E-C903-D9BB-5577C9DDD1A1}"/>
              </a:ext>
            </a:extLst>
          </p:cNvPr>
          <p:cNvSpPr txBox="1"/>
          <p:nvPr/>
        </p:nvSpPr>
        <p:spPr>
          <a:xfrm>
            <a:off x="5437981" y="4692273"/>
            <a:ext cx="33107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Source: LoRA Learns Less and Forgets Less, 2024/05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68878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PEFT </a:t>
            </a:r>
            <a:r>
              <a:rPr lang="ko-KR" altLang="en-US" dirty="0"/>
              <a:t>사용케이스 </a:t>
            </a:r>
            <a:endParaRPr lang="ko-KR" altLang="en-US" sz="15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087916-FC47-65DD-96B0-5411B2098544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95290" y="596013"/>
            <a:ext cx="8353424" cy="223716"/>
          </a:xfrm>
        </p:spPr>
        <p:txBody>
          <a:bodyPr/>
          <a:lstStyle/>
          <a:p>
            <a:r>
              <a:rPr lang="en-US" altLang="ko-KR" dirty="0"/>
              <a:t>PEFT</a:t>
            </a:r>
            <a:r>
              <a:rPr lang="ko-KR" altLang="en-US" dirty="0"/>
              <a:t> 학습은 빠르고 효율적으로 진행되지만</a:t>
            </a:r>
            <a:r>
              <a:rPr lang="en-US" altLang="ko-KR" dirty="0"/>
              <a:t>, </a:t>
            </a:r>
            <a:r>
              <a:rPr lang="ko-KR" altLang="en-US" dirty="0"/>
              <a:t>성능 향상에 제약 있을 수 있음</a:t>
            </a:r>
            <a:endParaRPr lang="en-US" altLang="ko-KR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55E1165-FAC9-AC2C-16DA-1A3F3808A49F}"/>
              </a:ext>
            </a:extLst>
          </p:cNvPr>
          <p:cNvGraphicFramePr>
            <a:graphicFrameLocks noGrp="1"/>
          </p:cNvGraphicFramePr>
          <p:nvPr/>
        </p:nvGraphicFramePr>
        <p:xfrm>
          <a:off x="395288" y="1029363"/>
          <a:ext cx="8305802" cy="37386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9304">
                  <a:extLst>
                    <a:ext uri="{9D8B030D-6E8A-4147-A177-3AD203B41FA5}">
                      <a16:colId xmlns:a16="http://schemas.microsoft.com/office/drawing/2014/main" val="4283380982"/>
                    </a:ext>
                  </a:extLst>
                </a:gridCol>
                <a:gridCol w="4032448">
                  <a:extLst>
                    <a:ext uri="{9D8B030D-6E8A-4147-A177-3AD203B41FA5}">
                      <a16:colId xmlns:a16="http://schemas.microsoft.com/office/drawing/2014/main" val="2359985901"/>
                    </a:ext>
                  </a:extLst>
                </a:gridCol>
                <a:gridCol w="1734050">
                  <a:extLst>
                    <a:ext uri="{9D8B030D-6E8A-4147-A177-3AD203B41FA5}">
                      <a16:colId xmlns:a16="http://schemas.microsoft.com/office/drawing/2014/main" val="194229260"/>
                    </a:ext>
                  </a:extLst>
                </a:gridCol>
              </a:tblGrid>
              <a:tr h="22658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Category</a:t>
                      </a:r>
                      <a:endParaRPr lang="ko-KR" altLang="en-US" sz="11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Application </a:t>
                      </a:r>
                      <a:endParaRPr lang="ko-KR" altLang="en-US" sz="11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Reference</a:t>
                      </a:r>
                      <a:endParaRPr lang="ko-KR" altLang="en-US" sz="11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9508928"/>
                  </a:ext>
                </a:extLst>
              </a:tr>
              <a:tr h="703443">
                <a:tc>
                  <a:txBody>
                    <a:bodyPr/>
                    <a:lstStyle/>
                    <a:p>
                      <a:pPr marL="176213" indent="-176213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9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① 스타일</a:t>
                      </a:r>
                      <a:r>
                        <a:rPr lang="en-US" altLang="ko-KR" sz="9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9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톤</a:t>
                      </a:r>
                      <a:r>
                        <a:rPr lang="en-US" altLang="ko-KR" sz="9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9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형식 또는 기타 답변 품질 측면의 설정 및 개선 </a:t>
                      </a:r>
                    </a:p>
                  </a:txBody>
                  <a:tcPr marL="60524" marR="60524" marT="42367" marB="42367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9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특정 톤과 스타일로 답변 생성 </a:t>
                      </a:r>
                      <a:endParaRPr lang="en-US" altLang="ko-KR" sz="9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t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 </a:t>
                      </a:r>
                      <a:r>
                        <a:rPr lang="ko-KR" altLang="en-US" sz="9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광고 문구 생성 </a:t>
                      </a:r>
                      <a:endParaRPr lang="en-US" altLang="ko-KR" sz="9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algn="l" fontAlgn="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altLang="ko-KR" sz="9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 </a:t>
                      </a:r>
                      <a:r>
                        <a:rPr lang="ko-KR" altLang="en-US" sz="9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개인화된 고객 대응을 위한 대화 어투 조정  </a:t>
                      </a:r>
                    </a:p>
                  </a:txBody>
                  <a:tcPr marL="60524" marR="60524" marT="42367" marB="42367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광고 문구 생성</a:t>
                      </a: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고객 서비스용 답변  생성 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60524" marR="60524" marT="42367" marB="42367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106711"/>
                  </a:ext>
                </a:extLst>
              </a:tr>
              <a:tr h="785878">
                <a:tc>
                  <a:txBody>
                    <a:bodyPr/>
                    <a:lstStyle/>
                    <a:p>
                      <a:pPr marL="176213" indent="-176213" algn="l" defTabSz="914400" rtl="0" eaLnBrk="1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②원하는 출력을 생성하는 답변 신뢰성을 개선</a:t>
                      </a:r>
                    </a:p>
                  </a:txBody>
                  <a:tcPr marL="60524" marR="60524" marT="42367" marB="42367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9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입력된 컨텐츠의 해석 능력 향상 </a:t>
                      </a:r>
                      <a:endParaRPr lang="en-US" altLang="ko-KR" sz="9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algn="l" fontAlgn="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altLang="ko-KR" sz="9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 </a:t>
                      </a:r>
                      <a:r>
                        <a:rPr lang="ko-KR" altLang="en-US" sz="9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금융연관 기사 논조 분석 → 시장예측 및 투자 결정에 활용 </a:t>
                      </a:r>
                    </a:p>
                    <a:p>
                      <a:pPr algn="l" fontAlgn="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altLang="ko-KR" sz="9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 </a:t>
                      </a:r>
                      <a:r>
                        <a:rPr lang="ko-KR" altLang="en-US" sz="9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고객 반응</a:t>
                      </a:r>
                      <a:r>
                        <a:rPr lang="en-US" altLang="ko-KR" sz="9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/</a:t>
                      </a:r>
                      <a:r>
                        <a:rPr lang="ko-KR" altLang="en-US" sz="9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대응 분석 → 고객 반응을 분석하여 적절한 답변</a:t>
                      </a:r>
                      <a:r>
                        <a:rPr lang="en-US" altLang="ko-KR" sz="9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/</a:t>
                      </a:r>
                      <a:r>
                        <a:rPr lang="ko-KR" altLang="en-US" sz="9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대응에 활용 </a:t>
                      </a:r>
                    </a:p>
                  </a:txBody>
                  <a:tcPr marL="60524" marR="60524" marT="42367" marB="42367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b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</a:br>
                      <a:endParaRPr lang="ko-KR" altLang="en-US" sz="900" b="0" u="none" dirty="0"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60524" marR="60524" marT="42367" marB="42367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9537191"/>
                  </a:ext>
                </a:extLst>
              </a:tr>
              <a:tr h="703443">
                <a:tc>
                  <a:txBody>
                    <a:bodyPr/>
                    <a:lstStyle/>
                    <a:p>
                      <a:pPr marL="176213" indent="-176213" algn="l" defTabSz="914400" rtl="0" eaLnBrk="1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③ 프롬프트로 명확히 기술하기 어려운 새로운 업무 또는 작업 수행</a:t>
                      </a:r>
                    </a:p>
                  </a:txBody>
                  <a:tcPr marL="60524" marR="60524" marT="42367" marB="42367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9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특정 영역이나 문맥의 번역 정확도 향상 </a:t>
                      </a:r>
                      <a:endParaRPr lang="en-US" altLang="ko-KR" sz="9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algn="l" fontAlgn="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altLang="ko-KR" sz="9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 </a:t>
                      </a:r>
                      <a:r>
                        <a:rPr lang="ko-KR" altLang="en-US" sz="9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특허</a:t>
                      </a:r>
                      <a:r>
                        <a:rPr lang="en-US" altLang="ko-KR" sz="9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9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종교 등의 특정 영역의 번역 정확도 향상 </a:t>
                      </a:r>
                      <a:endParaRPr lang="en-US" altLang="ko-KR" sz="9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algn="l" fontAlgn="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endParaRPr lang="en-US" altLang="ko-KR" sz="9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60524" marR="60524" marT="42367" marB="42367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기술 특허 유사도 분류 </a:t>
                      </a: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–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분야별 </a:t>
                      </a:r>
                      <a:r>
                        <a:rPr lang="ko-KR" altLang="en-US" sz="900" b="0" u="none" dirty="0" err="1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파인튜닝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60524" marR="60524" marT="42367" marB="42367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756068"/>
                  </a:ext>
                </a:extLst>
              </a:tr>
              <a:tr h="724349">
                <a:tc>
                  <a:txBody>
                    <a:bodyPr/>
                    <a:lstStyle/>
                    <a:p>
                      <a:pPr marL="176213" indent="-176213" algn="l" defTabSz="914400" rtl="0" eaLnBrk="1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④ 복잡한 프롬프트를 제대로 따라하지 못하는 실패 교정</a:t>
                      </a:r>
                    </a:p>
                  </a:txBody>
                  <a:tcPr marL="60524" marR="60524" marT="42367" marB="42367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9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사용자 프롬프트에서 특정 정보 추출</a:t>
                      </a:r>
                      <a:endParaRPr lang="en-US" altLang="ko-KR" sz="9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algn="l" fontAlgn="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altLang="ko-KR" sz="9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 </a:t>
                      </a:r>
                      <a:r>
                        <a:rPr lang="ko-KR" altLang="en-US" sz="9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특정 상품에 사용자 질의에서 상품명 및 키워드에 대한 데이터 추출</a:t>
                      </a:r>
                    </a:p>
                  </a:txBody>
                  <a:tcPr marL="60524" marR="60524" marT="42367" marB="42367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Text2SQL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생성 정확도 향상 </a:t>
                      </a:r>
                      <a:r>
                        <a:rPr lang="en-US" altLang="ko-KR" sz="900" b="0" u="none" baseline="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(65% </a:t>
                      </a:r>
                      <a:r>
                        <a:rPr lang="ko-KR" altLang="en-US" sz="900" b="0" u="none" baseline="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→</a:t>
                      </a:r>
                      <a:r>
                        <a:rPr lang="en-US" altLang="ko-KR" sz="900" b="0" u="none" baseline="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sym typeface="Wingdings" panose="05000000000000000000" pitchFamily="2" charset="2"/>
                        </a:rPr>
                        <a:t> 75%) 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algn="l" fontAlgn="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Log File, System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메시지 해석 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60524" marR="60524" marT="42367" marB="42367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544075"/>
                  </a:ext>
                </a:extLst>
              </a:tr>
              <a:tr h="585298">
                <a:tc>
                  <a:txBody>
                    <a:bodyPr/>
                    <a:lstStyle/>
                    <a:p>
                      <a:pPr marL="176213" indent="-176213" algn="l" defTabSz="914400" rtl="0" eaLnBrk="1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⑤ 특정 방식으로 여러 에지 케이스 처리</a:t>
                      </a:r>
                    </a:p>
                  </a:txBody>
                  <a:tcPr marL="60524" marR="60524" marT="42367" marB="42367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특정 유형이나 스타일의 답변을 생성 </a:t>
                      </a:r>
                      <a:endParaRPr lang="en-US" altLang="ko-KR" sz="900" kern="1200" dirty="0">
                        <a:solidFill>
                          <a:schemeClr val="dk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pPr marL="0" algn="l" defTabSz="914400" rtl="0" eaLnBrk="1" fontAlgn="t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특정 유형의  코드 생성</a:t>
                      </a:r>
                      <a:endParaRPr lang="en-US" altLang="ko-KR" sz="900" kern="1200" dirty="0">
                        <a:solidFill>
                          <a:schemeClr val="dk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60524" marR="60524" marT="42367" marB="42367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endParaRPr lang="ko-KR" altLang="en-US" sz="900" kern="1200" dirty="0">
                        <a:solidFill>
                          <a:schemeClr val="dk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60524" marR="60524" marT="42367" marB="42367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6505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83509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BF8FB9-2046-4DAC-FC4C-6B7CCA1BE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Inference Serving </a:t>
            </a:r>
            <a:r>
              <a:rPr lang="ko-KR" altLang="en-US" dirty="0"/>
              <a:t>이슈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DE0C3-E3E2-A265-1310-40069E9645D2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95290" y="596013"/>
            <a:ext cx="8353424" cy="466090"/>
          </a:xfrm>
        </p:spPr>
        <p:txBody>
          <a:bodyPr/>
          <a:lstStyle/>
          <a:p>
            <a:r>
              <a:rPr lang="en-US" altLang="ko-KR" dirty="0" err="1"/>
              <a:t>LoRA</a:t>
            </a:r>
            <a:r>
              <a:rPr lang="en-US" altLang="ko-KR" dirty="0"/>
              <a:t> Adapter</a:t>
            </a:r>
            <a:r>
              <a:rPr lang="ko-KR" altLang="en-US" dirty="0"/>
              <a:t>를 동적으로 </a:t>
            </a:r>
            <a:r>
              <a:rPr lang="ko-KR" altLang="en-US" dirty="0" err="1"/>
              <a:t>로딩하여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Base Model Weight</a:t>
            </a:r>
            <a:r>
              <a:rPr lang="ko-KR" altLang="en-US" dirty="0"/>
              <a:t>와 </a:t>
            </a:r>
            <a:r>
              <a:rPr lang="en-US" altLang="ko-KR" dirty="0"/>
              <a:t>Lora Adapter</a:t>
            </a:r>
            <a:r>
              <a:rPr lang="ko-KR" altLang="en-US" dirty="0"/>
              <a:t>연산을 따로 수행하여 결과를 합친 후 추론 결과를 제공</a:t>
            </a:r>
          </a:p>
        </p:txBody>
      </p: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6C4DF7FD-A847-9EFA-6451-4653EFFCE893}"/>
              </a:ext>
            </a:extLst>
          </p:cNvPr>
          <p:cNvGrpSpPr/>
          <p:nvPr/>
        </p:nvGrpSpPr>
        <p:grpSpPr>
          <a:xfrm>
            <a:off x="985315" y="1252923"/>
            <a:ext cx="6418074" cy="3515071"/>
            <a:chOff x="600093" y="2017187"/>
            <a:chExt cx="7511371" cy="411056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E6BE9F9-6D65-57EC-FD2B-7BD56CB651F9}"/>
                </a:ext>
              </a:extLst>
            </p:cNvPr>
            <p:cNvSpPr txBox="1"/>
            <p:nvPr/>
          </p:nvSpPr>
          <p:spPr>
            <a:xfrm>
              <a:off x="796757" y="2017187"/>
              <a:ext cx="3139145" cy="243813"/>
            </a:xfrm>
            <a:prstGeom prst="roundRect">
              <a:avLst>
                <a:gd name="adj" fmla="val 50000"/>
              </a:avLst>
            </a:prstGeom>
            <a:solidFill>
              <a:sysClr val="window" lastClr="FFFFFF">
                <a:lumMod val="65000"/>
              </a:sysClr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0" cap="none" spc="0" normalizeH="0" baseline="0" noProof="0" dirty="0">
                  <a:ln>
                    <a:solidFill>
                      <a:srgbClr val="D9D9D9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(AS-IS) Multiple LoRA Model Serving</a:t>
              </a:r>
              <a:endParaRPr kumimoji="0" lang="ko-KR" altLang="en-US" sz="1000" b="1" i="0" u="none" strike="noStrike" kern="0" cap="none" spc="0" normalizeH="0" baseline="0" noProof="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146C752-0B63-44AD-82BB-1102B7CD7CBB}"/>
                </a:ext>
              </a:extLst>
            </p:cNvPr>
            <p:cNvSpPr txBox="1"/>
            <p:nvPr/>
          </p:nvSpPr>
          <p:spPr>
            <a:xfrm>
              <a:off x="4811295" y="2029680"/>
              <a:ext cx="3139145" cy="243813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lumMod val="50000"/>
              </a:schemeClr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ctr" defTabSz="121917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solidFill>
                      <a:srgbClr val="D9D9D9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(TO-BE) Multi-LoRA Serving</a:t>
              </a:r>
              <a:endParaRPr kumimoji="0" lang="ko-KR" altLang="en-US" sz="1000" b="1" i="0" u="none" strike="noStrike" kern="1200" cap="none" spc="0" normalizeH="0" baseline="0" noProof="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CD238875-C032-01F7-1154-96CB1F6DF7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2123" y="5291533"/>
              <a:ext cx="600554" cy="322075"/>
            </a:xfrm>
            <a:prstGeom prst="rect">
              <a:avLst/>
            </a:prstGeom>
          </p:spPr>
        </p:pic>
        <p:sp>
          <p:nvSpPr>
            <p:cNvPr id="7" name="모서리가 둥근 직사각형 18">
              <a:extLst>
                <a:ext uri="{FF2B5EF4-FFF2-40B4-BE49-F238E27FC236}">
                  <a16:creationId xmlns:a16="http://schemas.microsoft.com/office/drawing/2014/main" id="{F256C199-6CDE-7A18-AD19-2354EC26BCE0}"/>
                </a:ext>
              </a:extLst>
            </p:cNvPr>
            <p:cNvSpPr/>
            <p:nvPr/>
          </p:nvSpPr>
          <p:spPr>
            <a:xfrm>
              <a:off x="706651" y="2765671"/>
              <a:ext cx="751499" cy="2250920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ED7D31">
                  <a:lumMod val="40000"/>
                  <a:lumOff val="60000"/>
                </a:srgbClr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나눔스퀘어" panose="020B0600000101010101" pitchFamily="50" charset="-127"/>
                <a:cs typeface="+mn-cs"/>
              </a:endParaRPr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D946E89D-FF48-5584-1296-8EE7D3FD76F3}"/>
                </a:ext>
              </a:extLst>
            </p:cNvPr>
            <p:cNvGrpSpPr/>
            <p:nvPr/>
          </p:nvGrpSpPr>
          <p:grpSpPr>
            <a:xfrm>
              <a:off x="706650" y="3963794"/>
              <a:ext cx="751499" cy="961627"/>
              <a:chOff x="820414" y="4293008"/>
              <a:chExt cx="606582" cy="825425"/>
            </a:xfrm>
          </p:grpSpPr>
          <p:sp>
            <p:nvSpPr>
              <p:cNvPr id="9" name="모서리가 둥근 직사각형 2">
                <a:extLst>
                  <a:ext uri="{FF2B5EF4-FFF2-40B4-BE49-F238E27FC236}">
                    <a16:creationId xmlns:a16="http://schemas.microsoft.com/office/drawing/2014/main" id="{62D3F221-A2DC-BBF4-165C-7E131F46BE52}"/>
                  </a:ext>
                </a:extLst>
              </p:cNvPr>
              <p:cNvSpPr/>
              <p:nvPr/>
            </p:nvSpPr>
            <p:spPr>
              <a:xfrm>
                <a:off x="881333" y="4293008"/>
                <a:ext cx="484745" cy="803079"/>
              </a:xfrm>
              <a:prstGeom prst="roundRect">
                <a:avLst>
                  <a:gd name="adj" fmla="val 12857"/>
                </a:avLst>
              </a:prstGeom>
              <a:solidFill>
                <a:sysClr val="window" lastClr="FFFFFF">
                  <a:lumMod val="95000"/>
                </a:sysClr>
              </a:solidFill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  <a:cs typeface="+mn-cs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0190C5E-0562-EC73-C0AD-FDC68D0DC65F}"/>
                  </a:ext>
                </a:extLst>
              </p:cNvPr>
              <p:cNvSpPr txBox="1"/>
              <p:nvPr/>
            </p:nvSpPr>
            <p:spPr>
              <a:xfrm>
                <a:off x="820414" y="4597536"/>
                <a:ext cx="606582" cy="5208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나눔스퀘어" panose="020B0600000101010101" pitchFamily="50" charset="-127"/>
                    <a:cs typeface="+mn-cs"/>
                  </a:rPr>
                  <a:t>LLM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나눔스퀘어" panose="020B0600000101010101" pitchFamily="50" charset="-127"/>
                    <a:cs typeface="+mn-cs"/>
                  </a:rPr>
                  <a:t>( Base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나눔스퀘어" panose="020B0600000101010101" pitchFamily="50" charset="-127"/>
                    <a:cs typeface="+mn-cs"/>
                  </a:rPr>
                  <a:t>Model )</a:t>
                </a:r>
                <a:endPara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  <a:cs typeface="+mn-cs"/>
                </a:endParaRPr>
              </a:p>
            </p:txBody>
          </p:sp>
          <p:pic>
            <p:nvPicPr>
              <p:cNvPr id="11" name="Picture 2" descr="AI - Free computer icons">
                <a:extLst>
                  <a:ext uri="{FF2B5EF4-FFF2-40B4-BE49-F238E27FC236}">
                    <a16:creationId xmlns:a16="http://schemas.microsoft.com/office/drawing/2014/main" id="{7B697273-899B-8A64-A012-520C2AA75DF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screen">
                <a:duotone>
                  <a:prstClr val="black"/>
                  <a:srgbClr val="4472C4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19110" y="4293009"/>
                <a:ext cx="409190" cy="4091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2" name="모서리가 둥근 직사각형 17">
              <a:extLst>
                <a:ext uri="{FF2B5EF4-FFF2-40B4-BE49-F238E27FC236}">
                  <a16:creationId xmlns:a16="http://schemas.microsoft.com/office/drawing/2014/main" id="{67F0B5DD-0B32-24C1-62E2-0C69C912EAAF}"/>
                </a:ext>
              </a:extLst>
            </p:cNvPr>
            <p:cNvSpPr/>
            <p:nvPr/>
          </p:nvSpPr>
          <p:spPr>
            <a:xfrm>
              <a:off x="782122" y="2864927"/>
              <a:ext cx="600554" cy="643234"/>
            </a:xfrm>
            <a:prstGeom prst="roundRect">
              <a:avLst>
                <a:gd name="adj" fmla="val 12857"/>
              </a:avLst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나눔스퀘어" panose="020B0600000101010101" pitchFamily="50" charset="-127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3438AE6-D376-AB7F-1D70-F12A589889CA}"/>
                </a:ext>
              </a:extLst>
            </p:cNvPr>
            <p:cNvSpPr txBox="1"/>
            <p:nvPr/>
          </p:nvSpPr>
          <p:spPr>
            <a:xfrm>
              <a:off x="864786" y="2847723"/>
              <a:ext cx="471089" cy="4161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75000"/>
                    </a:srgbClr>
                  </a:solidFill>
                  <a:effectLst/>
                  <a:uLnTx/>
                  <a:uFillTx/>
                  <a:latin typeface="Bauhaus 93" panose="04030905020B02020C02" pitchFamily="82" charset="0"/>
                  <a:ea typeface="나눔스퀘어" panose="020B0600000101010101" pitchFamily="50" charset="-127"/>
                  <a:cs typeface="+mn-cs"/>
                </a:rPr>
                <a:t>W</a:t>
              </a: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Bauhaus 93" panose="04030905020B02020C02" pitchFamily="82" charset="0"/>
                <a:ea typeface="나눔스퀘어" panose="020B0600000101010101" pitchFamily="50" charset="-127"/>
                <a:cs typeface="+mn-cs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15BDC64-06EF-FD86-A48D-3E7DA0ED8B56}"/>
                </a:ext>
              </a:extLst>
            </p:cNvPr>
            <p:cNvSpPr txBox="1"/>
            <p:nvPr/>
          </p:nvSpPr>
          <p:spPr>
            <a:xfrm>
              <a:off x="786152" y="3196519"/>
              <a:ext cx="628354" cy="2947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  <a:cs typeface="+mn-cs"/>
                </a:rPr>
                <a:t>LoRA 1</a:t>
              </a:r>
              <a:endPara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나눔스퀘어" panose="020B0600000101010101" pitchFamily="50" charset="-127"/>
                <a:cs typeface="+mn-cs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D1C111B2-78A6-0A06-D68A-C61D8C7A04BC}"/>
                </a:ext>
              </a:extLst>
            </p:cNvPr>
            <p:cNvSpPr/>
            <p:nvPr/>
          </p:nvSpPr>
          <p:spPr>
            <a:xfrm>
              <a:off x="978133" y="3618234"/>
              <a:ext cx="244392" cy="207080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  <a:cs typeface="+mn-cs"/>
                </a:rPr>
                <a:t>+</a:t>
              </a: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나눔스퀘어" panose="020B0600000101010101" pitchFamily="50" charset="-127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A759ABD-F63C-6C4D-D00F-FE7064547C5B}"/>
                </a:ext>
              </a:extLst>
            </p:cNvPr>
            <p:cNvSpPr txBox="1"/>
            <p:nvPr/>
          </p:nvSpPr>
          <p:spPr>
            <a:xfrm>
              <a:off x="600093" y="2481985"/>
              <a:ext cx="964611" cy="2947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  <a:cs typeface="+mn-cs"/>
                </a:rPr>
                <a:t>TASK 1</a:t>
              </a:r>
              <a:endPara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나눔스퀘어" panose="020B0600000101010101" pitchFamily="50" charset="-127"/>
                <a:cs typeface="+mn-cs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972B68A9-7D3D-BC3A-16E2-2D281633907B}"/>
                </a:ext>
              </a:extLst>
            </p:cNvPr>
            <p:cNvCxnSpPr/>
            <p:nvPr/>
          </p:nvCxnSpPr>
          <p:spPr>
            <a:xfrm>
              <a:off x="748225" y="5179398"/>
              <a:ext cx="3249338" cy="5949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olid"/>
              <a:miter lim="800000"/>
            </a:ln>
            <a:effectLst/>
          </p:spPr>
        </p:cxnSp>
        <p:sp>
          <p:nvSpPr>
            <p:cNvPr id="18" name="모서리가 둥근 직사각형 28">
              <a:extLst>
                <a:ext uri="{FF2B5EF4-FFF2-40B4-BE49-F238E27FC236}">
                  <a16:creationId xmlns:a16="http://schemas.microsoft.com/office/drawing/2014/main" id="{962AB95D-5C4D-DAA7-98E4-87C17E323B97}"/>
                </a:ext>
              </a:extLst>
            </p:cNvPr>
            <p:cNvSpPr/>
            <p:nvPr/>
          </p:nvSpPr>
          <p:spPr>
            <a:xfrm>
              <a:off x="1567975" y="2766247"/>
              <a:ext cx="751499" cy="2250920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ED7D31">
                  <a:lumMod val="40000"/>
                  <a:lumOff val="60000"/>
                </a:srgbClr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나눔스퀘어" panose="020B0600000101010101" pitchFamily="50" charset="-127"/>
                <a:cs typeface="+mn-cs"/>
              </a:endParaRP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43289270-1E09-D993-2D44-41186A549A23}"/>
                </a:ext>
              </a:extLst>
            </p:cNvPr>
            <p:cNvGrpSpPr/>
            <p:nvPr/>
          </p:nvGrpSpPr>
          <p:grpSpPr>
            <a:xfrm>
              <a:off x="1567974" y="3964371"/>
              <a:ext cx="751499" cy="961627"/>
              <a:chOff x="820414" y="4293008"/>
              <a:chExt cx="606582" cy="825425"/>
            </a:xfrm>
          </p:grpSpPr>
          <p:sp>
            <p:nvSpPr>
              <p:cNvPr id="20" name="모서리가 둥근 직사각형 35">
                <a:extLst>
                  <a:ext uri="{FF2B5EF4-FFF2-40B4-BE49-F238E27FC236}">
                    <a16:creationId xmlns:a16="http://schemas.microsoft.com/office/drawing/2014/main" id="{5DEED4AE-2A27-6A13-58FA-DCEEE3461CA1}"/>
                  </a:ext>
                </a:extLst>
              </p:cNvPr>
              <p:cNvSpPr/>
              <p:nvPr/>
            </p:nvSpPr>
            <p:spPr>
              <a:xfrm>
                <a:off x="881333" y="4293008"/>
                <a:ext cx="484745" cy="803079"/>
              </a:xfrm>
              <a:prstGeom prst="roundRect">
                <a:avLst>
                  <a:gd name="adj" fmla="val 12857"/>
                </a:avLst>
              </a:prstGeom>
              <a:solidFill>
                <a:sysClr val="window" lastClr="FFFFFF">
                  <a:lumMod val="95000"/>
                </a:sysClr>
              </a:solidFill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  <a:cs typeface="+mn-cs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5B7B046-F8CA-2CD7-97F8-5747AB0D62BF}"/>
                  </a:ext>
                </a:extLst>
              </p:cNvPr>
              <p:cNvSpPr txBox="1"/>
              <p:nvPr/>
            </p:nvSpPr>
            <p:spPr>
              <a:xfrm>
                <a:off x="820414" y="4597536"/>
                <a:ext cx="606582" cy="5208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나눔스퀘어" panose="020B0600000101010101" pitchFamily="50" charset="-127"/>
                    <a:cs typeface="+mn-cs"/>
                  </a:rPr>
                  <a:t>LLM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나눔스퀘어" panose="020B0600000101010101" pitchFamily="50" charset="-127"/>
                    <a:cs typeface="+mn-cs"/>
                  </a:rPr>
                  <a:t>( Base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나눔스퀘어" panose="020B0600000101010101" pitchFamily="50" charset="-127"/>
                    <a:cs typeface="+mn-cs"/>
                  </a:rPr>
                  <a:t>Model )</a:t>
                </a:r>
                <a:endPara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  <a:cs typeface="+mn-cs"/>
                </a:endParaRPr>
              </a:p>
            </p:txBody>
          </p:sp>
          <p:pic>
            <p:nvPicPr>
              <p:cNvPr id="22" name="Picture 2" descr="AI - Free computer icons">
                <a:extLst>
                  <a:ext uri="{FF2B5EF4-FFF2-40B4-BE49-F238E27FC236}">
                    <a16:creationId xmlns:a16="http://schemas.microsoft.com/office/drawing/2014/main" id="{A98C8D40-72E0-98C1-CAD8-CFC8A1EBB01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screen">
                <a:duotone>
                  <a:prstClr val="black"/>
                  <a:srgbClr val="4472C4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19110" y="4293009"/>
                <a:ext cx="409190" cy="4091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3" name="모서리가 둥근 직사각형 30">
              <a:extLst>
                <a:ext uri="{FF2B5EF4-FFF2-40B4-BE49-F238E27FC236}">
                  <a16:creationId xmlns:a16="http://schemas.microsoft.com/office/drawing/2014/main" id="{35C5FB59-690E-874E-D45D-F0FD2345625F}"/>
                </a:ext>
              </a:extLst>
            </p:cNvPr>
            <p:cNvSpPr/>
            <p:nvPr/>
          </p:nvSpPr>
          <p:spPr>
            <a:xfrm>
              <a:off x="1643445" y="2865504"/>
              <a:ext cx="600554" cy="643234"/>
            </a:xfrm>
            <a:prstGeom prst="roundRect">
              <a:avLst>
                <a:gd name="adj" fmla="val 12857"/>
              </a:avLst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나눔스퀘어" panose="020B0600000101010101" pitchFamily="50" charset="-127"/>
                <a:cs typeface="+mn-cs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8F00FF9-884B-7504-ED4A-82FD57EBC761}"/>
                </a:ext>
              </a:extLst>
            </p:cNvPr>
            <p:cNvSpPr txBox="1"/>
            <p:nvPr/>
          </p:nvSpPr>
          <p:spPr>
            <a:xfrm>
              <a:off x="1726109" y="2848300"/>
              <a:ext cx="471089" cy="4161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>
                      <a:lumMod val="75000"/>
                    </a:srgbClr>
                  </a:solidFill>
                  <a:effectLst/>
                  <a:uLnTx/>
                  <a:uFillTx/>
                  <a:latin typeface="Bauhaus 93" panose="04030905020B02020C02" pitchFamily="82" charset="0"/>
                  <a:ea typeface="나눔스퀘어" panose="020B0600000101010101" pitchFamily="50" charset="-127"/>
                  <a:cs typeface="+mn-cs"/>
                </a:rPr>
                <a:t>W</a:t>
              </a: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Bauhaus 93" panose="04030905020B02020C02" pitchFamily="82" charset="0"/>
                <a:ea typeface="나눔스퀘어" panose="020B0600000101010101" pitchFamily="50" charset="-127"/>
                <a:cs typeface="+mn-cs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FFF2BBB-0609-0CE4-3233-1EAF47ED7D8E}"/>
                </a:ext>
              </a:extLst>
            </p:cNvPr>
            <p:cNvSpPr txBox="1"/>
            <p:nvPr/>
          </p:nvSpPr>
          <p:spPr>
            <a:xfrm>
              <a:off x="1647476" y="3197095"/>
              <a:ext cx="628354" cy="2947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  <a:cs typeface="+mn-cs"/>
                </a:rPr>
                <a:t>LoRA</a:t>
              </a:r>
              <a:r>
                <a:rPr kumimoji="0" lang="en-US" altLang="ko-KR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  <a:cs typeface="+mn-cs"/>
                </a:rPr>
                <a:t> 2</a:t>
              </a:r>
              <a:endPara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나눔스퀘어" panose="020B0600000101010101" pitchFamily="50" charset="-127"/>
                <a:cs typeface="+mn-cs"/>
              </a:endParaRPr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28AB2CFA-B145-F8A0-4431-044FDD174837}"/>
                </a:ext>
              </a:extLst>
            </p:cNvPr>
            <p:cNvSpPr/>
            <p:nvPr/>
          </p:nvSpPr>
          <p:spPr>
            <a:xfrm>
              <a:off x="1839457" y="3618811"/>
              <a:ext cx="244392" cy="207080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  <a:cs typeface="+mn-cs"/>
                </a:rPr>
                <a:t>+</a:t>
              </a: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나눔스퀘어" panose="020B0600000101010101" pitchFamily="50" charset="-127"/>
                <a:cs typeface="+mn-cs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FDBCC3D-BFF5-69AD-3B82-2B76EB44EEB0}"/>
                </a:ext>
              </a:extLst>
            </p:cNvPr>
            <p:cNvSpPr txBox="1"/>
            <p:nvPr/>
          </p:nvSpPr>
          <p:spPr>
            <a:xfrm>
              <a:off x="1461416" y="2482562"/>
              <a:ext cx="964611" cy="2947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  <a:cs typeface="+mn-cs"/>
                </a:rPr>
                <a:t>TASK 2</a:t>
              </a:r>
              <a:endPara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나눔스퀘어" panose="020B0600000101010101" pitchFamily="50" charset="-127"/>
                <a:cs typeface="+mn-cs"/>
              </a:endParaRPr>
            </a:p>
          </p:txBody>
        </p:sp>
        <p:sp>
          <p:nvSpPr>
            <p:cNvPr id="28" name="모서리가 둥근 직사각형 39">
              <a:extLst>
                <a:ext uri="{FF2B5EF4-FFF2-40B4-BE49-F238E27FC236}">
                  <a16:creationId xmlns:a16="http://schemas.microsoft.com/office/drawing/2014/main" id="{3AEB8688-DEA1-9282-445F-D7DEF7410A64}"/>
                </a:ext>
              </a:extLst>
            </p:cNvPr>
            <p:cNvSpPr/>
            <p:nvPr/>
          </p:nvSpPr>
          <p:spPr>
            <a:xfrm>
              <a:off x="2426029" y="2765671"/>
              <a:ext cx="751499" cy="2250920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ED7D31">
                  <a:lumMod val="40000"/>
                  <a:lumOff val="60000"/>
                </a:srgbClr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나눔스퀘어" panose="020B0600000101010101" pitchFamily="50" charset="-127"/>
                <a:cs typeface="+mn-cs"/>
              </a:endParaRPr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10130EA4-DD4E-1712-B94F-8FF3B4D8C295}"/>
                </a:ext>
              </a:extLst>
            </p:cNvPr>
            <p:cNvGrpSpPr/>
            <p:nvPr/>
          </p:nvGrpSpPr>
          <p:grpSpPr>
            <a:xfrm>
              <a:off x="2426028" y="3963794"/>
              <a:ext cx="751499" cy="961627"/>
              <a:chOff x="820414" y="4293008"/>
              <a:chExt cx="606582" cy="825425"/>
            </a:xfrm>
          </p:grpSpPr>
          <p:sp>
            <p:nvSpPr>
              <p:cNvPr id="30" name="모서리가 둥근 직사각형 46">
                <a:extLst>
                  <a:ext uri="{FF2B5EF4-FFF2-40B4-BE49-F238E27FC236}">
                    <a16:creationId xmlns:a16="http://schemas.microsoft.com/office/drawing/2014/main" id="{01FDB99F-4CD0-37E6-F2F8-718022FD4D84}"/>
                  </a:ext>
                </a:extLst>
              </p:cNvPr>
              <p:cNvSpPr/>
              <p:nvPr/>
            </p:nvSpPr>
            <p:spPr>
              <a:xfrm>
                <a:off x="881333" y="4293008"/>
                <a:ext cx="484745" cy="803079"/>
              </a:xfrm>
              <a:prstGeom prst="roundRect">
                <a:avLst>
                  <a:gd name="adj" fmla="val 12857"/>
                </a:avLst>
              </a:prstGeom>
              <a:solidFill>
                <a:sysClr val="window" lastClr="FFFFFF">
                  <a:lumMod val="95000"/>
                </a:sysClr>
              </a:solidFill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  <a:cs typeface="+mn-cs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136B11C-A173-A8B9-4C57-C7654361A881}"/>
                  </a:ext>
                </a:extLst>
              </p:cNvPr>
              <p:cNvSpPr txBox="1"/>
              <p:nvPr/>
            </p:nvSpPr>
            <p:spPr>
              <a:xfrm>
                <a:off x="820414" y="4597536"/>
                <a:ext cx="606582" cy="5208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나눔스퀘어" panose="020B0600000101010101" pitchFamily="50" charset="-127"/>
                    <a:cs typeface="+mn-cs"/>
                  </a:rPr>
                  <a:t>LLM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나눔스퀘어" panose="020B0600000101010101" pitchFamily="50" charset="-127"/>
                    <a:cs typeface="+mn-cs"/>
                  </a:rPr>
                  <a:t>( Base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나눔스퀘어" panose="020B0600000101010101" pitchFamily="50" charset="-127"/>
                    <a:cs typeface="+mn-cs"/>
                  </a:rPr>
                  <a:t>Model )</a:t>
                </a:r>
                <a:endPara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  <a:cs typeface="+mn-cs"/>
                </a:endParaRPr>
              </a:p>
            </p:txBody>
          </p:sp>
          <p:pic>
            <p:nvPicPr>
              <p:cNvPr id="32" name="Picture 2" descr="AI - Free computer icons">
                <a:extLst>
                  <a:ext uri="{FF2B5EF4-FFF2-40B4-BE49-F238E27FC236}">
                    <a16:creationId xmlns:a16="http://schemas.microsoft.com/office/drawing/2014/main" id="{79B594B1-D722-562D-3481-9BBDA3CD884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screen">
                <a:duotone>
                  <a:prstClr val="black"/>
                  <a:srgbClr val="4472C4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19110" y="4293009"/>
                <a:ext cx="409190" cy="4091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3" name="모서리가 둥근 직사각형 41">
              <a:extLst>
                <a:ext uri="{FF2B5EF4-FFF2-40B4-BE49-F238E27FC236}">
                  <a16:creationId xmlns:a16="http://schemas.microsoft.com/office/drawing/2014/main" id="{BC2CBD30-E64A-7A8F-05FA-7D8ECE5B5A9B}"/>
                </a:ext>
              </a:extLst>
            </p:cNvPr>
            <p:cNvSpPr/>
            <p:nvPr/>
          </p:nvSpPr>
          <p:spPr>
            <a:xfrm>
              <a:off x="2501499" y="2864927"/>
              <a:ext cx="600554" cy="643234"/>
            </a:xfrm>
            <a:prstGeom prst="roundRect">
              <a:avLst>
                <a:gd name="adj" fmla="val 12857"/>
              </a:avLst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나눔스퀘어" panose="020B0600000101010101" pitchFamily="50" charset="-127"/>
                <a:cs typeface="+mn-cs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DF130EC-4FD4-606D-0CF7-4E06020AED78}"/>
                </a:ext>
              </a:extLst>
            </p:cNvPr>
            <p:cNvSpPr txBox="1"/>
            <p:nvPr/>
          </p:nvSpPr>
          <p:spPr>
            <a:xfrm>
              <a:off x="2584163" y="2847723"/>
              <a:ext cx="471089" cy="4161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A5A5A5">
                      <a:lumMod val="75000"/>
                    </a:srgbClr>
                  </a:solidFill>
                  <a:effectLst/>
                  <a:uLnTx/>
                  <a:uFillTx/>
                  <a:latin typeface="Bauhaus 93" panose="04030905020B02020C02" pitchFamily="82" charset="0"/>
                  <a:ea typeface="나눔스퀘어" panose="020B0600000101010101" pitchFamily="50" charset="-127"/>
                  <a:cs typeface="+mn-cs"/>
                </a:rPr>
                <a:t>W</a:t>
              </a: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5A5A5">
                    <a:lumMod val="75000"/>
                  </a:srgbClr>
                </a:solidFill>
                <a:effectLst/>
                <a:uLnTx/>
                <a:uFillTx/>
                <a:latin typeface="Bauhaus 93" panose="04030905020B02020C02" pitchFamily="82" charset="0"/>
                <a:ea typeface="나눔스퀘어" panose="020B0600000101010101" pitchFamily="50" charset="-127"/>
                <a:cs typeface="+mn-cs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D2A708D-DE11-1AB3-B5AE-81F306E3E89E}"/>
                </a:ext>
              </a:extLst>
            </p:cNvPr>
            <p:cNvSpPr txBox="1"/>
            <p:nvPr/>
          </p:nvSpPr>
          <p:spPr>
            <a:xfrm>
              <a:off x="2505530" y="3196519"/>
              <a:ext cx="628354" cy="2947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  <a:cs typeface="+mn-cs"/>
                </a:rPr>
                <a:t>LoRA</a:t>
              </a:r>
              <a:r>
                <a:rPr kumimoji="0" lang="en-US" altLang="ko-KR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  <a:cs typeface="+mn-cs"/>
                </a:rPr>
                <a:t> 3</a:t>
              </a:r>
              <a:endPara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나눔스퀘어" panose="020B0600000101010101" pitchFamily="50" charset="-127"/>
                <a:cs typeface="+mn-cs"/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B3DBC8DB-ED25-1C40-55E8-E3A05E63D76D}"/>
                </a:ext>
              </a:extLst>
            </p:cNvPr>
            <p:cNvSpPr/>
            <p:nvPr/>
          </p:nvSpPr>
          <p:spPr>
            <a:xfrm>
              <a:off x="2697511" y="3618234"/>
              <a:ext cx="244392" cy="207080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  <a:cs typeface="+mn-cs"/>
                </a:rPr>
                <a:t>+</a:t>
              </a: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나눔스퀘어" panose="020B0600000101010101" pitchFamily="50" charset="-127"/>
                <a:cs typeface="+mn-cs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B6513C5-0A5F-0904-4DA4-E1583242B200}"/>
                </a:ext>
              </a:extLst>
            </p:cNvPr>
            <p:cNvSpPr txBox="1"/>
            <p:nvPr/>
          </p:nvSpPr>
          <p:spPr>
            <a:xfrm>
              <a:off x="2319470" y="2481985"/>
              <a:ext cx="964611" cy="2947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  <a:cs typeface="+mn-cs"/>
                </a:rPr>
                <a:t>TASK 3</a:t>
              </a:r>
              <a:endPara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나눔스퀘어" panose="020B0600000101010101" pitchFamily="50" charset="-127"/>
                <a:cs typeface="+mn-cs"/>
              </a:endParaRPr>
            </a:p>
          </p:txBody>
        </p:sp>
        <p:sp>
          <p:nvSpPr>
            <p:cNvPr id="38" name="모서리가 둥근 직사각형 50">
              <a:extLst>
                <a:ext uri="{FF2B5EF4-FFF2-40B4-BE49-F238E27FC236}">
                  <a16:creationId xmlns:a16="http://schemas.microsoft.com/office/drawing/2014/main" id="{09C06C5C-DE4D-ADA2-5D29-E43E319A42F8}"/>
                </a:ext>
              </a:extLst>
            </p:cNvPr>
            <p:cNvSpPr/>
            <p:nvPr/>
          </p:nvSpPr>
          <p:spPr>
            <a:xfrm>
              <a:off x="3301262" y="2765671"/>
              <a:ext cx="751499" cy="2250920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ED7D31">
                  <a:lumMod val="40000"/>
                  <a:lumOff val="60000"/>
                </a:srgbClr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나눔스퀘어" panose="020B0600000101010101" pitchFamily="50" charset="-127"/>
                <a:cs typeface="+mn-cs"/>
              </a:endParaRPr>
            </a:p>
          </p:txBody>
        </p: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A26C3C9E-46D2-6835-FA2F-CFDC88AF947B}"/>
                </a:ext>
              </a:extLst>
            </p:cNvPr>
            <p:cNvGrpSpPr/>
            <p:nvPr/>
          </p:nvGrpSpPr>
          <p:grpSpPr>
            <a:xfrm>
              <a:off x="3301260" y="3963794"/>
              <a:ext cx="751499" cy="961627"/>
              <a:chOff x="820414" y="4293008"/>
              <a:chExt cx="606582" cy="825425"/>
            </a:xfrm>
          </p:grpSpPr>
          <p:sp>
            <p:nvSpPr>
              <p:cNvPr id="40" name="모서리가 둥근 직사각형 57">
                <a:extLst>
                  <a:ext uri="{FF2B5EF4-FFF2-40B4-BE49-F238E27FC236}">
                    <a16:creationId xmlns:a16="http://schemas.microsoft.com/office/drawing/2014/main" id="{F6336583-4D67-DBDC-C4DB-0B2AD22160BF}"/>
                  </a:ext>
                </a:extLst>
              </p:cNvPr>
              <p:cNvSpPr/>
              <p:nvPr/>
            </p:nvSpPr>
            <p:spPr>
              <a:xfrm>
                <a:off x="881333" y="4293008"/>
                <a:ext cx="484745" cy="803079"/>
              </a:xfrm>
              <a:prstGeom prst="roundRect">
                <a:avLst>
                  <a:gd name="adj" fmla="val 12857"/>
                </a:avLst>
              </a:prstGeom>
              <a:solidFill>
                <a:sysClr val="window" lastClr="FFFFFF">
                  <a:lumMod val="95000"/>
                </a:sysClr>
              </a:solidFill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  <a:cs typeface="+mn-cs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B1D2794-2EDE-E0C0-E85C-B4D05313BD18}"/>
                  </a:ext>
                </a:extLst>
              </p:cNvPr>
              <p:cNvSpPr txBox="1"/>
              <p:nvPr/>
            </p:nvSpPr>
            <p:spPr>
              <a:xfrm>
                <a:off x="820414" y="4597536"/>
                <a:ext cx="606582" cy="5208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나눔스퀘어" panose="020B0600000101010101" pitchFamily="50" charset="-127"/>
                    <a:cs typeface="+mn-cs"/>
                  </a:rPr>
                  <a:t>LLM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나눔스퀘어" panose="020B0600000101010101" pitchFamily="50" charset="-127"/>
                    <a:cs typeface="+mn-cs"/>
                  </a:rPr>
                  <a:t>( Base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나눔스퀘어" panose="020B0600000101010101" pitchFamily="50" charset="-127"/>
                    <a:cs typeface="+mn-cs"/>
                  </a:rPr>
                  <a:t>Model )</a:t>
                </a:r>
                <a:endPara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  <a:cs typeface="+mn-cs"/>
                </a:endParaRPr>
              </a:p>
            </p:txBody>
          </p:sp>
          <p:pic>
            <p:nvPicPr>
              <p:cNvPr id="42" name="Picture 2" descr="AI - Free computer icons">
                <a:extLst>
                  <a:ext uri="{FF2B5EF4-FFF2-40B4-BE49-F238E27FC236}">
                    <a16:creationId xmlns:a16="http://schemas.microsoft.com/office/drawing/2014/main" id="{6C505B9B-C813-1357-C196-14870C880EB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screen">
                <a:duotone>
                  <a:prstClr val="black"/>
                  <a:srgbClr val="4472C4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19110" y="4293009"/>
                <a:ext cx="409190" cy="4091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43" name="모서리가 둥근 직사각형 52">
              <a:extLst>
                <a:ext uri="{FF2B5EF4-FFF2-40B4-BE49-F238E27FC236}">
                  <a16:creationId xmlns:a16="http://schemas.microsoft.com/office/drawing/2014/main" id="{2EDEA281-547D-6361-BB5A-9B6C361EC72F}"/>
                </a:ext>
              </a:extLst>
            </p:cNvPr>
            <p:cNvSpPr/>
            <p:nvPr/>
          </p:nvSpPr>
          <p:spPr>
            <a:xfrm>
              <a:off x="3376732" y="2864927"/>
              <a:ext cx="600554" cy="643234"/>
            </a:xfrm>
            <a:prstGeom prst="roundRect">
              <a:avLst>
                <a:gd name="adj" fmla="val 12857"/>
              </a:avLst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나눔스퀘어" panose="020B0600000101010101" pitchFamily="50" charset="-127"/>
                <a:cs typeface="+mn-cs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F4D280C-6BF0-D5D8-F77B-E9B3CE36E00C}"/>
                </a:ext>
              </a:extLst>
            </p:cNvPr>
            <p:cNvSpPr txBox="1"/>
            <p:nvPr/>
          </p:nvSpPr>
          <p:spPr>
            <a:xfrm>
              <a:off x="3459396" y="2847723"/>
              <a:ext cx="471089" cy="4161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C000">
                      <a:lumMod val="75000"/>
                    </a:srgbClr>
                  </a:solidFill>
                  <a:effectLst/>
                  <a:uLnTx/>
                  <a:uFillTx/>
                  <a:latin typeface="Bauhaus 93" panose="04030905020B02020C02" pitchFamily="82" charset="0"/>
                  <a:ea typeface="나눔스퀘어" panose="020B0600000101010101" pitchFamily="50" charset="-127"/>
                  <a:cs typeface="+mn-cs"/>
                </a:rPr>
                <a:t>W</a:t>
              </a: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Bauhaus 93" panose="04030905020B02020C02" pitchFamily="82" charset="0"/>
                <a:ea typeface="나눔스퀘어" panose="020B0600000101010101" pitchFamily="50" charset="-127"/>
                <a:cs typeface="+mn-cs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BAA99B4-8F32-E7B2-7B5E-3A7A83B0CBA2}"/>
                </a:ext>
              </a:extLst>
            </p:cNvPr>
            <p:cNvSpPr txBox="1"/>
            <p:nvPr/>
          </p:nvSpPr>
          <p:spPr>
            <a:xfrm>
              <a:off x="3380762" y="3196519"/>
              <a:ext cx="628354" cy="2947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  <a:cs typeface="+mn-cs"/>
                </a:rPr>
                <a:t>LoRA</a:t>
              </a:r>
              <a:r>
                <a:rPr kumimoji="0" lang="en-US" altLang="ko-KR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  <a:cs typeface="+mn-cs"/>
                </a:rPr>
                <a:t> 4</a:t>
              </a:r>
              <a:endPara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나눔스퀘어" panose="020B0600000101010101" pitchFamily="50" charset="-127"/>
                <a:cs typeface="+mn-cs"/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A6FE30BC-BE6B-8838-7ACD-05B2ECAEC0AE}"/>
                </a:ext>
              </a:extLst>
            </p:cNvPr>
            <p:cNvSpPr/>
            <p:nvPr/>
          </p:nvSpPr>
          <p:spPr>
            <a:xfrm>
              <a:off x="3572743" y="3618234"/>
              <a:ext cx="244392" cy="207080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  <a:cs typeface="+mn-cs"/>
                </a:rPr>
                <a:t>+</a:t>
              </a: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나눔스퀘어" panose="020B0600000101010101" pitchFamily="50" charset="-127"/>
                <a:cs typeface="+mn-cs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EBEEE43-0E69-DA19-9095-15FCF8527FEC}"/>
                </a:ext>
              </a:extLst>
            </p:cNvPr>
            <p:cNvSpPr txBox="1"/>
            <p:nvPr/>
          </p:nvSpPr>
          <p:spPr>
            <a:xfrm>
              <a:off x="3194703" y="2481985"/>
              <a:ext cx="964611" cy="2947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  <a:cs typeface="+mn-cs"/>
                </a:rPr>
                <a:t>TASK 4</a:t>
              </a:r>
              <a:endPara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나눔스퀘어" panose="020B0600000101010101" pitchFamily="50" charset="-127"/>
                <a:cs typeface="+mn-cs"/>
              </a:endParaRPr>
            </a:p>
          </p:txBody>
        </p:sp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E44EB062-F3CA-7EE1-DCB2-CC09E34D20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53428" y="5291533"/>
              <a:ext cx="600554" cy="322075"/>
            </a:xfrm>
            <a:prstGeom prst="rect">
              <a:avLst/>
            </a:prstGeom>
          </p:spPr>
        </p:pic>
        <p:pic>
          <p:nvPicPr>
            <p:cNvPr id="49" name="그림 48">
              <a:extLst>
                <a:ext uri="{FF2B5EF4-FFF2-40B4-BE49-F238E27FC236}">
                  <a16:creationId xmlns:a16="http://schemas.microsoft.com/office/drawing/2014/main" id="{E36A762D-C271-C917-499C-A2CF226017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97223" y="5291533"/>
              <a:ext cx="600554" cy="322075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B002EF25-7AF8-FC61-6990-6E6403472D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84895" y="5291533"/>
              <a:ext cx="600554" cy="322075"/>
            </a:xfrm>
            <a:prstGeom prst="rect">
              <a:avLst/>
            </a:prstGeom>
          </p:spPr>
        </p:pic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CD85F6C7-69A4-537A-3753-3CF6B3B74722}"/>
                </a:ext>
              </a:extLst>
            </p:cNvPr>
            <p:cNvCxnSpPr>
              <a:cxnSpLocks/>
              <a:stCxn id="7" idx="2"/>
              <a:endCxn id="6" idx="0"/>
            </p:cNvCxnSpPr>
            <p:nvPr/>
          </p:nvCxnSpPr>
          <p:spPr>
            <a:xfrm flipH="1">
              <a:off x="1082400" y="5016591"/>
              <a:ext cx="1" cy="274942"/>
            </a:xfrm>
            <a:prstGeom prst="line">
              <a:avLst/>
            </a:prstGeom>
            <a:noFill/>
            <a:ln w="22225" cap="flat" cmpd="sng" algn="ctr">
              <a:solidFill>
                <a:srgbClr val="ED7D31">
                  <a:lumMod val="60000"/>
                  <a:lumOff val="40000"/>
                </a:srgbClr>
              </a:solidFill>
              <a:prstDash val="sysDash"/>
              <a:miter lim="800000"/>
            </a:ln>
            <a:effectLst/>
          </p:spPr>
        </p:cxn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64E4852E-E601-58E7-C71D-36A3FC579D96}"/>
                </a:ext>
              </a:extLst>
            </p:cNvPr>
            <p:cNvCxnSpPr>
              <a:cxnSpLocks/>
              <a:stCxn id="18" idx="2"/>
              <a:endCxn id="48" idx="0"/>
            </p:cNvCxnSpPr>
            <p:nvPr/>
          </p:nvCxnSpPr>
          <p:spPr>
            <a:xfrm>
              <a:off x="1943724" y="5017167"/>
              <a:ext cx="9979" cy="274366"/>
            </a:xfrm>
            <a:prstGeom prst="line">
              <a:avLst/>
            </a:prstGeom>
            <a:noFill/>
            <a:ln w="22225" cap="flat" cmpd="sng" algn="ctr">
              <a:solidFill>
                <a:srgbClr val="ED7D31">
                  <a:lumMod val="60000"/>
                  <a:lumOff val="40000"/>
                </a:srgbClr>
              </a:solidFill>
              <a:prstDash val="sysDash"/>
              <a:miter lim="800000"/>
            </a:ln>
            <a:effectLst/>
          </p:spPr>
        </p:cxnSp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AA7FDD64-ACBB-685C-6BEE-5125BE9385D3}"/>
                </a:ext>
              </a:extLst>
            </p:cNvPr>
            <p:cNvCxnSpPr>
              <a:cxnSpLocks/>
              <a:stCxn id="28" idx="2"/>
              <a:endCxn id="49" idx="0"/>
            </p:cNvCxnSpPr>
            <p:nvPr/>
          </p:nvCxnSpPr>
          <p:spPr>
            <a:xfrm flipH="1">
              <a:off x="2797500" y="5016591"/>
              <a:ext cx="4279" cy="274942"/>
            </a:xfrm>
            <a:prstGeom prst="line">
              <a:avLst/>
            </a:prstGeom>
            <a:noFill/>
            <a:ln w="22225" cap="flat" cmpd="sng" algn="ctr">
              <a:solidFill>
                <a:srgbClr val="ED7D31">
                  <a:lumMod val="60000"/>
                  <a:lumOff val="40000"/>
                </a:srgbClr>
              </a:solidFill>
              <a:prstDash val="sysDash"/>
              <a:miter lim="800000"/>
            </a:ln>
            <a:effectLst/>
          </p:spPr>
        </p:cxn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48020D5D-F93A-1C1A-4A5E-A2AE6E2CF471}"/>
                </a:ext>
              </a:extLst>
            </p:cNvPr>
            <p:cNvCxnSpPr>
              <a:cxnSpLocks/>
              <a:stCxn id="38" idx="2"/>
              <a:endCxn id="50" idx="0"/>
            </p:cNvCxnSpPr>
            <p:nvPr/>
          </p:nvCxnSpPr>
          <p:spPr>
            <a:xfrm>
              <a:off x="3677012" y="5016591"/>
              <a:ext cx="8159" cy="274942"/>
            </a:xfrm>
            <a:prstGeom prst="line">
              <a:avLst/>
            </a:prstGeom>
            <a:noFill/>
            <a:ln w="22225" cap="flat" cmpd="sng" algn="ctr">
              <a:solidFill>
                <a:srgbClr val="ED7D31">
                  <a:lumMod val="60000"/>
                  <a:lumOff val="40000"/>
                </a:srgbClr>
              </a:solidFill>
              <a:prstDash val="sysDash"/>
              <a:miter lim="800000"/>
            </a:ln>
            <a:effectLst/>
          </p:spPr>
        </p:cxnSp>
        <p:sp>
          <p:nvSpPr>
            <p:cNvPr id="55" name="모서리가 둥근 직사각형 75">
              <a:extLst>
                <a:ext uri="{FF2B5EF4-FFF2-40B4-BE49-F238E27FC236}">
                  <a16:creationId xmlns:a16="http://schemas.microsoft.com/office/drawing/2014/main" id="{948FAFAC-CF81-FAFB-7E52-E8BDB8B84FC4}"/>
                </a:ext>
              </a:extLst>
            </p:cNvPr>
            <p:cNvSpPr/>
            <p:nvPr/>
          </p:nvSpPr>
          <p:spPr>
            <a:xfrm>
              <a:off x="4628896" y="2799255"/>
              <a:ext cx="3332761" cy="2250920"/>
            </a:xfrm>
            <a:prstGeom prst="roundRect">
              <a:avLst>
                <a:gd name="adj" fmla="val 7295"/>
              </a:avLst>
            </a:prstGeom>
            <a:solidFill>
              <a:srgbClr val="4472C4">
                <a:lumMod val="40000"/>
                <a:lumOff val="60000"/>
              </a:srgbClr>
            </a:solidFill>
            <a:ln w="12700" cap="flat" cmpd="sng" algn="ctr">
              <a:solidFill>
                <a:srgbClr val="ED7D31">
                  <a:lumMod val="40000"/>
                  <a:lumOff val="60000"/>
                </a:srgbClr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나눔스퀘어" panose="020B0600000101010101" pitchFamily="50" charset="-127"/>
                <a:cs typeface="+mn-cs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BACF502-229F-4117-16BB-CD5143C21C18}"/>
                </a:ext>
              </a:extLst>
            </p:cNvPr>
            <p:cNvSpPr txBox="1"/>
            <p:nvPr/>
          </p:nvSpPr>
          <p:spPr>
            <a:xfrm>
              <a:off x="4552243" y="2494478"/>
              <a:ext cx="964611" cy="2947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  <a:cs typeface="+mn-cs"/>
                </a:rPr>
                <a:t>TASK 1</a:t>
              </a:r>
              <a:endPara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나눔스퀘어" panose="020B0600000101010101" pitchFamily="50" charset="-127"/>
                <a:cs typeface="+mn-cs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74F5FD4-EF67-CA33-C26E-0ABC68073FEF}"/>
                </a:ext>
              </a:extLst>
            </p:cNvPr>
            <p:cNvSpPr txBox="1"/>
            <p:nvPr/>
          </p:nvSpPr>
          <p:spPr>
            <a:xfrm>
              <a:off x="5413566" y="2495054"/>
              <a:ext cx="964611" cy="2947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  <a:cs typeface="+mn-cs"/>
                </a:rPr>
                <a:t>TASK 2</a:t>
              </a:r>
              <a:endPara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나눔스퀘어" panose="020B0600000101010101" pitchFamily="50" charset="-127"/>
                <a:cs typeface="+mn-cs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16DBD47-8F1F-954D-2C85-6AD98E2A9688}"/>
                </a:ext>
              </a:extLst>
            </p:cNvPr>
            <p:cNvSpPr txBox="1"/>
            <p:nvPr/>
          </p:nvSpPr>
          <p:spPr>
            <a:xfrm>
              <a:off x="6271620" y="2494478"/>
              <a:ext cx="964611" cy="2947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  <a:cs typeface="+mn-cs"/>
                </a:rPr>
                <a:t>TASK 3</a:t>
              </a:r>
              <a:endPara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나눔스퀘어" panose="020B0600000101010101" pitchFamily="50" charset="-127"/>
                <a:cs typeface="+mn-cs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D6F6B28-6CE5-4DC2-910A-8EDEAC6404AF}"/>
                </a:ext>
              </a:extLst>
            </p:cNvPr>
            <p:cNvSpPr txBox="1"/>
            <p:nvPr/>
          </p:nvSpPr>
          <p:spPr>
            <a:xfrm>
              <a:off x="7146853" y="2494478"/>
              <a:ext cx="964611" cy="2947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  <a:cs typeface="+mn-cs"/>
                </a:rPr>
                <a:t>TASK 4</a:t>
              </a:r>
              <a:endPara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나눔스퀘어" panose="020B0600000101010101" pitchFamily="50" charset="-127"/>
                <a:cs typeface="+mn-cs"/>
              </a:endParaRPr>
            </a:p>
          </p:txBody>
        </p: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B2AA78BD-AF79-B6A6-665D-AA5780B187B3}"/>
                </a:ext>
              </a:extLst>
            </p:cNvPr>
            <p:cNvGrpSpPr/>
            <p:nvPr/>
          </p:nvGrpSpPr>
          <p:grpSpPr>
            <a:xfrm>
              <a:off x="4711503" y="2868529"/>
              <a:ext cx="3226995" cy="661014"/>
              <a:chOff x="671600" y="3487415"/>
              <a:chExt cx="2604709" cy="567390"/>
            </a:xfrm>
          </p:grpSpPr>
          <p:sp>
            <p:nvSpPr>
              <p:cNvPr id="61" name="모서리가 둥근 직사각형 81">
                <a:extLst>
                  <a:ext uri="{FF2B5EF4-FFF2-40B4-BE49-F238E27FC236}">
                    <a16:creationId xmlns:a16="http://schemas.microsoft.com/office/drawing/2014/main" id="{9414DC7B-7081-98B7-245A-6B60A43B8516}"/>
                  </a:ext>
                </a:extLst>
              </p:cNvPr>
              <p:cNvSpPr/>
              <p:nvPr/>
            </p:nvSpPr>
            <p:spPr>
              <a:xfrm>
                <a:off x="671600" y="3502182"/>
                <a:ext cx="484745" cy="552128"/>
              </a:xfrm>
              <a:prstGeom prst="roundRect">
                <a:avLst>
                  <a:gd name="adj" fmla="val 12857"/>
                </a:avLst>
              </a:prstGeom>
              <a:solidFill>
                <a:sysClr val="window" lastClr="FFFFFF">
                  <a:lumMod val="95000"/>
                </a:sysClr>
              </a:solidFill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  <a:cs typeface="+mn-cs"/>
                </a:endParaRP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68E37225-70D6-4C05-9B62-6B0456288DA1}"/>
                  </a:ext>
                </a:extLst>
              </p:cNvPr>
              <p:cNvSpPr txBox="1"/>
              <p:nvPr/>
            </p:nvSpPr>
            <p:spPr>
              <a:xfrm>
                <a:off x="738323" y="3487415"/>
                <a:ext cx="380245" cy="3571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5B9BD5">
                        <a:lumMod val="75000"/>
                      </a:srgbClr>
                    </a:solidFill>
                    <a:effectLst/>
                    <a:uLnTx/>
                    <a:uFillTx/>
                    <a:latin typeface="Bauhaus 93" panose="04030905020B02020C02" pitchFamily="82" charset="0"/>
                    <a:ea typeface="나눔스퀘어" panose="020B0600000101010101" pitchFamily="50" charset="-127"/>
                    <a:cs typeface="+mn-cs"/>
                  </a:rPr>
                  <a:t>W</a:t>
                </a: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5B9BD5">
                      <a:lumMod val="75000"/>
                    </a:srgbClr>
                  </a:solidFill>
                  <a:effectLst/>
                  <a:uLnTx/>
                  <a:uFillTx/>
                  <a:latin typeface="Bauhaus 93" panose="04030905020B02020C02" pitchFamily="82" charset="0"/>
                  <a:ea typeface="나눔스퀘어" panose="020B0600000101010101" pitchFamily="50" charset="-127"/>
                  <a:cs typeface="+mn-cs"/>
                </a:endParaRP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8D07E8D0-B857-C8D1-84E3-1A23E1CCAFC2}"/>
                  </a:ext>
                </a:extLst>
              </p:cNvPr>
              <p:cNvSpPr txBox="1"/>
              <p:nvPr/>
            </p:nvSpPr>
            <p:spPr>
              <a:xfrm>
                <a:off x="674853" y="3786808"/>
                <a:ext cx="507184" cy="253007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1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나눔스퀘어" panose="020B0600000101010101" pitchFamily="50" charset="-127"/>
                    <a:cs typeface="+mn-cs"/>
                  </a:rPr>
                  <a:t>LoRA</a:t>
                </a:r>
                <a:r>
                  <a:rPr kumimoji="0" lang="en-US" altLang="ko-KR" sz="105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나눔스퀘어" panose="020B0600000101010101" pitchFamily="50" charset="-127"/>
                    <a:cs typeface="+mn-cs"/>
                  </a:rPr>
                  <a:t> 1</a:t>
                </a:r>
                <a:endParaRPr kumimoji="0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  <a:cs typeface="+mn-cs"/>
                </a:endParaRPr>
              </a:p>
            </p:txBody>
          </p:sp>
          <p:sp>
            <p:nvSpPr>
              <p:cNvPr id="64" name="모서리가 둥근 직사각형 84">
                <a:extLst>
                  <a:ext uri="{FF2B5EF4-FFF2-40B4-BE49-F238E27FC236}">
                    <a16:creationId xmlns:a16="http://schemas.microsoft.com/office/drawing/2014/main" id="{9615F495-1DA3-0866-0058-787C115751DB}"/>
                  </a:ext>
                </a:extLst>
              </p:cNvPr>
              <p:cNvSpPr/>
              <p:nvPr/>
            </p:nvSpPr>
            <p:spPr>
              <a:xfrm>
                <a:off x="1366828" y="3502677"/>
                <a:ext cx="484745" cy="552128"/>
              </a:xfrm>
              <a:prstGeom prst="roundRect">
                <a:avLst>
                  <a:gd name="adj" fmla="val 12857"/>
                </a:avLst>
              </a:prstGeom>
              <a:solidFill>
                <a:sysClr val="window" lastClr="FFFFFF">
                  <a:lumMod val="95000"/>
                </a:sysClr>
              </a:solidFill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  <a:cs typeface="+mn-cs"/>
                </a:endParaRP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CA83690-0066-A4D0-E21B-1BC13C4DAE00}"/>
                  </a:ext>
                </a:extLst>
              </p:cNvPr>
              <p:cNvSpPr txBox="1"/>
              <p:nvPr/>
            </p:nvSpPr>
            <p:spPr>
              <a:xfrm>
                <a:off x="1433551" y="3487910"/>
                <a:ext cx="380245" cy="3571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D7D31">
                        <a:lumMod val="75000"/>
                      </a:srgbClr>
                    </a:solidFill>
                    <a:effectLst/>
                    <a:uLnTx/>
                    <a:uFillTx/>
                    <a:latin typeface="Bauhaus 93" panose="04030905020B02020C02" pitchFamily="82" charset="0"/>
                    <a:ea typeface="나눔스퀘어" panose="020B0600000101010101" pitchFamily="50" charset="-127"/>
                    <a:cs typeface="+mn-cs"/>
                  </a:rPr>
                  <a:t>W</a:t>
                </a: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ED7D31">
                      <a:lumMod val="75000"/>
                    </a:srgbClr>
                  </a:solidFill>
                  <a:effectLst/>
                  <a:uLnTx/>
                  <a:uFillTx/>
                  <a:latin typeface="Bauhaus 93" panose="04030905020B02020C02" pitchFamily="82" charset="0"/>
                  <a:ea typeface="나눔스퀘어" panose="020B0600000101010101" pitchFamily="50" charset="-127"/>
                  <a:cs typeface="+mn-cs"/>
                </a:endParaRP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654FAEC8-54BE-D56F-644E-F5AFCD57CC32}"/>
                  </a:ext>
                </a:extLst>
              </p:cNvPr>
              <p:cNvSpPr txBox="1"/>
              <p:nvPr/>
            </p:nvSpPr>
            <p:spPr>
              <a:xfrm>
                <a:off x="1370081" y="3787303"/>
                <a:ext cx="507184" cy="253007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1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나눔스퀘어" panose="020B0600000101010101" pitchFamily="50" charset="-127"/>
                    <a:cs typeface="+mn-cs"/>
                  </a:rPr>
                  <a:t>LoRA</a:t>
                </a:r>
                <a:r>
                  <a:rPr kumimoji="0" lang="en-US" altLang="ko-KR" sz="105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나눔스퀘어" panose="020B0600000101010101" pitchFamily="50" charset="-127"/>
                    <a:cs typeface="+mn-cs"/>
                  </a:rPr>
                  <a:t> 2</a:t>
                </a:r>
                <a:endParaRPr kumimoji="0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  <a:cs typeface="+mn-cs"/>
                </a:endParaRPr>
              </a:p>
            </p:txBody>
          </p:sp>
          <p:sp>
            <p:nvSpPr>
              <p:cNvPr id="67" name="모서리가 둥근 직사각형 87">
                <a:extLst>
                  <a:ext uri="{FF2B5EF4-FFF2-40B4-BE49-F238E27FC236}">
                    <a16:creationId xmlns:a16="http://schemas.microsoft.com/office/drawing/2014/main" id="{B83608F7-F10A-E468-D30B-583C2B2A074B}"/>
                  </a:ext>
                </a:extLst>
              </p:cNvPr>
              <p:cNvSpPr/>
              <p:nvPr/>
            </p:nvSpPr>
            <p:spPr>
              <a:xfrm>
                <a:off x="2059417" y="3502182"/>
                <a:ext cx="484745" cy="552128"/>
              </a:xfrm>
              <a:prstGeom prst="roundRect">
                <a:avLst>
                  <a:gd name="adj" fmla="val 12857"/>
                </a:avLst>
              </a:prstGeom>
              <a:solidFill>
                <a:sysClr val="window" lastClr="FFFFFF">
                  <a:lumMod val="95000"/>
                </a:sysClr>
              </a:solidFill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  <a:cs typeface="+mn-cs"/>
                </a:endParaRP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E40D7B12-49B2-CE84-8E86-AC8A4451E14E}"/>
                  </a:ext>
                </a:extLst>
              </p:cNvPr>
              <p:cNvSpPr txBox="1"/>
              <p:nvPr/>
            </p:nvSpPr>
            <p:spPr>
              <a:xfrm>
                <a:off x="2126140" y="3487415"/>
                <a:ext cx="380245" cy="3571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A5A5A5">
                        <a:lumMod val="75000"/>
                      </a:srgbClr>
                    </a:solidFill>
                    <a:effectLst/>
                    <a:uLnTx/>
                    <a:uFillTx/>
                    <a:latin typeface="Bauhaus 93" panose="04030905020B02020C02" pitchFamily="82" charset="0"/>
                    <a:ea typeface="나눔스퀘어" panose="020B0600000101010101" pitchFamily="50" charset="-127"/>
                    <a:cs typeface="+mn-cs"/>
                  </a:rPr>
                  <a:t>W</a:t>
                </a: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A5A5A5">
                      <a:lumMod val="75000"/>
                    </a:srgbClr>
                  </a:solidFill>
                  <a:effectLst/>
                  <a:uLnTx/>
                  <a:uFillTx/>
                  <a:latin typeface="Bauhaus 93" panose="04030905020B02020C02" pitchFamily="82" charset="0"/>
                  <a:ea typeface="나눔스퀘어" panose="020B0600000101010101" pitchFamily="50" charset="-127"/>
                  <a:cs typeface="+mn-cs"/>
                </a:endParaRP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4F5AA1B-FA97-9F4D-B617-DC8FF362BE1D}"/>
                  </a:ext>
                </a:extLst>
              </p:cNvPr>
              <p:cNvSpPr txBox="1"/>
              <p:nvPr/>
            </p:nvSpPr>
            <p:spPr>
              <a:xfrm>
                <a:off x="2062670" y="3786808"/>
                <a:ext cx="507184" cy="253007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1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나눔스퀘어" panose="020B0600000101010101" pitchFamily="50" charset="-127"/>
                    <a:cs typeface="+mn-cs"/>
                  </a:rPr>
                  <a:t>LoRA</a:t>
                </a:r>
                <a:r>
                  <a:rPr kumimoji="0" lang="en-US" altLang="ko-KR" sz="105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나눔스퀘어" panose="020B0600000101010101" pitchFamily="50" charset="-127"/>
                    <a:cs typeface="+mn-cs"/>
                  </a:rPr>
                  <a:t> 3</a:t>
                </a:r>
                <a:endParaRPr kumimoji="0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  <a:cs typeface="+mn-cs"/>
                </a:endParaRPr>
              </a:p>
            </p:txBody>
          </p:sp>
          <p:sp>
            <p:nvSpPr>
              <p:cNvPr id="70" name="모서리가 둥근 직사각형 90">
                <a:extLst>
                  <a:ext uri="{FF2B5EF4-FFF2-40B4-BE49-F238E27FC236}">
                    <a16:creationId xmlns:a16="http://schemas.microsoft.com/office/drawing/2014/main" id="{194A3901-1FAE-F1FC-82E0-DB0A26026A26}"/>
                  </a:ext>
                </a:extLst>
              </p:cNvPr>
              <p:cNvSpPr/>
              <p:nvPr/>
            </p:nvSpPr>
            <p:spPr>
              <a:xfrm>
                <a:off x="2765872" y="3502182"/>
                <a:ext cx="484745" cy="552128"/>
              </a:xfrm>
              <a:prstGeom prst="roundRect">
                <a:avLst>
                  <a:gd name="adj" fmla="val 12857"/>
                </a:avLst>
              </a:prstGeom>
              <a:solidFill>
                <a:sysClr val="window" lastClr="FFFFFF">
                  <a:lumMod val="95000"/>
                </a:sysClr>
              </a:solidFill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  <a:cs typeface="+mn-cs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8569ABA8-C336-E138-A784-77FE0119DD6E}"/>
                  </a:ext>
                </a:extLst>
              </p:cNvPr>
              <p:cNvSpPr txBox="1"/>
              <p:nvPr/>
            </p:nvSpPr>
            <p:spPr>
              <a:xfrm>
                <a:off x="2832595" y="3487415"/>
                <a:ext cx="380245" cy="3571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C000">
                        <a:lumMod val="75000"/>
                      </a:srgbClr>
                    </a:solidFill>
                    <a:effectLst/>
                    <a:uLnTx/>
                    <a:uFillTx/>
                    <a:latin typeface="Bauhaus 93" panose="04030905020B02020C02" pitchFamily="82" charset="0"/>
                    <a:ea typeface="나눔스퀘어" panose="020B0600000101010101" pitchFamily="50" charset="-127"/>
                    <a:cs typeface="+mn-cs"/>
                  </a:rPr>
                  <a:t>W</a:t>
                </a: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C000">
                      <a:lumMod val="75000"/>
                    </a:srgbClr>
                  </a:solidFill>
                  <a:effectLst/>
                  <a:uLnTx/>
                  <a:uFillTx/>
                  <a:latin typeface="Bauhaus 93" panose="04030905020B02020C02" pitchFamily="82" charset="0"/>
                  <a:ea typeface="나눔스퀘어" panose="020B0600000101010101" pitchFamily="50" charset="-127"/>
                  <a:cs typeface="+mn-cs"/>
                </a:endParaRP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182E1979-F547-C604-F8B4-0ABD427B6F3A}"/>
                  </a:ext>
                </a:extLst>
              </p:cNvPr>
              <p:cNvSpPr txBox="1"/>
              <p:nvPr/>
            </p:nvSpPr>
            <p:spPr>
              <a:xfrm>
                <a:off x="2769125" y="3786808"/>
                <a:ext cx="507184" cy="253007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1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나눔스퀘어" panose="020B0600000101010101" pitchFamily="50" charset="-127"/>
                    <a:cs typeface="+mn-cs"/>
                  </a:rPr>
                  <a:t>LoRA</a:t>
                </a:r>
                <a:r>
                  <a:rPr kumimoji="0" lang="en-US" altLang="ko-KR" sz="105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나눔스퀘어" panose="020B0600000101010101" pitchFamily="50" charset="-127"/>
                    <a:cs typeface="+mn-cs"/>
                  </a:rPr>
                  <a:t> 4</a:t>
                </a:r>
                <a:endParaRPr kumimoji="0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  <a:cs typeface="+mn-cs"/>
                </a:endParaRPr>
              </a:p>
            </p:txBody>
          </p:sp>
        </p:grpSp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D7BFB2E5-73ED-AF86-09A8-4DC7FD8EEBA6}"/>
                </a:ext>
              </a:extLst>
            </p:cNvPr>
            <p:cNvSpPr/>
            <p:nvPr/>
          </p:nvSpPr>
          <p:spPr>
            <a:xfrm>
              <a:off x="6205211" y="3648775"/>
              <a:ext cx="244392" cy="207080"/>
            </a:xfrm>
            <a:prstGeom prst="ellipse">
              <a:avLst/>
            </a:prstGeom>
            <a:solidFill>
              <a:srgbClr val="4472C4">
                <a:lumMod val="50000"/>
              </a:srgb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  <a:cs typeface="+mn-cs"/>
                </a:rPr>
                <a:t>+</a:t>
              </a: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나눔스퀘어" panose="020B0600000101010101" pitchFamily="50" charset="-127"/>
                <a:cs typeface="+mn-cs"/>
              </a:endParaRPr>
            </a:p>
          </p:txBody>
        </p:sp>
        <p:pic>
          <p:nvPicPr>
            <p:cNvPr id="74" name="그림 73">
              <a:extLst>
                <a:ext uri="{FF2B5EF4-FFF2-40B4-BE49-F238E27FC236}">
                  <a16:creationId xmlns:a16="http://schemas.microsoft.com/office/drawing/2014/main" id="{8AC55397-2071-D48B-2F31-F0B25FC15D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27129" y="5304025"/>
              <a:ext cx="600554" cy="322075"/>
            </a:xfrm>
            <a:prstGeom prst="rect">
              <a:avLst/>
            </a:prstGeom>
          </p:spPr>
        </p:pic>
        <p:grpSp>
          <p:nvGrpSpPr>
            <p:cNvPr id="75" name="그룹 74">
              <a:extLst>
                <a:ext uri="{FF2B5EF4-FFF2-40B4-BE49-F238E27FC236}">
                  <a16:creationId xmlns:a16="http://schemas.microsoft.com/office/drawing/2014/main" id="{3CF8F50D-FDD3-416E-FB99-846BC8627607}"/>
                </a:ext>
              </a:extLst>
            </p:cNvPr>
            <p:cNvGrpSpPr/>
            <p:nvPr/>
          </p:nvGrpSpPr>
          <p:grpSpPr>
            <a:xfrm>
              <a:off x="5951656" y="4027874"/>
              <a:ext cx="751499" cy="961627"/>
              <a:chOff x="820414" y="4293008"/>
              <a:chExt cx="606582" cy="825425"/>
            </a:xfrm>
          </p:grpSpPr>
          <p:sp>
            <p:nvSpPr>
              <p:cNvPr id="76" name="모서리가 둥근 직사각형 97">
                <a:extLst>
                  <a:ext uri="{FF2B5EF4-FFF2-40B4-BE49-F238E27FC236}">
                    <a16:creationId xmlns:a16="http://schemas.microsoft.com/office/drawing/2014/main" id="{1FC204E9-AFCE-DD3A-1AAB-5A34386BF3A6}"/>
                  </a:ext>
                </a:extLst>
              </p:cNvPr>
              <p:cNvSpPr/>
              <p:nvPr/>
            </p:nvSpPr>
            <p:spPr>
              <a:xfrm>
                <a:off x="881333" y="4293008"/>
                <a:ext cx="484745" cy="803079"/>
              </a:xfrm>
              <a:prstGeom prst="roundRect">
                <a:avLst>
                  <a:gd name="adj" fmla="val 12857"/>
                </a:avLst>
              </a:prstGeom>
              <a:solidFill>
                <a:sysClr val="window" lastClr="FFFFFF">
                  <a:lumMod val="95000"/>
                </a:sysClr>
              </a:solidFill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  <a:cs typeface="+mn-cs"/>
                </a:endParaRP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1F3EB582-FC89-BC50-DD88-D73121604983}"/>
                  </a:ext>
                </a:extLst>
              </p:cNvPr>
              <p:cNvSpPr txBox="1"/>
              <p:nvPr/>
            </p:nvSpPr>
            <p:spPr>
              <a:xfrm>
                <a:off x="820414" y="4597536"/>
                <a:ext cx="606582" cy="5208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나눔스퀘어" panose="020B0600000101010101" pitchFamily="50" charset="-127"/>
                    <a:cs typeface="+mn-cs"/>
                  </a:rPr>
                  <a:t>LLM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나눔스퀘어" panose="020B0600000101010101" pitchFamily="50" charset="-127"/>
                    <a:cs typeface="+mn-cs"/>
                  </a:rPr>
                  <a:t>( Base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나눔스퀘어" panose="020B0600000101010101" pitchFamily="50" charset="-127"/>
                    <a:cs typeface="+mn-cs"/>
                  </a:rPr>
                  <a:t>Model )</a:t>
                </a:r>
                <a:endPara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  <a:cs typeface="+mn-cs"/>
                </a:endParaRPr>
              </a:p>
            </p:txBody>
          </p:sp>
          <p:pic>
            <p:nvPicPr>
              <p:cNvPr id="78" name="Picture 2" descr="AI - Free computer icons">
                <a:extLst>
                  <a:ext uri="{FF2B5EF4-FFF2-40B4-BE49-F238E27FC236}">
                    <a16:creationId xmlns:a16="http://schemas.microsoft.com/office/drawing/2014/main" id="{B1423B75-65FF-0AC8-F8CF-A40EC94B97F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screen">
                <a:duotone>
                  <a:prstClr val="black"/>
                  <a:srgbClr val="4472C4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19110" y="4293009"/>
                <a:ext cx="409190" cy="4091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8C594189-362F-7C38-4371-72DE8DA01143}"/>
                </a:ext>
              </a:extLst>
            </p:cNvPr>
            <p:cNvCxnSpPr/>
            <p:nvPr/>
          </p:nvCxnSpPr>
          <p:spPr>
            <a:xfrm>
              <a:off x="4672007" y="5189748"/>
              <a:ext cx="3249338" cy="5949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DE3F27DB-B950-B590-6014-F2F970DA8AEA}"/>
                </a:ext>
              </a:extLst>
            </p:cNvPr>
            <p:cNvCxnSpPr>
              <a:cxnSpLocks/>
              <a:stCxn id="77" idx="2"/>
              <a:endCxn id="74" idx="0"/>
            </p:cNvCxnSpPr>
            <p:nvPr/>
          </p:nvCxnSpPr>
          <p:spPr>
            <a:xfrm>
              <a:off x="6327406" y="4989501"/>
              <a:ext cx="0" cy="314523"/>
            </a:xfrm>
            <a:prstGeom prst="line">
              <a:avLst/>
            </a:prstGeom>
            <a:noFill/>
            <a:ln w="22225" cap="flat" cmpd="sng" algn="ctr">
              <a:solidFill>
                <a:srgbClr val="ED7D31">
                  <a:lumMod val="60000"/>
                  <a:lumOff val="40000"/>
                </a:srgbClr>
              </a:solidFill>
              <a:prstDash val="sysDash"/>
              <a:miter lim="800000"/>
            </a:ln>
            <a:effectLst/>
          </p:spPr>
        </p:cxnSp>
        <p:cxnSp>
          <p:nvCxnSpPr>
            <p:cNvPr id="81" name="꺾인 연결선 93">
              <a:extLst>
                <a:ext uri="{FF2B5EF4-FFF2-40B4-BE49-F238E27FC236}">
                  <a16:creationId xmlns:a16="http://schemas.microsoft.com/office/drawing/2014/main" id="{1EF563BE-51F0-81CE-6692-A0AF9A2F7E36}"/>
                </a:ext>
              </a:extLst>
            </p:cNvPr>
            <p:cNvCxnSpPr>
              <a:stCxn id="61" idx="2"/>
              <a:endCxn id="73" idx="2"/>
            </p:cNvCxnSpPr>
            <p:nvPr/>
          </p:nvCxnSpPr>
          <p:spPr>
            <a:xfrm rot="16200000" flipH="1">
              <a:off x="5496822" y="3043926"/>
              <a:ext cx="223348" cy="1193430"/>
            </a:xfrm>
            <a:prstGeom prst="bentConnector2">
              <a:avLst/>
            </a:prstGeom>
            <a:noFill/>
            <a:ln w="15875" cap="flat" cmpd="sng" algn="ctr">
              <a:solidFill>
                <a:sysClr val="window" lastClr="FFFFFF"/>
              </a:solidFill>
              <a:prstDash val="sysDash"/>
              <a:miter lim="800000"/>
            </a:ln>
            <a:effectLst/>
          </p:spPr>
        </p:cxnSp>
        <p:cxnSp>
          <p:nvCxnSpPr>
            <p:cNvPr id="82" name="꺾인 연결선 107">
              <a:extLst>
                <a:ext uri="{FF2B5EF4-FFF2-40B4-BE49-F238E27FC236}">
                  <a16:creationId xmlns:a16="http://schemas.microsoft.com/office/drawing/2014/main" id="{BCD8081C-64C5-E2C7-F62C-A5F6D7078D4E}"/>
                </a:ext>
              </a:extLst>
            </p:cNvPr>
            <p:cNvCxnSpPr>
              <a:stCxn id="64" idx="2"/>
              <a:endCxn id="73" idx="2"/>
            </p:cNvCxnSpPr>
            <p:nvPr/>
          </p:nvCxnSpPr>
          <p:spPr>
            <a:xfrm rot="16200000" flipH="1">
              <a:off x="5927772" y="3474875"/>
              <a:ext cx="222772" cy="332107"/>
            </a:xfrm>
            <a:prstGeom prst="bentConnector2">
              <a:avLst/>
            </a:prstGeom>
            <a:noFill/>
            <a:ln w="15875" cap="flat" cmpd="sng" algn="ctr">
              <a:solidFill>
                <a:sysClr val="window" lastClr="FFFFFF"/>
              </a:solidFill>
              <a:prstDash val="sysDash"/>
              <a:miter lim="800000"/>
            </a:ln>
            <a:effectLst/>
          </p:spPr>
        </p:cxnSp>
        <p:cxnSp>
          <p:nvCxnSpPr>
            <p:cNvPr id="83" name="꺾인 연결선 110">
              <a:extLst>
                <a:ext uri="{FF2B5EF4-FFF2-40B4-BE49-F238E27FC236}">
                  <a16:creationId xmlns:a16="http://schemas.microsoft.com/office/drawing/2014/main" id="{5DE455B3-70AB-DC13-E79F-5F058305AA14}"/>
                </a:ext>
              </a:extLst>
            </p:cNvPr>
            <p:cNvCxnSpPr>
              <a:stCxn id="67" idx="2"/>
              <a:endCxn id="73" idx="6"/>
            </p:cNvCxnSpPr>
            <p:nvPr/>
          </p:nvCxnSpPr>
          <p:spPr>
            <a:xfrm rot="5400000">
              <a:off x="6478707" y="3499864"/>
              <a:ext cx="223348" cy="281555"/>
            </a:xfrm>
            <a:prstGeom prst="bentConnector2">
              <a:avLst/>
            </a:prstGeom>
            <a:noFill/>
            <a:ln w="15875" cap="flat" cmpd="sng" algn="ctr">
              <a:solidFill>
                <a:sysClr val="window" lastClr="FFFFFF"/>
              </a:solidFill>
              <a:prstDash val="sysDash"/>
              <a:miter lim="800000"/>
            </a:ln>
            <a:effectLst/>
          </p:spPr>
        </p:cxnSp>
        <p:cxnSp>
          <p:nvCxnSpPr>
            <p:cNvPr id="84" name="꺾인 연결선 113">
              <a:extLst>
                <a:ext uri="{FF2B5EF4-FFF2-40B4-BE49-F238E27FC236}">
                  <a16:creationId xmlns:a16="http://schemas.microsoft.com/office/drawing/2014/main" id="{045734F7-1490-1739-42AB-3D995854EBF4}"/>
                </a:ext>
              </a:extLst>
            </p:cNvPr>
            <p:cNvCxnSpPr>
              <a:stCxn id="70" idx="2"/>
              <a:endCxn id="73" idx="6"/>
            </p:cNvCxnSpPr>
            <p:nvPr/>
          </p:nvCxnSpPr>
          <p:spPr>
            <a:xfrm rot="5400000">
              <a:off x="6916323" y="3062247"/>
              <a:ext cx="223348" cy="1156788"/>
            </a:xfrm>
            <a:prstGeom prst="bentConnector2">
              <a:avLst/>
            </a:prstGeom>
            <a:noFill/>
            <a:ln w="15875" cap="flat" cmpd="sng" algn="ctr">
              <a:solidFill>
                <a:sysClr val="window" lastClr="FFFFFF"/>
              </a:solidFill>
              <a:prstDash val="sysDash"/>
              <a:miter lim="800000"/>
            </a:ln>
            <a:effectLst/>
          </p:spPr>
        </p:cxnSp>
        <p:cxnSp>
          <p:nvCxnSpPr>
            <p:cNvPr id="85" name="꺾인 연결선 116">
              <a:extLst>
                <a:ext uri="{FF2B5EF4-FFF2-40B4-BE49-F238E27FC236}">
                  <a16:creationId xmlns:a16="http://schemas.microsoft.com/office/drawing/2014/main" id="{375A3C3E-FD1E-4420-3423-C303101EC57D}"/>
                </a:ext>
              </a:extLst>
            </p:cNvPr>
            <p:cNvCxnSpPr>
              <a:stCxn id="78" idx="0"/>
              <a:endCxn id="73" idx="4"/>
            </p:cNvCxnSpPr>
            <p:nvPr/>
          </p:nvCxnSpPr>
          <p:spPr>
            <a:xfrm rot="5400000" flipH="1" flipV="1">
              <a:off x="6241397" y="3941865"/>
              <a:ext cx="172019" cy="1"/>
            </a:xfrm>
            <a:prstGeom prst="bentConnector3">
              <a:avLst>
                <a:gd name="adj1" fmla="val 50000"/>
              </a:avLst>
            </a:prstGeom>
            <a:noFill/>
            <a:ln w="15875" cap="flat" cmpd="sng" algn="ctr">
              <a:solidFill>
                <a:sysClr val="window" lastClr="FFFFFF"/>
              </a:solidFill>
              <a:prstDash val="sysDash"/>
              <a:miter lim="800000"/>
            </a:ln>
            <a:effectLst/>
          </p:spPr>
        </p:cxnSp>
        <p:sp>
          <p:nvSpPr>
            <p:cNvPr id="86" name="화살표: 오른쪽 85">
              <a:extLst>
                <a:ext uri="{FF2B5EF4-FFF2-40B4-BE49-F238E27FC236}">
                  <a16:creationId xmlns:a16="http://schemas.microsoft.com/office/drawing/2014/main" id="{DBBD5EC9-C306-A25A-6E7B-A8721CA7A150}"/>
                </a:ext>
              </a:extLst>
            </p:cNvPr>
            <p:cNvSpPr/>
            <p:nvPr/>
          </p:nvSpPr>
          <p:spPr>
            <a:xfrm>
              <a:off x="4189090" y="3391017"/>
              <a:ext cx="344722" cy="999759"/>
            </a:xfrm>
            <a:prstGeom prst="rightArrow">
              <a:avLst/>
            </a:prstGeom>
            <a:solidFill>
              <a:srgbClr val="5B9BD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나눔스퀘어" panose="020B0600000101010101" pitchFamily="50" charset="-127"/>
                <a:cs typeface="+mn-cs"/>
              </a:endParaRPr>
            </a:p>
          </p:txBody>
        </p:sp>
        <p:pic>
          <p:nvPicPr>
            <p:cNvPr id="87" name="그림 86">
              <a:extLst>
                <a:ext uri="{FF2B5EF4-FFF2-40B4-BE49-F238E27FC236}">
                  <a16:creationId xmlns:a16="http://schemas.microsoft.com/office/drawing/2014/main" id="{ECF93C02-1A84-1A81-17C1-A7C0D02C31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2123" y="5469333"/>
              <a:ext cx="600554" cy="322075"/>
            </a:xfrm>
            <a:prstGeom prst="rect">
              <a:avLst/>
            </a:prstGeom>
          </p:spPr>
        </p:pic>
        <p:pic>
          <p:nvPicPr>
            <p:cNvPr id="88" name="그림 87">
              <a:extLst>
                <a:ext uri="{FF2B5EF4-FFF2-40B4-BE49-F238E27FC236}">
                  <a16:creationId xmlns:a16="http://schemas.microsoft.com/office/drawing/2014/main" id="{6F36CBEE-6C2E-C11E-293D-EC52E21A3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53428" y="5469333"/>
              <a:ext cx="600554" cy="322075"/>
            </a:xfrm>
            <a:prstGeom prst="rect">
              <a:avLst/>
            </a:prstGeom>
          </p:spPr>
        </p:pic>
        <p:pic>
          <p:nvPicPr>
            <p:cNvPr id="89" name="그림 88">
              <a:extLst>
                <a:ext uri="{FF2B5EF4-FFF2-40B4-BE49-F238E27FC236}">
                  <a16:creationId xmlns:a16="http://schemas.microsoft.com/office/drawing/2014/main" id="{69A5B646-76C1-4913-BEDD-4B551C2876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97223" y="5469333"/>
              <a:ext cx="600554" cy="322075"/>
            </a:xfrm>
            <a:prstGeom prst="rect">
              <a:avLst/>
            </a:prstGeom>
          </p:spPr>
        </p:pic>
        <p:pic>
          <p:nvPicPr>
            <p:cNvPr id="90" name="그림 89">
              <a:extLst>
                <a:ext uri="{FF2B5EF4-FFF2-40B4-BE49-F238E27FC236}">
                  <a16:creationId xmlns:a16="http://schemas.microsoft.com/office/drawing/2014/main" id="{D1E6574C-CEAE-9BEC-AB60-F1C6715B40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84895" y="5469333"/>
              <a:ext cx="600554" cy="322075"/>
            </a:xfrm>
            <a:prstGeom prst="rect">
              <a:avLst/>
            </a:prstGeom>
          </p:spPr>
        </p:pic>
        <p:pic>
          <p:nvPicPr>
            <p:cNvPr id="91" name="그림 90">
              <a:extLst>
                <a:ext uri="{FF2B5EF4-FFF2-40B4-BE49-F238E27FC236}">
                  <a16:creationId xmlns:a16="http://schemas.microsoft.com/office/drawing/2014/main" id="{E17FFA65-847B-8659-98E8-41AFA9D2E2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27129" y="5481825"/>
              <a:ext cx="600554" cy="322075"/>
            </a:xfrm>
            <a:prstGeom prst="rect">
              <a:avLst/>
            </a:prstGeom>
          </p:spPr>
        </p:pic>
        <p:pic>
          <p:nvPicPr>
            <p:cNvPr id="92" name="그림 91">
              <a:extLst>
                <a:ext uri="{FF2B5EF4-FFF2-40B4-BE49-F238E27FC236}">
                  <a16:creationId xmlns:a16="http://schemas.microsoft.com/office/drawing/2014/main" id="{B02BECA0-8E50-BAF0-8892-FAF0B60860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2123" y="5621733"/>
              <a:ext cx="600554" cy="322075"/>
            </a:xfrm>
            <a:prstGeom prst="rect">
              <a:avLst/>
            </a:prstGeom>
          </p:spPr>
        </p:pic>
        <p:pic>
          <p:nvPicPr>
            <p:cNvPr id="93" name="그림 92">
              <a:extLst>
                <a:ext uri="{FF2B5EF4-FFF2-40B4-BE49-F238E27FC236}">
                  <a16:creationId xmlns:a16="http://schemas.microsoft.com/office/drawing/2014/main" id="{5E87C40C-51EA-3618-30D1-F8AA27B27D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53428" y="5621733"/>
              <a:ext cx="600554" cy="322075"/>
            </a:xfrm>
            <a:prstGeom prst="rect">
              <a:avLst/>
            </a:prstGeom>
          </p:spPr>
        </p:pic>
        <p:pic>
          <p:nvPicPr>
            <p:cNvPr id="94" name="그림 93">
              <a:extLst>
                <a:ext uri="{FF2B5EF4-FFF2-40B4-BE49-F238E27FC236}">
                  <a16:creationId xmlns:a16="http://schemas.microsoft.com/office/drawing/2014/main" id="{DA563F93-B064-ECDA-7943-8E2930A3F4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97223" y="5621733"/>
              <a:ext cx="600554" cy="322075"/>
            </a:xfrm>
            <a:prstGeom prst="rect">
              <a:avLst/>
            </a:prstGeom>
          </p:spPr>
        </p:pic>
        <p:pic>
          <p:nvPicPr>
            <p:cNvPr id="95" name="그림 94">
              <a:extLst>
                <a:ext uri="{FF2B5EF4-FFF2-40B4-BE49-F238E27FC236}">
                  <a16:creationId xmlns:a16="http://schemas.microsoft.com/office/drawing/2014/main" id="{3E5D5863-B8DB-192D-5FDC-F7BB17102A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84895" y="5621733"/>
              <a:ext cx="600554" cy="322075"/>
            </a:xfrm>
            <a:prstGeom prst="rect">
              <a:avLst/>
            </a:prstGeom>
          </p:spPr>
        </p:pic>
        <p:pic>
          <p:nvPicPr>
            <p:cNvPr id="96" name="그림 95">
              <a:extLst>
                <a:ext uri="{FF2B5EF4-FFF2-40B4-BE49-F238E27FC236}">
                  <a16:creationId xmlns:a16="http://schemas.microsoft.com/office/drawing/2014/main" id="{CFC1FA0C-322F-203E-4625-BAB9610A21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27129" y="5634225"/>
              <a:ext cx="600554" cy="322075"/>
            </a:xfrm>
            <a:prstGeom prst="rect">
              <a:avLst/>
            </a:prstGeom>
          </p:spPr>
        </p:pic>
        <p:pic>
          <p:nvPicPr>
            <p:cNvPr id="97" name="그림 96">
              <a:extLst>
                <a:ext uri="{FF2B5EF4-FFF2-40B4-BE49-F238E27FC236}">
                  <a16:creationId xmlns:a16="http://schemas.microsoft.com/office/drawing/2014/main" id="{F28FA2D8-976F-98E5-F75B-27BD9EB809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2123" y="5793183"/>
              <a:ext cx="600554" cy="322075"/>
            </a:xfrm>
            <a:prstGeom prst="rect">
              <a:avLst/>
            </a:prstGeom>
          </p:spPr>
        </p:pic>
        <p:pic>
          <p:nvPicPr>
            <p:cNvPr id="98" name="그림 97">
              <a:extLst>
                <a:ext uri="{FF2B5EF4-FFF2-40B4-BE49-F238E27FC236}">
                  <a16:creationId xmlns:a16="http://schemas.microsoft.com/office/drawing/2014/main" id="{431F94B1-B9E9-A5E7-EB1C-9152B5B28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53428" y="5793183"/>
              <a:ext cx="600554" cy="322075"/>
            </a:xfrm>
            <a:prstGeom prst="rect">
              <a:avLst/>
            </a:prstGeom>
          </p:spPr>
        </p:pic>
        <p:pic>
          <p:nvPicPr>
            <p:cNvPr id="99" name="그림 98">
              <a:extLst>
                <a:ext uri="{FF2B5EF4-FFF2-40B4-BE49-F238E27FC236}">
                  <a16:creationId xmlns:a16="http://schemas.microsoft.com/office/drawing/2014/main" id="{74E3BE35-DE2E-A326-3178-D7E55F763B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97223" y="5793183"/>
              <a:ext cx="600554" cy="322075"/>
            </a:xfrm>
            <a:prstGeom prst="rect">
              <a:avLst/>
            </a:prstGeom>
          </p:spPr>
        </p:pic>
        <p:pic>
          <p:nvPicPr>
            <p:cNvPr id="100" name="그림 99">
              <a:extLst>
                <a:ext uri="{FF2B5EF4-FFF2-40B4-BE49-F238E27FC236}">
                  <a16:creationId xmlns:a16="http://schemas.microsoft.com/office/drawing/2014/main" id="{CD883E8D-CF18-15ED-3005-BA45A79320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84895" y="5793183"/>
              <a:ext cx="600554" cy="322075"/>
            </a:xfrm>
            <a:prstGeom prst="rect">
              <a:avLst/>
            </a:prstGeom>
          </p:spPr>
        </p:pic>
        <p:pic>
          <p:nvPicPr>
            <p:cNvPr id="101" name="그림 100">
              <a:extLst>
                <a:ext uri="{FF2B5EF4-FFF2-40B4-BE49-F238E27FC236}">
                  <a16:creationId xmlns:a16="http://schemas.microsoft.com/office/drawing/2014/main" id="{6465FA04-08D6-DDDB-26CB-50D5C48991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27129" y="5805675"/>
              <a:ext cx="600554" cy="3220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48861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198436-C253-C901-AAF4-D26CA0243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실습환경 </a:t>
            </a:r>
            <a:r>
              <a:rPr lang="en-US" altLang="ko-KR" dirty="0" err="1"/>
              <a:t>vllm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BEA542-90AE-BAA8-48D6-CAA000B56F9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755576" y="699542"/>
            <a:ext cx="7993138" cy="215315"/>
          </a:xfrm>
        </p:spPr>
        <p:txBody>
          <a:bodyPr/>
          <a:lstStyle/>
          <a:p>
            <a:r>
              <a:rPr lang="ko-KR" altLang="en-US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실습 환경 </a:t>
            </a:r>
            <a:r>
              <a:rPr lang="en-US" altLang="ko-KR" sz="1400" dirty="0">
                <a:solidFill>
                  <a:prstClr val="black"/>
                </a:solidFill>
                <a:latin typeface="Calibri" panose="020F0502020204030204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) </a:t>
            </a:r>
            <a:r>
              <a:rPr lang="en-US" altLang="ko-KR" sz="1400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gpu</a:t>
            </a:r>
            <a:r>
              <a:rPr lang="en-US" altLang="ko-KR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환경 </a:t>
            </a:r>
            <a:r>
              <a:rPr lang="en-US" altLang="ko-KR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L4 ,  ubuntu, SSD,</a:t>
            </a:r>
            <a:r>
              <a:rPr lang="ko-KR" altLang="en-US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solidFill>
                  <a:prstClr val="black"/>
                </a:solidFill>
                <a:latin typeface="Calibri" panose="020F0502020204030204"/>
              </a:rPr>
              <a:t>2</a:t>
            </a:r>
            <a:r>
              <a:rPr lang="en-US" altLang="ko-KR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00GB</a:t>
            </a:r>
            <a:endParaRPr lang="ko-KR" altLang="en-US" sz="1400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310391-2CA0-4708-0F34-915537493D8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95288" y="1091273"/>
            <a:ext cx="7993138" cy="3763018"/>
          </a:xfrm>
        </p:spPr>
        <p:txBody>
          <a:bodyPr/>
          <a:lstStyle/>
          <a:p>
            <a:pPr marL="171450" marR="0" lvl="0" indent="-171450" algn="l" defTabSz="685800" rtl="0" eaLnBrk="1" fontAlgn="auto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Segoe UI" panose="020B0502040204020203" pitchFamily="34" charset="0"/>
              </a:rPr>
              <a:t>Llama 3.1 </a:t>
            </a:r>
            <a:r>
              <a:rPr lang="en-US" altLang="ko-KR" sz="1400" dirty="0" err="1">
                <a:ln>
                  <a:noFill/>
                </a:ln>
                <a:solidFill>
                  <a:prstClr val="black"/>
                </a:solidFill>
                <a:latin typeface="Calibri" panose="020F0502020204030204"/>
              </a:rPr>
              <a:t>vllm</a:t>
            </a:r>
            <a:r>
              <a:rPr lang="ko-KR" altLang="en-US" sz="1400" dirty="0">
                <a:ln>
                  <a:noFill/>
                </a:ln>
                <a:solidFill>
                  <a:prstClr val="black"/>
                </a:solidFill>
                <a:latin typeface="Calibri" panose="020F0502020204030204"/>
              </a:rPr>
              <a:t>으로 </a:t>
            </a:r>
            <a:r>
              <a:rPr lang="en-US" altLang="ko-KR" sz="1400" dirty="0">
                <a:ln>
                  <a:noFill/>
                </a:ln>
                <a:solidFill>
                  <a:prstClr val="black"/>
                </a:solidFill>
                <a:latin typeface="Calibri" panose="020F0502020204030204"/>
              </a:rPr>
              <a:t>serving</a:t>
            </a:r>
            <a:endParaRPr kumimoji="0" lang="en-US" altLang="ko-KR" sz="1000" b="0" i="0" u="none" strike="noStrike" kern="1200" cap="none" spc="-3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pPr marL="442902" marR="0" lvl="1" indent="-176209" algn="l" defTabSz="914400" rtl="0" eaLnBrk="1" fontAlgn="auto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30000"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pip install </a:t>
            </a:r>
            <a:r>
              <a:rPr kumimoji="0" lang="en-US" altLang="ko-KR" sz="10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vllm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 (</a:t>
            </a:r>
            <a:r>
              <a:rPr lang="en-US" altLang="ko-KR" sz="1000" spc="-30" dirty="0" err="1">
                <a:ln>
                  <a:noFill/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conda</a:t>
            </a:r>
            <a:r>
              <a:rPr lang="ko-KR" altLang="en-US" sz="1000" spc="-30" dirty="0">
                <a:ln>
                  <a:noFill/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의 </a:t>
            </a:r>
            <a:r>
              <a:rPr lang="en-US" altLang="ko-KR" sz="1000" spc="-30" dirty="0">
                <a:ln>
                  <a:noFill/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base </a:t>
            </a:r>
            <a:r>
              <a:rPr lang="ko-KR" altLang="en-US" sz="1000" spc="-30" dirty="0">
                <a:ln>
                  <a:noFill/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환경에서 해주세요</a:t>
            </a:r>
            <a:r>
              <a:rPr lang="en-US" altLang="ko-KR" sz="1000" spc="-30" dirty="0">
                <a:ln>
                  <a:noFill/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0" lang="en-US" altLang="ko-KR" sz="1000" b="0" i="0" u="none" strike="noStrike" kern="1200" cap="none" spc="-3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pPr marL="442902" marR="0" lvl="1" indent="-176209" algn="l" defTabSz="914400" rtl="0" eaLnBrk="1" fontAlgn="auto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30000"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vllm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serve Meta-Llama-3.1-8B-Instruct --port 8877 --</a:t>
            </a:r>
            <a:r>
              <a:rPr kumimoji="0" lang="en-US" altLang="ko-KR" sz="10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dtype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float16 --max-model-</a:t>
            </a:r>
            <a:r>
              <a:rPr kumimoji="0" lang="en-US" altLang="ko-KR" sz="10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len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2048 --</a:t>
            </a:r>
            <a:r>
              <a:rPr kumimoji="0" lang="en-US" altLang="ko-KR" sz="10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api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-key token-abc123 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--tensor-parallel-size 2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</a:t>
            </a:r>
          </a:p>
          <a:p>
            <a:pPr marL="442902" marR="0" lvl="1" indent="-176209" algn="l" defTabSz="914400" rtl="0" eaLnBrk="1" fontAlgn="auto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30000"/>
              <a:buFontTx/>
              <a:buNone/>
              <a:tabLst/>
              <a:defRPr/>
            </a:pPr>
            <a:endParaRPr kumimoji="0" lang="en-US" altLang="ko-KR" sz="1000" b="0" i="0" u="none" strike="noStrike" kern="1200" cap="none" spc="-3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vllm</a:t>
            </a:r>
            <a:r>
              <a:rPr lang="en-US" altLang="ko-KR" dirty="0"/>
              <a:t> serve Meta-Llama-3.1-8B-Instruct --port 8877 --</a:t>
            </a:r>
            <a:r>
              <a:rPr lang="en-US" altLang="ko-KR" dirty="0" err="1"/>
              <a:t>dtype</a:t>
            </a:r>
            <a:r>
              <a:rPr lang="en-US" altLang="ko-KR" dirty="0"/>
              <a:t> float16 --max-model-</a:t>
            </a:r>
            <a:r>
              <a:rPr lang="en-US" altLang="ko-KR" dirty="0" err="1"/>
              <a:t>len</a:t>
            </a:r>
            <a:r>
              <a:rPr lang="en-US" altLang="ko-KR" dirty="0"/>
              <a:t> 2048 --</a:t>
            </a:r>
            <a:r>
              <a:rPr lang="en-US" altLang="ko-KR" dirty="0" err="1"/>
              <a:t>api</a:t>
            </a:r>
            <a:r>
              <a:rPr lang="en-US" altLang="ko-KR" dirty="0"/>
              <a:t>-key token-abc123 --enable-lora --lora-modules '{"name": "</a:t>
            </a:r>
            <a:r>
              <a:rPr lang="en-US" altLang="ko-KR" dirty="0" err="1"/>
              <a:t>llama_peft</a:t>
            </a:r>
            <a:r>
              <a:rPr lang="en-US" altLang="ko-KR" dirty="0"/>
              <a:t>", "path": </a:t>
            </a:r>
            <a:r>
              <a:rPr lang="en-US" altLang="ko-KR" dirty="0">
                <a:solidFill>
                  <a:srgbClr val="FF0000"/>
                </a:solidFill>
              </a:rPr>
              <a:t>"/home/</a:t>
            </a:r>
            <a:r>
              <a:rPr lang="en-US" altLang="ko-KR" dirty="0" err="1">
                <a:solidFill>
                  <a:srgbClr val="FF0000"/>
                </a:solidFill>
              </a:rPr>
              <a:t>freenak</a:t>
            </a:r>
            <a:r>
              <a:rPr lang="en-US" altLang="ko-KR" dirty="0">
                <a:solidFill>
                  <a:srgbClr val="FF0000"/>
                </a:solidFill>
              </a:rPr>
              <a:t>/</a:t>
            </a:r>
            <a:r>
              <a:rPr lang="en-US" altLang="ko-KR" dirty="0" err="1">
                <a:solidFill>
                  <a:srgbClr val="FF0000"/>
                </a:solidFill>
              </a:rPr>
              <a:t>jupyter</a:t>
            </a:r>
            <a:r>
              <a:rPr lang="en-US" altLang="ko-KR" dirty="0">
                <a:solidFill>
                  <a:srgbClr val="FF0000"/>
                </a:solidFill>
              </a:rPr>
              <a:t>/</a:t>
            </a:r>
            <a:r>
              <a:rPr lang="en-US" altLang="ko-KR" dirty="0" err="1">
                <a:solidFill>
                  <a:srgbClr val="FF0000"/>
                </a:solidFill>
              </a:rPr>
              <a:t>llama_peft</a:t>
            </a:r>
            <a:r>
              <a:rPr lang="en-US" altLang="ko-KR" dirty="0"/>
              <a:t>", "</a:t>
            </a:r>
            <a:r>
              <a:rPr lang="en-US" altLang="ko-KR" dirty="0" err="1"/>
              <a:t>base_model_name</a:t>
            </a:r>
            <a:r>
              <a:rPr lang="en-US" altLang="ko-KR" dirty="0"/>
              <a:t>": "meta-llama/Meta-Llama-3.1-8B-Instruct"}'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C0A6826-5239-C61D-E3FA-F39ECF071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842" y="1854693"/>
            <a:ext cx="2844316" cy="22361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EA7742E-C969-4B1A-5B12-06820509B6BB}"/>
              </a:ext>
            </a:extLst>
          </p:cNvPr>
          <p:cNvSpPr txBox="1"/>
          <p:nvPr/>
        </p:nvSpPr>
        <p:spPr>
          <a:xfrm>
            <a:off x="7016750" y="1876753"/>
            <a:ext cx="19319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※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빨간색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2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gpu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일때만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626699-0BD1-8C42-C02A-96306696733F}"/>
              </a:ext>
            </a:extLst>
          </p:cNvPr>
          <p:cNvSpPr txBox="1"/>
          <p:nvPr/>
        </p:nvSpPr>
        <p:spPr>
          <a:xfrm>
            <a:off x="581694" y="3831890"/>
            <a:ext cx="1359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※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LoRA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튜닝 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6276DB-FAA2-B549-CDDE-0FBC7E62ED9A}"/>
              </a:ext>
            </a:extLst>
          </p:cNvPr>
          <p:cNvSpPr txBox="1"/>
          <p:nvPr/>
        </p:nvSpPr>
        <p:spPr>
          <a:xfrm>
            <a:off x="6425070" y="3898338"/>
            <a:ext cx="24746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※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빨간색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LoRA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layer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저장위치</a:t>
            </a:r>
          </a:p>
        </p:txBody>
      </p:sp>
    </p:spTree>
    <p:extLst>
      <p:ext uri="{BB962C8B-B14F-4D97-AF65-F5344CB8AC3E}">
        <p14:creationId xmlns:p14="http://schemas.microsoft.com/office/powerpoint/2010/main" val="36709619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3D8E95-2655-4439-41AC-F0085A05E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LoRA</a:t>
            </a:r>
            <a:r>
              <a:rPr lang="en-US" altLang="ko-KR" dirty="0"/>
              <a:t> (Low-Rank Adaptation)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7CBBA4-434B-5F0F-25ED-8806208FF34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95290" y="596013"/>
            <a:ext cx="8353424" cy="708464"/>
          </a:xfrm>
        </p:spPr>
        <p:txBody>
          <a:bodyPr/>
          <a:lstStyle/>
          <a:p>
            <a:r>
              <a:rPr lang="en-US" altLang="ko-KR" dirty="0"/>
              <a:t>Parameter Efficient Fine Tuning</a:t>
            </a:r>
            <a:r>
              <a:rPr lang="ko-KR" altLang="en-US" dirty="0"/>
              <a:t>의 대표 유형</a:t>
            </a:r>
            <a:endParaRPr lang="en-US" altLang="ko-KR" dirty="0"/>
          </a:p>
          <a:p>
            <a:r>
              <a:rPr lang="ko-KR" altLang="en-US" dirty="0"/>
              <a:t> 전체 </a:t>
            </a:r>
            <a:r>
              <a:rPr lang="en-US" altLang="ko-KR" dirty="0"/>
              <a:t>Weight</a:t>
            </a:r>
            <a:r>
              <a:rPr lang="ko-KR" altLang="en-US" dirty="0"/>
              <a:t>의 가중치를 행렬연산 기반의 근사값으로 업데이트 </a:t>
            </a:r>
          </a:p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8CBD61-D521-5E17-1E84-9DFA26B4E4F9}"/>
              </a:ext>
            </a:extLst>
          </p:cNvPr>
          <p:cNvSpPr txBox="1"/>
          <p:nvPr/>
        </p:nvSpPr>
        <p:spPr>
          <a:xfrm>
            <a:off x="441960" y="1304477"/>
            <a:ext cx="8306754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72B4D"/>
                </a:solidFill>
                <a:effectLst/>
                <a:highlight>
                  <a:srgbClr val="FFFFFF"/>
                </a:highlight>
                <a:uLnTx/>
                <a:uFillTx/>
                <a:latin typeface="나눔스퀘어" panose="020B0600000101010101" pitchFamily="50" charset="-127"/>
                <a:ea typeface="맑은 고딕" panose="020B0503020000020004" pitchFamily="50" charset="-127"/>
                <a:cs typeface="+mn-cs"/>
              </a:rPr>
              <a:t>최적의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72B4D"/>
                </a:solidFill>
                <a:effectLst/>
                <a:highlight>
                  <a:srgbClr val="FFFFFF"/>
                </a:highlight>
                <a:uLnTx/>
                <a:uFillTx/>
                <a:latin typeface="나눔스퀘어" panose="020B0600000101010101" pitchFamily="50" charset="-127"/>
                <a:ea typeface="맑은 고딕" panose="020B0503020000020004" pitchFamily="50" charset="-127"/>
                <a:cs typeface="+mn-cs"/>
              </a:rPr>
              <a:t>r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72B4D"/>
                </a:solidFill>
                <a:effectLst/>
                <a:highlight>
                  <a:srgbClr val="FFFFFF"/>
                </a:highlight>
                <a:uLnTx/>
                <a:uFillTx/>
                <a:latin typeface="나눔스퀘어" panose="020B0600000101010101" pitchFamily="50" charset="-127"/>
                <a:ea typeface="맑은 고딕" panose="020B0503020000020004" pitchFamily="50" charset="-127"/>
                <a:cs typeface="+mn-cs"/>
              </a:rPr>
              <a:t>값은 어떻게 도출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72B4D"/>
                </a:solidFill>
                <a:effectLst/>
                <a:highlight>
                  <a:srgbClr val="FFFFFF"/>
                </a:highlight>
                <a:uLnTx/>
                <a:uFillTx/>
                <a:latin typeface="나눔스퀘어" panose="020B0600000101010101" pitchFamily="50" charset="-127"/>
                <a:ea typeface="맑은 고딕" panose="020B0503020000020004" pitchFamily="50" charset="-127"/>
                <a:cs typeface="+mn-cs"/>
              </a:rPr>
              <a:t>?</a:t>
            </a:r>
            <a:endParaRPr kumimoji="0" lang="ko-KR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172B4D"/>
              </a:solidFill>
              <a:effectLst/>
              <a:highlight>
                <a:srgbClr val="FFFFFF"/>
              </a:highlight>
              <a:uLnTx/>
              <a:uFillTx/>
              <a:latin typeface="나눔스퀘어" panose="020B0600000101010101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72B4D"/>
                </a:solidFill>
                <a:effectLst/>
                <a:highlight>
                  <a:srgbClr val="FFFFFF"/>
                </a:highlight>
                <a:uLnTx/>
                <a:uFillTx/>
                <a:latin typeface="나눔스퀘어" panose="020B0600000101010101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100" b="1" i="0" u="sng" strike="noStrike" kern="1200" cap="none" spc="0" normalizeH="0" baseline="0" noProof="0" dirty="0">
                <a:ln>
                  <a:noFill/>
                </a:ln>
                <a:solidFill>
                  <a:srgbClr val="172B4D"/>
                </a:solidFill>
                <a:effectLst/>
                <a:highlight>
                  <a:srgbClr val="FFFFFF"/>
                </a:highlight>
                <a:uLnTx/>
                <a:uFillTx/>
                <a:latin typeface="나눔스퀘어" panose="020B0600000101010101" pitchFamily="50" charset="-127"/>
                <a:ea typeface="맑은 고딕" panose="020B0503020000020004" pitchFamily="50" charset="-127"/>
                <a:cs typeface="+mn-cs"/>
              </a:rPr>
              <a:t>Tradeoff between Performance &amp; Memory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72B4D"/>
                </a:solidFill>
                <a:effectLst/>
                <a:highlight>
                  <a:srgbClr val="FFFFFF"/>
                </a:highlight>
                <a:uLnTx/>
                <a:uFillTx/>
                <a:latin typeface="나눔스퀘어" panose="020B0600000101010101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72B4D"/>
                </a:solidFill>
                <a:effectLst/>
                <a:highlight>
                  <a:srgbClr val="FFFFFF"/>
                </a:highlight>
                <a:uLnTx/>
                <a:uFillTx/>
                <a:latin typeface="나눔스퀘어" panose="020B0600000101010101" pitchFamily="50" charset="-127"/>
                <a:ea typeface="맑은 고딕" panose="020B0503020000020004" pitchFamily="50" charset="-127"/>
                <a:cs typeface="+mn-cs"/>
              </a:rPr>
              <a:t>실험에 의해 도출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72B4D"/>
                </a:solidFill>
                <a:effectLst/>
                <a:highlight>
                  <a:srgbClr val="FFFFFF"/>
                </a:highlight>
                <a:uLnTx/>
                <a:uFillTx/>
                <a:latin typeface="나눔스퀘어" panose="020B0600000101010101" pitchFamily="50" charset="-127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72B4D"/>
                </a:solidFill>
                <a:effectLst/>
                <a:highlight>
                  <a:srgbClr val="FFFFFF"/>
                </a:highlight>
                <a:uLnTx/>
                <a:uFillTx/>
                <a:latin typeface="나눔스퀘어" panose="020B0600000101010101" pitchFamily="50" charset="-127"/>
                <a:ea typeface="맑은 고딕" panose="020B0503020000020004" pitchFamily="50" charset="-127"/>
                <a:cs typeface="+mn-cs"/>
              </a:rPr>
              <a:t>결정 할 수 밖에 없음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72B4D"/>
                </a:solidFill>
                <a:effectLst/>
                <a:highlight>
                  <a:srgbClr val="FFFFFF"/>
                </a:highlight>
                <a:uLnTx/>
                <a:uFillTx/>
                <a:latin typeface="나눔스퀘어" panose="020B0600000101010101" pitchFamily="50" charset="-127"/>
                <a:ea typeface="맑은 고딕" panose="020B0503020000020004" pitchFamily="50" charset="-127"/>
                <a:cs typeface="+mn-cs"/>
              </a:rPr>
              <a:t>…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172B4D"/>
              </a:solidFill>
              <a:effectLst/>
              <a:highlight>
                <a:srgbClr val="FFFFFF"/>
              </a:highlight>
              <a:uLnTx/>
              <a:uFillTx/>
              <a:latin typeface="나눔스퀘어" panose="020B0600000101010101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26C3792-7127-3ED9-F158-14BB2D5D4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175706"/>
            <a:ext cx="6624736" cy="257531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484CE45-74AB-7574-6CDC-D1E5E8EBD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204" y="2795042"/>
            <a:ext cx="2088232" cy="2181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EEFA222-44A5-013A-4FEE-FEE4C8D9D3B7}"/>
              </a:ext>
            </a:extLst>
          </p:cNvPr>
          <p:cNvSpPr txBox="1"/>
          <p:nvPr/>
        </p:nvSpPr>
        <p:spPr>
          <a:xfrm>
            <a:off x="2735796" y="4294189"/>
            <a:ext cx="1218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70B (700</a:t>
            </a:r>
            <a:r>
              <a:rPr kumimoji="0" lang="ko-KR" altLang="en-US" sz="9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억개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(700000 x 100000)</a:t>
            </a:r>
            <a:endParaRPr kumimoji="0" lang="ko-KR" alt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3C7128-C7FB-5F65-9040-4014383F4E43}"/>
              </a:ext>
            </a:extLst>
          </p:cNvPr>
          <p:cNvSpPr txBox="1"/>
          <p:nvPr/>
        </p:nvSpPr>
        <p:spPr>
          <a:xfrm>
            <a:off x="6394235" y="4155690"/>
            <a:ext cx="13500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R = 10 </a:t>
            </a:r>
            <a:r>
              <a:rPr kumimoji="0" lang="ko-KR" altLang="en-US" sz="9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일경우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700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만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(=700000 x10)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100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만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(=10 x 100000)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총 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800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만개</a:t>
            </a:r>
          </a:p>
        </p:txBody>
      </p:sp>
    </p:spTree>
    <p:extLst>
      <p:ext uri="{BB962C8B-B14F-4D97-AF65-F5344CB8AC3E}">
        <p14:creationId xmlns:p14="http://schemas.microsoft.com/office/powerpoint/2010/main" val="31501161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840802" y="2044936"/>
            <a:ext cx="3465500" cy="928909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ctr" defTabSz="684552">
              <a:lnSpc>
                <a:spcPct val="110000"/>
              </a:lnSpc>
              <a:spcAft>
                <a:spcPts val="1125"/>
              </a:spcAft>
              <a:defRPr/>
            </a:pPr>
            <a:r>
              <a:rPr lang="en-US" altLang="ko-KR" sz="5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>
                  <a:reflection blurRad="6350" stA="17000" endPos="28000" dist="6350" dir="5400000" sy="-100000" algn="bl" rotWithShape="0"/>
                </a:effectLst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62147062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10884</TotalTime>
  <Words>2013</Words>
  <Application>Microsoft Office PowerPoint</Application>
  <PresentationFormat>화면 슬라이드 쇼(16:9)</PresentationFormat>
  <Paragraphs>380</Paragraphs>
  <Slides>26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40" baseType="lpstr">
      <vt:lpstr>KoPub돋움체 Bold</vt:lpstr>
      <vt:lpstr>나눔명조</vt:lpstr>
      <vt:lpstr>삼성긴고딕 Regular</vt:lpstr>
      <vt:lpstr>Arial</vt:lpstr>
      <vt:lpstr>Bauhaus 93</vt:lpstr>
      <vt:lpstr>Calibri</vt:lpstr>
      <vt:lpstr>Segoe UI</vt:lpstr>
      <vt:lpstr>Times New Roman</vt:lpstr>
      <vt:lpstr>Wingdings</vt:lpstr>
      <vt:lpstr>나눔스퀘어</vt:lpstr>
      <vt:lpstr>나눔스퀘어 Bold</vt:lpstr>
      <vt:lpstr>나눔스퀘어 ExtraBold</vt:lpstr>
      <vt:lpstr>맑은 고딕</vt:lpstr>
      <vt:lpstr>4_Office 테마</vt:lpstr>
      <vt:lpstr>PowerPoint 프레젠테이션</vt:lpstr>
      <vt:lpstr>Setup a Python Environment for something</vt:lpstr>
      <vt:lpstr>실습환경 vllm</vt:lpstr>
      <vt:lpstr>실습환경 vllm</vt:lpstr>
      <vt:lpstr>CoT(Chain of Thought)</vt:lpstr>
      <vt:lpstr>PowerPoint 프레젠테이션</vt:lpstr>
      <vt:lpstr>RAG</vt:lpstr>
      <vt:lpstr>Rag 아키텍처 </vt:lpstr>
      <vt:lpstr>Plug-in vs RAG</vt:lpstr>
      <vt:lpstr>Web search plug-in</vt:lpstr>
      <vt:lpstr>Query Rewrite</vt:lpstr>
      <vt:lpstr>Deep Research </vt:lpstr>
      <vt:lpstr>Deep Research </vt:lpstr>
      <vt:lpstr>PowerPoint 프레젠테이션</vt:lpstr>
      <vt:lpstr>Tuning</vt:lpstr>
      <vt:lpstr>Fine Tuning</vt:lpstr>
      <vt:lpstr>다양한 PEFT 기법</vt:lpstr>
      <vt:lpstr>Prompt-Tuning</vt:lpstr>
      <vt:lpstr>reparameterization</vt:lpstr>
      <vt:lpstr>LoRA (Low-Rank Adaptation) </vt:lpstr>
      <vt:lpstr>PEFT 효과 및 장점</vt:lpstr>
      <vt:lpstr>PEFT 사용케이스 </vt:lpstr>
      <vt:lpstr>Inference Serving 이슈</vt:lpstr>
      <vt:lpstr>실습환경 vllm</vt:lpstr>
      <vt:lpstr>LoRA (Low-Rank Adaptation) 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SDS</dc:creator>
  <cp:lastModifiedBy>freenak@gmail.com</cp:lastModifiedBy>
  <cp:revision>203</cp:revision>
  <cp:lastPrinted>2018-01-15T00:07:17Z</cp:lastPrinted>
  <dcterms:created xsi:type="dcterms:W3CDTF">2018-01-14T23:22:16Z</dcterms:created>
  <dcterms:modified xsi:type="dcterms:W3CDTF">2025-04-12T04:01:29Z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FLCMData">
    <vt:lpwstr>879BAE1E853B17513E3AD7133549D60CDC7F447EFEFF353D36030F5A626F43A91F78586C5C79A84BD584368DDBDE1520CB0AE12E5D4FFDA9FB39A3993042811F</vt:lpwstr>
  </property>
  <property fmtid="{5C58129F-E5B8-477A-9B38-B3E54BFA04C8}" pid="2">
    <vt:lpwstr>41F6058CE601D4D469E30BAD0688911E97A987A8E6412C0976FD1E9BC939D1FA</vt:lpwstr>
  </property>
</Properties>
</file>